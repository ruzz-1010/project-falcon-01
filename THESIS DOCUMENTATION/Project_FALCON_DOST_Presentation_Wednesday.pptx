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png" ContentType="image/png"/>
  <Override PartName="/ppt/media/image2.jpeg" ContentType="image/jpeg"/>
  <Override PartName="/ppt/media/image4.png" ContentType="image/png"/>
  <Override PartName="/ppt/media/image3.png" ContentType="image/png"/>
  <Override PartName="/ppt/media/image5.png" ContentType="image/png"/>
  <Override PartName="/ppt/media/image6.png" ContentType="image/png"/>
  <Override PartName="/ppt/media/image7.png" ContentType="image/png"/>
  <Override PartName="/ppt/media/image8.png" ContentType="image/png"/>
  <Override PartName="/ppt/media/image9.png" ContentType="image/png"/>
  <Override PartName="/ppt/slides/_rels/slide13.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notesSlides/_rels/notesSlide13.xml.rels" ContentType="application/vnd.openxmlformats-package.relationships+xml"/>
  <Override PartName="/ppt/notesSlides/_rels/notesSlide6.xml.rels" ContentType="application/vnd.openxmlformats-package.relationships+xml"/>
  <Override PartName="/ppt/notesSlides/_rels/notesSlide12.xml.rels" ContentType="application/vnd.openxmlformats-package.relationships+xml"/>
  <Override PartName="/ppt/notesSlides/_rels/notesSlide5.xml.rels" ContentType="application/vnd.openxmlformats-package.relationships+xml"/>
  <Override PartName="/ppt/notesSlides/_rels/notesSlide11.xml.rels" ContentType="application/vnd.openxmlformats-package.relationships+xml"/>
  <Override PartName="/ppt/notesSlides/_rels/notesSlide4.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3.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2.xml.rels" ContentType="application/vnd.openxmlformats-package.relationships+xml"/>
  <Override PartName="/ppt/notesSlides/_rels/notesSlide1.xml.rels" ContentType="application/vnd.openxmlformats-package.relationships+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notesMasterIdLst>
    <p:notesMasterId r:id="rId13"/>
  </p:notesMasterIdLst>
  <p:sldIdLst>
    <p:sldId id="256" r:id="rId14"/>
    <p:sldId id="257" r:id="rId15"/>
    <p:sldId id="258" r:id="rId16"/>
    <p:sldId id="259" r:id="rId17"/>
    <p:sldId id="260" r:id="rId18"/>
    <p:sldId id="261" r:id="rId19"/>
    <p:sldId id="262" r:id="rId20"/>
    <p:sldId id="263" r:id="rId21"/>
    <p:sldId id="264" r:id="rId22"/>
    <p:sldId id="265" r:id="rId23"/>
    <p:sldId id="266" r:id="rId24"/>
    <p:sldId id="267" r:id="rId25"/>
    <p:sldId id="268" r:id="rId26"/>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notesMaster" Target="notesMasters/notesMaster1.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12.xml"/><Relationship Id="rId26" Type="http://schemas.openxmlformats.org/officeDocument/2006/relationships/slide" Target="slides/slide13.xml"/><Relationship Id="rId27"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PlaceHolder 1"/>
          <p:cNvSpPr>
            <a:spLocks noGrp="1"/>
          </p:cNvSpPr>
          <p:nvPr>
            <p:ph type="sldImg"/>
          </p:nvPr>
        </p:nvSpPr>
        <p:spPr>
          <a:xfrm>
            <a:off x="0" y="764280"/>
            <a:ext cx="0" cy="0"/>
          </a:xfrm>
          <a:prstGeom prst="rect">
            <a:avLst/>
          </a:prstGeom>
          <a:noFill/>
          <a:ln w="0">
            <a:noFill/>
          </a:ln>
        </p:spPr>
        <p:txBody>
          <a:bodyPr lIns="0" rIns="0" tIns="0" bIns="0" anchor="ctr">
            <a:noAutofit/>
          </a:bodyPr>
          <a:p>
            <a:r>
              <a:rPr b="0" lang="en-US" sz="1800" spc="-1" strike="noStrike">
                <a:solidFill>
                  <a:schemeClr val="dk1"/>
                </a:solidFill>
                <a:latin typeface="Calibri"/>
              </a:rPr>
              <a:t>Click to move the slide</a:t>
            </a:r>
            <a:endParaRPr b="0" lang="en-US" sz="1800" spc="-1" strike="noStrike">
              <a:solidFill>
                <a:schemeClr val="dk1"/>
              </a:solidFill>
              <a:latin typeface="Calibri"/>
            </a:endParaRPr>
          </a:p>
        </p:txBody>
      </p:sp>
      <p:sp>
        <p:nvSpPr>
          <p:cNvPr id="68"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69"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70" name="PlaceHolder 4"/>
          <p:cNvSpPr>
            <a:spLocks noGrp="1"/>
          </p:cNvSpPr>
          <p:nvPr>
            <p:ph type="dt" idx="34"/>
          </p:nvPr>
        </p:nvSpPr>
        <p:spPr>
          <a:xfrm>
            <a:off x="4399200" y="0"/>
            <a:ext cx="3372840" cy="50256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71" name="PlaceHolder 5"/>
          <p:cNvSpPr>
            <a:spLocks noGrp="1"/>
          </p:cNvSpPr>
          <p:nvPr>
            <p:ph type="ftr" idx="35"/>
          </p:nvPr>
        </p:nvSpPr>
        <p:spPr>
          <a:xfrm>
            <a:off x="0" y="9555480"/>
            <a:ext cx="3372840" cy="50256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2" name="PlaceHolder 6"/>
          <p:cNvSpPr>
            <a:spLocks noGrp="1"/>
          </p:cNvSpPr>
          <p:nvPr>
            <p:ph type="sldNum" idx="36"/>
          </p:nvPr>
        </p:nvSpPr>
        <p:spPr>
          <a:xfrm>
            <a:off x="4399200" y="9555480"/>
            <a:ext cx="3372840" cy="50256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127A57BE-AA54-457F-AD48-9E68D0C3857A}"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1" name="PlaceHolder 1"/>
          <p:cNvSpPr>
            <a:spLocks noGrp="1"/>
          </p:cNvSpPr>
          <p:nvPr>
            <p:ph type="sldImg"/>
          </p:nvPr>
        </p:nvSpPr>
        <p:spPr>
          <a:xfrm>
            <a:off x="1143000" y="685800"/>
            <a:ext cx="4571640" cy="3428640"/>
          </a:xfrm>
          <a:prstGeom prst="rect">
            <a:avLst/>
          </a:prstGeom>
          <a:ln w="0">
            <a:noFill/>
          </a:ln>
        </p:spPr>
      </p:sp>
      <p:sp>
        <p:nvSpPr>
          <p:cNvPr id="262"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Good day, everyone. We are the Project FALCON Research Group from Fullbright College. Project FALCON is our proposed smart buoy for observing coastal conditions in one specific location. In simple terms, it is a floating device with sensors, a small computer, solar power, and a dashboard. It will collect information near the deployment site and show the data in an easier form. Today, we will explain the problem, our proposed solution, what already works in software, and what we still need to build and test.</a:t>
            </a:r>
            <a:endParaRPr b="0" lang="en-US" sz="2000" spc="-1" strike="noStrike">
              <a:solidFill>
                <a:srgbClr val="000000"/>
              </a:solidFill>
              <a:latin typeface="Arial"/>
            </a:endParaRPr>
          </a:p>
        </p:txBody>
      </p:sp>
      <p:sp>
        <p:nvSpPr>
          <p:cNvPr id="263" name="PlaceHolder 3"/>
          <p:cNvSpPr>
            <a:spLocks noGrp="1"/>
          </p:cNvSpPr>
          <p:nvPr>
            <p:ph type="sldNum" idx="37"/>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F6AD27FC-2E0C-4A7B-B376-3282C82CE5B8}"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4" name="PlaceHolder 1"/>
          <p:cNvSpPr>
            <a:spLocks noGrp="1"/>
          </p:cNvSpPr>
          <p:nvPr>
            <p:ph type="sldImg"/>
          </p:nvPr>
        </p:nvSpPr>
        <p:spPr>
          <a:xfrm>
            <a:off x="1143000" y="685800"/>
            <a:ext cx="4571640" cy="3428640"/>
          </a:xfrm>
          <a:prstGeom prst="rect">
            <a:avLst/>
          </a:prstGeom>
          <a:ln w="0">
            <a:noFill/>
          </a:ln>
        </p:spPr>
      </p:sp>
      <p:sp>
        <p:nvSpPr>
          <p:cNvPr id="265"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Why is this project needed? We already have official forecasts, and we respect them. FALCON will not replace PAGASA or any official warning system. Our concern is that a forecast for a large area may not describe the exact condition at a small near-shore site. Professional monitoring equipment can also be expensive and difficult for a school or small local organization to maintain. So our question is simple: can we build a more affordable buoy that provides useful information for one selected pilot site in Palawan?</a:t>
            </a:r>
            <a:endParaRPr b="0" lang="en-US" sz="2000" spc="-1" strike="noStrike">
              <a:solidFill>
                <a:srgbClr val="000000"/>
              </a:solidFill>
              <a:latin typeface="Arial"/>
            </a:endParaRPr>
          </a:p>
        </p:txBody>
      </p:sp>
      <p:sp>
        <p:nvSpPr>
          <p:cNvPr id="266" name="PlaceHolder 3"/>
          <p:cNvSpPr>
            <a:spLocks noGrp="1"/>
          </p:cNvSpPr>
          <p:nvPr>
            <p:ph type="sldNum" idx="38"/>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BD700BD8-B4D8-4898-8E63-AC438FED08CC}"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7" name="PlaceHolder 1"/>
          <p:cNvSpPr>
            <a:spLocks noGrp="1"/>
          </p:cNvSpPr>
          <p:nvPr>
            <p:ph type="sldImg"/>
          </p:nvPr>
        </p:nvSpPr>
        <p:spPr>
          <a:xfrm>
            <a:off x="1143000" y="685800"/>
            <a:ext cx="4571640" cy="3428640"/>
          </a:xfrm>
          <a:prstGeom prst="rect">
            <a:avLst/>
          </a:prstGeom>
          <a:ln w="0">
            <a:noFill/>
          </a:ln>
        </p:spPr>
      </p:sp>
      <p:sp>
        <p:nvSpPr>
          <p:cNvPr id="268"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Our proposed solution is a smart coastal buoy with four basic jobs. First, the sensors measure movement, water pressure, wind, location, temperature, and available power. Second, the ESP32 gathers the sensor readings, while the Orange Pi saves and processes them. The Orange Pi is simply the small onboard computer of the buoy. Third, the dashboard shows the information through numbers, graphs, history, and alerts. Fourth, after collecting enough real data, we will study whether the system can estimate wave height several minutes ahead. For now, the prediction is only a simulated research demonstration and not yet a real operational forecast.</a:t>
            </a:r>
            <a:endParaRPr b="0" lang="en-US" sz="2000" spc="-1" strike="noStrike">
              <a:solidFill>
                <a:srgbClr val="000000"/>
              </a:solidFill>
              <a:latin typeface="Arial"/>
            </a:endParaRPr>
          </a:p>
        </p:txBody>
      </p:sp>
      <p:sp>
        <p:nvSpPr>
          <p:cNvPr id="269" name="PlaceHolder 3"/>
          <p:cNvSpPr>
            <a:spLocks noGrp="1"/>
          </p:cNvSpPr>
          <p:nvPr>
            <p:ph type="sldNum" idx="39"/>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82F762F6-C93D-4239-B204-45E89B636C1B}"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0" name="PlaceHolder 1"/>
          <p:cNvSpPr>
            <a:spLocks noGrp="1"/>
          </p:cNvSpPr>
          <p:nvPr>
            <p:ph type="sldImg"/>
          </p:nvPr>
        </p:nvSpPr>
        <p:spPr>
          <a:xfrm>
            <a:off x="1143000" y="685800"/>
            <a:ext cx="4571640" cy="3428640"/>
          </a:xfrm>
          <a:prstGeom prst="rect">
            <a:avLst/>
          </a:prstGeom>
          <a:ln w="0">
            <a:noFill/>
          </a:ln>
        </p:spPr>
      </p:sp>
      <p:sp>
        <p:nvSpPr>
          <p:cNvPr id="271"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This image shows the parts above the water. At the top are the wind sensor, GPS, and antennas because they need open space to work properly. The solar panels are mounted on the tower and provide energy for the system. The large box in the middle is the upper electronics pod. Ito po ang dry and protected box where we plan to place the ESP32, Orange Pi, storage, and other electronic boards. The motion sensor is attached to a rigid part of the structure so it measures the movement of the buoy itself. The round body at the bottom is the main float that keeps the structure above water. Its final balance and waterline will still be tested using the physical prototype.</a:t>
            </a:r>
            <a:endParaRPr b="0" lang="en-US" sz="2000" spc="-1" strike="noStrike">
              <a:solidFill>
                <a:srgbClr val="000000"/>
              </a:solidFill>
              <a:latin typeface="Arial"/>
            </a:endParaRPr>
          </a:p>
        </p:txBody>
      </p:sp>
      <p:sp>
        <p:nvSpPr>
          <p:cNvPr id="272" name="PlaceHolder 3"/>
          <p:cNvSpPr>
            <a:spLocks noGrp="1"/>
          </p:cNvSpPr>
          <p:nvPr>
            <p:ph type="sldNum" idx="40"/>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FC36469F-6FA6-4C6B-BC8C-47277EB3671B}"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3" name="PlaceHolder 1"/>
          <p:cNvSpPr>
            <a:spLocks noGrp="1"/>
          </p:cNvSpPr>
          <p:nvPr>
            <p:ph type="sldImg"/>
          </p:nvPr>
        </p:nvSpPr>
        <p:spPr>
          <a:xfrm>
            <a:off x="1143000" y="685800"/>
            <a:ext cx="4571640" cy="3428640"/>
          </a:xfrm>
          <a:prstGeom prst="rect">
            <a:avLst/>
          </a:prstGeom>
          <a:ln w="0">
            <a:noFill/>
          </a:ln>
        </p:spPr>
      </p:sp>
      <p:sp>
        <p:nvSpPr>
          <p:cNvPr id="274"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This diagram explains the job of each electronic component. The BNO085 measures the tilt and movement of the buoy. The Bar02 measures water pressure, which may help us estimate wave movement after proper calibration. GPS tells us the location, while the wind sensor measures wind speed and direction. The INA260 boards check the battery and solar power, and the MCP9808 checks the temperature inside the electronics box. All sensor readings go first to the ESP32. The ESP32 then sends the data to the Orange Pi for storage, processing, and display on the dashboard. The lower section shows how solar energy charges the battery and safely supplies power to the electronics. This is still a design guide; we will confirm the exact wiring using the real boards and their official datasheets.</a:t>
            </a:r>
            <a:endParaRPr b="0" lang="en-US" sz="2000" spc="-1" strike="noStrike">
              <a:solidFill>
                <a:srgbClr val="000000"/>
              </a:solidFill>
              <a:latin typeface="Arial"/>
            </a:endParaRPr>
          </a:p>
        </p:txBody>
      </p:sp>
      <p:sp>
        <p:nvSpPr>
          <p:cNvPr id="275" name="PlaceHolder 3"/>
          <p:cNvSpPr>
            <a:spLocks noGrp="1"/>
          </p:cNvSpPr>
          <p:nvPr>
            <p:ph type="sldNum" idx="41"/>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5982E0D0-BFA4-4519-81F1-9D868F803044}"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6" name="PlaceHolder 1"/>
          <p:cNvSpPr>
            <a:spLocks noGrp="1"/>
          </p:cNvSpPr>
          <p:nvPr>
            <p:ph type="sldImg"/>
          </p:nvPr>
        </p:nvSpPr>
        <p:spPr>
          <a:xfrm>
            <a:off x="1143000" y="685800"/>
            <a:ext cx="4571640" cy="3428640"/>
          </a:xfrm>
          <a:prstGeom prst="rect">
            <a:avLst/>
          </a:prstGeom>
          <a:ln w="0">
            <a:noFill/>
          </a:ln>
        </p:spPr>
      </p:sp>
      <p:sp>
        <p:nvSpPr>
          <p:cNvPr id="277"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This slide shows how we plan to arrange the electronics inside the upper box. The parts will be mounted on a removable tray, so we can inspect or replace them without removing the whole buoy structure. The Orange Pi side handles computing, while the ESP32 side handles sensor reading. Terminal blocks keep the wires organized instead of leaving many loose connections. Each cable will have a label on both ends, and cables entering the box will pass through waterproof locking glands. We will also separate signal wires from power wires to reduce electrical interference. Before actual deployment, we still need to test heat, waterproofing, wire clearance, and ease of maintenance.</a:t>
            </a:r>
            <a:endParaRPr b="0" lang="en-US" sz="2000" spc="-1" strike="noStrike">
              <a:solidFill>
                <a:srgbClr val="000000"/>
              </a:solidFill>
              <a:latin typeface="Arial"/>
            </a:endParaRPr>
          </a:p>
        </p:txBody>
      </p:sp>
      <p:sp>
        <p:nvSpPr>
          <p:cNvPr id="278" name="PlaceHolder 3"/>
          <p:cNvSpPr>
            <a:spLocks noGrp="1"/>
          </p:cNvSpPr>
          <p:nvPr>
            <p:ph type="sldNum" idx="42"/>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F2F1CB8E-28A8-41DA-A23E-846C3406C882}"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9" name="PlaceHolder 1"/>
          <p:cNvSpPr>
            <a:spLocks noGrp="1"/>
          </p:cNvSpPr>
          <p:nvPr>
            <p:ph type="sldImg"/>
          </p:nvPr>
        </p:nvSpPr>
        <p:spPr>
          <a:xfrm>
            <a:off x="1143000" y="685800"/>
            <a:ext cx="4571640" cy="3428640"/>
          </a:xfrm>
          <a:prstGeom prst="rect">
            <a:avLst/>
          </a:prstGeom>
          <a:ln w="0">
            <a:noFill/>
          </a:ln>
        </p:spPr>
      </p:sp>
      <p:sp>
        <p:nvSpPr>
          <p:cNvPr id="280"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This slide shows the flow of information. First, the sensors take measurements. Next, the ESP32 collects and checks those readings. It sends them to the Orange Pi as telemetry, which simply means organized sensor data. The Orange Pi saves the data, performs calculations, checks possible alerts, and sends the results to the dashboard. The dashboard then presents the information as readable values, graphs, and status messages. We call this local-first because the main processing and storage happen inside the buoy system, even without a continuous internet connection.</a:t>
            </a:r>
            <a:endParaRPr b="0" lang="en-US" sz="2000" spc="-1" strike="noStrike">
              <a:solidFill>
                <a:srgbClr val="000000"/>
              </a:solidFill>
              <a:latin typeface="Arial"/>
            </a:endParaRPr>
          </a:p>
        </p:txBody>
      </p:sp>
      <p:sp>
        <p:nvSpPr>
          <p:cNvPr id="281" name="PlaceHolder 3"/>
          <p:cNvSpPr>
            <a:spLocks noGrp="1"/>
          </p:cNvSpPr>
          <p:nvPr>
            <p:ph type="sldNum" idx="43"/>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F6E07551-5151-4F8D-A316-5D66B4706E7C}"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2" name="PlaceHolder 1"/>
          <p:cNvSpPr>
            <a:spLocks noGrp="1"/>
          </p:cNvSpPr>
          <p:nvPr>
            <p:ph type="sldImg"/>
          </p:nvPr>
        </p:nvSpPr>
        <p:spPr>
          <a:xfrm>
            <a:off x="1143000" y="685800"/>
            <a:ext cx="4571640" cy="3428640"/>
          </a:xfrm>
          <a:prstGeom prst="rect">
            <a:avLst/>
          </a:prstGeom>
          <a:ln w="0">
            <a:noFill/>
          </a:ln>
        </p:spPr>
      </p:sp>
      <p:sp>
        <p:nvSpPr>
          <p:cNvPr id="283"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What have we finished so far? We already created the responsive dashboard, the basic ESP32 firmware, the data format used by the system, the simulator, the Orange Pi or laptop edge service, the local database, alerts, wiring plans, bill of materials, and project documentation. We also tested whether the firmware, backend service, and dashboard can build and operate in software. However, we want to be honest: the current dashboard data are simulated. They do not yet come from a complete buoy in the sea. Our next stage is to connect the real sensors, calibrate them, build the buoy, and perform supervised field testing.</a:t>
            </a:r>
            <a:endParaRPr b="0" lang="en-US" sz="2000" spc="-1" strike="noStrike">
              <a:solidFill>
                <a:srgbClr val="000000"/>
              </a:solidFill>
              <a:latin typeface="Arial"/>
            </a:endParaRPr>
          </a:p>
        </p:txBody>
      </p:sp>
      <p:sp>
        <p:nvSpPr>
          <p:cNvPr id="284" name="PlaceHolder 3"/>
          <p:cNvSpPr>
            <a:spLocks noGrp="1"/>
          </p:cNvSpPr>
          <p:nvPr>
            <p:ph type="sldNum" idx="44"/>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AAF64A04-0D84-43AE-A88C-2EC08A1BCB50}"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5" name="PlaceHolder 1"/>
          <p:cNvSpPr>
            <a:spLocks noGrp="1"/>
          </p:cNvSpPr>
          <p:nvPr>
            <p:ph type="sldImg"/>
          </p:nvPr>
        </p:nvSpPr>
        <p:spPr>
          <a:xfrm>
            <a:off x="1143000" y="685800"/>
            <a:ext cx="4571640" cy="3428640"/>
          </a:xfrm>
          <a:prstGeom prst="rect">
            <a:avLst/>
          </a:prstGeom>
          <a:ln w="0">
            <a:noFill/>
          </a:ln>
        </p:spPr>
      </p:sp>
      <p:sp>
        <p:nvSpPr>
          <p:cNvPr id="286"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We are not claiming that we invented the buoy, the sensors, or artificial intelligence. These technologies already exist. Our proposed innovation is how we combine them into one affordable and maintainable system for a specific local use. FALCON joins sensors, local processing, solar-power monitoring, data storage, a dashboard, and a future prediction model. It also clearly labels whether information is measured, simulated, estimated, or predicted. Our contribution will be proven only if the complete system is calibrated and tested for one selected coastal site.</a:t>
            </a:r>
            <a:endParaRPr b="0" lang="en-US" sz="2000" spc="-1" strike="noStrike">
              <a:solidFill>
                <a:srgbClr val="000000"/>
              </a:solidFill>
              <a:latin typeface="Arial"/>
            </a:endParaRPr>
          </a:p>
        </p:txBody>
      </p:sp>
      <p:sp>
        <p:nvSpPr>
          <p:cNvPr id="287" name="PlaceHolder 3"/>
          <p:cNvSpPr>
            <a:spLocks noGrp="1"/>
          </p:cNvSpPr>
          <p:nvPr>
            <p:ph type="sldNum" idx="45"/>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275D2910-C4C9-41FE-B020-6AF8C4970970}"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8" name="PlaceHolder 1"/>
          <p:cNvSpPr>
            <a:spLocks noGrp="1"/>
          </p:cNvSpPr>
          <p:nvPr>
            <p:ph type="sldImg"/>
          </p:nvPr>
        </p:nvSpPr>
        <p:spPr>
          <a:xfrm>
            <a:off x="1143000" y="685800"/>
            <a:ext cx="4571640" cy="3428640"/>
          </a:xfrm>
          <a:prstGeom prst="rect">
            <a:avLst/>
          </a:prstGeom>
          <a:ln w="0">
            <a:noFill/>
          </a:ln>
        </p:spPr>
      </p:sp>
      <p:sp>
        <p:nvSpPr>
          <p:cNvPr id="289"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Several groups may benefit from this project. A coastal LGU or DRRM office may use the observation history and equipment alerts. Fisherfolk or small-boat users may benefit from easier access to information about one nearby site. Schools and researchers may use the platform and collected dataset for future studies. However, we will not claim that one prototype can immediately serve everyone. We will first choose one partner, one pilot location in Palawan, and one specific information need. If the first pilot is useful, the project can be improved and expanded later.</a:t>
            </a:r>
            <a:endParaRPr b="0" lang="en-US" sz="2000" spc="-1" strike="noStrike">
              <a:solidFill>
                <a:srgbClr val="000000"/>
              </a:solidFill>
              <a:latin typeface="Arial"/>
            </a:endParaRPr>
          </a:p>
        </p:txBody>
      </p:sp>
      <p:sp>
        <p:nvSpPr>
          <p:cNvPr id="290" name="PlaceHolder 3"/>
          <p:cNvSpPr>
            <a:spLocks noGrp="1"/>
          </p:cNvSpPr>
          <p:nvPr>
            <p:ph type="sldNum" idx="46"/>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60F0B584-FA9F-4862-B43C-FDAAC25ED312}"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1" name="PlaceHolder 1"/>
          <p:cNvSpPr>
            <a:spLocks noGrp="1"/>
          </p:cNvSpPr>
          <p:nvPr>
            <p:ph type="sldImg"/>
          </p:nvPr>
        </p:nvSpPr>
        <p:spPr>
          <a:xfrm>
            <a:off x="1143000" y="685800"/>
            <a:ext cx="4571640" cy="3428640"/>
          </a:xfrm>
          <a:prstGeom prst="rect">
            <a:avLst/>
          </a:prstGeom>
          <a:ln w="0">
            <a:noFill/>
          </a:ln>
        </p:spPr>
      </p:sp>
      <p:sp>
        <p:nvSpPr>
          <p:cNvPr id="292"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Our estimated development time is eight to twelve months. First, we will finalize the design, exact components, safety requirements, and purchasing plan. Second, we will assemble the electronics and fabricate the buoy enclosure and structure. Third, we will calibrate the sensors and test power, waterproofing, and communication in controlled conditions. After those tests pass, we will conduct a supervised near-shore pilot. We will use the collected data to compare our AI model with a baseline, meaning a simple prediction method used as a reference. Finally, we will report the results, errors, limitations, and recommended improvements.</a:t>
            </a:r>
            <a:endParaRPr b="0" lang="en-US" sz="2000" spc="-1" strike="noStrike">
              <a:solidFill>
                <a:srgbClr val="000000"/>
              </a:solidFill>
              <a:latin typeface="Arial"/>
            </a:endParaRPr>
          </a:p>
        </p:txBody>
      </p:sp>
      <p:sp>
        <p:nvSpPr>
          <p:cNvPr id="293" name="PlaceHolder 3"/>
          <p:cNvSpPr>
            <a:spLocks noGrp="1"/>
          </p:cNvSpPr>
          <p:nvPr>
            <p:ph type="sldNum" idx="47"/>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B1749570-B17F-49C0-B651-84EE74C25B56}"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4" name="PlaceHolder 1"/>
          <p:cNvSpPr>
            <a:spLocks noGrp="1"/>
          </p:cNvSpPr>
          <p:nvPr>
            <p:ph type="sldImg"/>
          </p:nvPr>
        </p:nvSpPr>
        <p:spPr>
          <a:xfrm>
            <a:off x="1143000" y="685800"/>
            <a:ext cx="4571640" cy="3428640"/>
          </a:xfrm>
          <a:prstGeom prst="rect">
            <a:avLst/>
          </a:prstGeom>
          <a:ln w="0">
            <a:noFill/>
          </a:ln>
        </p:spPr>
      </p:sp>
      <p:sp>
        <p:nvSpPr>
          <p:cNvPr id="295"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Our preliminary budget is around seventy-two thousand to one hundred twenty-seven thousand pesos. Why is it a range? Because the exact marine-rated parts, fabrication cost, and supplier prices still need final quotations. The budget includes not only sensors and computers, but also solar power, battery, waterproof enclosure, buoy structure, mooring, safety materials, calibration, field testing, transportation, spare parts, and contingency. In other words, the request covers the complete process of building and testing a safe prototype. Before purchasing, we will submit an updated bill of materials with actual supplier prices.</a:t>
            </a:r>
            <a:endParaRPr b="0" lang="en-US" sz="2000" spc="-1" strike="noStrike">
              <a:solidFill>
                <a:srgbClr val="000000"/>
              </a:solidFill>
              <a:latin typeface="Arial"/>
            </a:endParaRPr>
          </a:p>
        </p:txBody>
      </p:sp>
      <p:sp>
        <p:nvSpPr>
          <p:cNvPr id="296" name="PlaceHolder 3"/>
          <p:cNvSpPr>
            <a:spLocks noGrp="1"/>
          </p:cNvSpPr>
          <p:nvPr>
            <p:ph type="sldNum" idx="48"/>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341E7AEC-4780-42D4-8EE2-2C32B474EF82}"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7" name="PlaceHolder 1"/>
          <p:cNvSpPr>
            <a:spLocks noGrp="1"/>
          </p:cNvSpPr>
          <p:nvPr>
            <p:ph type="sldImg"/>
          </p:nvPr>
        </p:nvSpPr>
        <p:spPr>
          <a:xfrm>
            <a:off x="1143000" y="685800"/>
            <a:ext cx="4571640" cy="3428640"/>
          </a:xfrm>
          <a:prstGeom prst="rect">
            <a:avLst/>
          </a:prstGeom>
          <a:ln w="0">
            <a:noFill/>
          </a:ln>
        </p:spPr>
      </p:sp>
      <p:sp>
        <p:nvSpPr>
          <p:cNvPr id="298" name="PlaceHolder 2"/>
          <p:cNvSpPr>
            <a:spLocks noGrp="1"/>
          </p:cNvSpPr>
          <p:nvPr>
            <p:ph type="body"/>
          </p:nvPr>
        </p:nvSpPr>
        <p:spPr>
          <a:xfrm>
            <a:off x="685800" y="4343400"/>
            <a:ext cx="5486040" cy="41144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If the project receives support, our goal is to produce one complete and documented physical prototype. We will deliver calibrated sensor results, tested solar and battery operation, a working local dashboard, stored coastal data, and supervised pilot-test findings. We will also compare the future AI model with a simple baseline to determine whether AI actually improves the prediction. We are requesting support for the components, fabrication, calibration, field testing, and technical guidance. To be clear, we are not asking you to trust an untested forecast. We are asking for the opportunity to build the system properly and collect evidence that will show whether it works. Thank you, and we are ready for your questions.</a:t>
            </a:r>
            <a:endParaRPr b="0" lang="en-US" sz="2000" spc="-1" strike="noStrike">
              <a:solidFill>
                <a:srgbClr val="000000"/>
              </a:solidFill>
              <a:latin typeface="Arial"/>
            </a:endParaRPr>
          </a:p>
        </p:txBody>
      </p:sp>
      <p:sp>
        <p:nvSpPr>
          <p:cNvPr id="299" name="PlaceHolder 3"/>
          <p:cNvSpPr>
            <a:spLocks noGrp="1"/>
          </p:cNvSpPr>
          <p:nvPr>
            <p:ph type="sldNum" idx="49"/>
          </p:nvPr>
        </p:nvSpPr>
        <p:spPr>
          <a:xfrm>
            <a:off x="3884760" y="8685360"/>
            <a:ext cx="2971440" cy="456840"/>
          </a:xfrm>
          <a:prstGeom prst="rect">
            <a:avLst/>
          </a:prstGeom>
          <a:noFill/>
          <a:ln w="0">
            <a:noFill/>
          </a:ln>
        </p:spPr>
        <p:txBody>
          <a:bodyPr lIns="91440" rIns="91440" tIns="45720" bIns="45720" anchor="b">
            <a:noAutofit/>
          </a:bodyPr>
          <a:lstStyle>
            <a:lvl1pPr indent="0" algn="r">
              <a:lnSpc>
                <a:spcPct val="100000"/>
              </a:lnSpc>
              <a:buNone/>
              <a:defRPr b="0" lang="en-US" sz="1200" spc="-1" strike="noStrike">
                <a:solidFill>
                  <a:srgbClr val="000000"/>
                </a:solidFill>
                <a:latin typeface="Times New Roman"/>
              </a:defRPr>
            </a:lvl1pPr>
          </a:lstStyle>
          <a:p>
            <a:pPr indent="0" algn="r">
              <a:lnSpc>
                <a:spcPct val="100000"/>
              </a:lnSpc>
              <a:buNone/>
            </a:pPr>
            <a:fld id="{AD75F06D-DD66-4E07-83DB-3E29BDEDFE36}"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5" name="PlaceHolder 2"/>
          <p:cNvSpPr>
            <a:spLocks noGrp="1"/>
          </p:cNvSpPr>
          <p:nvPr>
            <p:ph type="subTitle"/>
          </p:nvPr>
        </p:nvSpPr>
        <p:spPr>
          <a:xfrm>
            <a:off x="609480" y="1604520"/>
            <a:ext cx="1097208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1385DFB8-05F9-4F2C-BCD6-1DF092FAFA96}"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96067253-459C-4C73-8CEC-83FEF0806B1C}" type="slidenum">
              <a:t>&lt;#&gt;</a:t>
            </a:fld>
          </a:p>
        </p:txBody>
      </p:sp>
      <p:sp>
        <p:nvSpPr>
          <p:cNvPr id="4" name="PlaceHolder 3"/>
          <p:cNvSpPr>
            <a:spLocks noGrp="1"/>
          </p:cNvSpPr>
          <p:nvPr>
            <p:ph type="dt" idx="4"/>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1159B4EB-0564-4F92-A07C-F5D7F99E892C}" type="slidenum">
              <a:t>&lt;#&gt;</a:t>
            </a:fld>
          </a:p>
        </p:txBody>
      </p:sp>
      <p:sp>
        <p:nvSpPr>
          <p:cNvPr id="4" name="PlaceHolder 3"/>
          <p:cNvSpPr>
            <a:spLocks noGrp="1"/>
          </p:cNvSpPr>
          <p:nvPr>
            <p:ph type="dt" idx="7"/>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22" name="PlaceHolder 2"/>
          <p:cNvSpPr>
            <a:spLocks noGrp="1"/>
          </p:cNvSpPr>
          <p:nvPr>
            <p:ph/>
          </p:nvPr>
        </p:nvSpPr>
        <p:spPr>
          <a:xfrm>
            <a:off x="609480" y="1604520"/>
            <a:ext cx="109720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1540B0D1-3809-446B-98F8-D55E8203CF1C}" type="slidenum">
              <a:t>&lt;#&gt;</a:t>
            </a:fld>
          </a:p>
        </p:txBody>
      </p:sp>
      <p:sp>
        <p:nvSpPr>
          <p:cNvPr id="6" name="PlaceHolder 5"/>
          <p:cNvSpPr>
            <a:spLocks noGrp="1"/>
          </p:cNvSpPr>
          <p:nvPr>
            <p:ph type="dt" idx="10"/>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p>
            <a:r>
              <a:t>Footer</a:t>
            </a:r>
          </a:p>
        </p:txBody>
      </p:sp>
      <p:sp>
        <p:nvSpPr>
          <p:cNvPr id="3" name="PlaceHolder 2"/>
          <p:cNvSpPr>
            <a:spLocks noGrp="1"/>
          </p:cNvSpPr>
          <p:nvPr>
            <p:ph type="sldNum" idx="15"/>
          </p:nvPr>
        </p:nvSpPr>
        <p:spPr/>
        <p:txBody>
          <a:bodyPr/>
          <a:p>
            <a:fld id="{3919FB5A-06CD-4E30-8CF9-A5B767A469D0}" type="slidenum">
              <a:t>&lt;#&gt;</a:t>
            </a:fld>
          </a:p>
        </p:txBody>
      </p:sp>
      <p:sp>
        <p:nvSpPr>
          <p:cNvPr id="4" name="PlaceHolder 3"/>
          <p:cNvSpPr>
            <a:spLocks noGrp="1"/>
          </p:cNvSpPr>
          <p:nvPr>
            <p:ph type="dt" idx="13"/>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35"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36"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5" name="PlaceHolder 4"/>
          <p:cNvSpPr>
            <a:spLocks noGrp="1"/>
          </p:cNvSpPr>
          <p:nvPr>
            <p:ph type="ftr" idx="17"/>
          </p:nvPr>
        </p:nvSpPr>
        <p:spPr/>
        <p:txBody>
          <a:bodyPr/>
          <a:p>
            <a:r>
              <a:t>Footer</a:t>
            </a:r>
          </a:p>
        </p:txBody>
      </p:sp>
      <p:sp>
        <p:nvSpPr>
          <p:cNvPr id="6" name="PlaceHolder 5"/>
          <p:cNvSpPr>
            <a:spLocks noGrp="1"/>
          </p:cNvSpPr>
          <p:nvPr>
            <p:ph type="sldNum" idx="18"/>
          </p:nvPr>
        </p:nvSpPr>
        <p:spPr/>
        <p:txBody>
          <a:bodyPr/>
          <a:p>
            <a:fld id="{0C9E9921-DBA7-48F2-A7F6-CF6C9CA72C70}" type="slidenum">
              <a:t>&lt;#&gt;</a:t>
            </a:fld>
          </a:p>
        </p:txBody>
      </p:sp>
      <p:sp>
        <p:nvSpPr>
          <p:cNvPr id="7" name="PlaceHolder 6"/>
          <p:cNvSpPr>
            <a:spLocks noGrp="1"/>
          </p:cNvSpPr>
          <p:nvPr>
            <p:ph type="dt" idx="16"/>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p>
            <a:r>
              <a:t>Footer</a:t>
            </a:r>
          </a:p>
        </p:txBody>
      </p:sp>
      <p:sp>
        <p:nvSpPr>
          <p:cNvPr id="3" name="PlaceHolder 2"/>
          <p:cNvSpPr>
            <a:spLocks noGrp="1"/>
          </p:cNvSpPr>
          <p:nvPr>
            <p:ph type="sldNum" idx="21"/>
          </p:nvPr>
        </p:nvSpPr>
        <p:spPr/>
        <p:txBody>
          <a:bodyPr/>
          <a:p>
            <a:fld id="{ABECE5F0-F5F1-4DF2-8687-DE0A9ADC34B0}" type="slidenum">
              <a:t>&lt;#&gt;</a:t>
            </a:fld>
          </a:p>
        </p:txBody>
      </p:sp>
      <p:sp>
        <p:nvSpPr>
          <p:cNvPr id="4" name="PlaceHolder 3"/>
          <p:cNvSpPr>
            <a:spLocks noGrp="1"/>
          </p:cNvSpPr>
          <p:nvPr>
            <p:ph type="dt" idx="19"/>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9"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3" name="PlaceHolder 2"/>
          <p:cNvSpPr>
            <a:spLocks noGrp="1"/>
          </p:cNvSpPr>
          <p:nvPr>
            <p:ph type="ftr" idx="23"/>
          </p:nvPr>
        </p:nvSpPr>
        <p:spPr/>
        <p:txBody>
          <a:bodyPr/>
          <a:p>
            <a:r>
              <a:t>Footer</a:t>
            </a:r>
          </a:p>
        </p:txBody>
      </p:sp>
      <p:sp>
        <p:nvSpPr>
          <p:cNvPr id="4" name="PlaceHolder 3"/>
          <p:cNvSpPr>
            <a:spLocks noGrp="1"/>
          </p:cNvSpPr>
          <p:nvPr>
            <p:ph type="sldNum" idx="24"/>
          </p:nvPr>
        </p:nvSpPr>
        <p:spPr/>
        <p:txBody>
          <a:bodyPr/>
          <a:p>
            <a:fld id="{A92686B7-9194-4A1B-9845-DE204CDC3EB5}" type="slidenum">
              <a:t>&lt;#&gt;</a:t>
            </a:fld>
          </a:p>
        </p:txBody>
      </p:sp>
      <p:sp>
        <p:nvSpPr>
          <p:cNvPr id="5" name="PlaceHolder 4"/>
          <p:cNvSpPr>
            <a:spLocks noGrp="1"/>
          </p:cNvSpPr>
          <p:nvPr>
            <p:ph type="dt" idx="22"/>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6"/>
          </p:nvPr>
        </p:nvSpPr>
        <p:spPr/>
        <p:txBody>
          <a:bodyPr/>
          <a:p>
            <a:r>
              <a:t>Footer</a:t>
            </a:r>
          </a:p>
        </p:txBody>
      </p:sp>
      <p:sp>
        <p:nvSpPr>
          <p:cNvPr id="3" name="PlaceHolder 2"/>
          <p:cNvSpPr>
            <a:spLocks noGrp="1"/>
          </p:cNvSpPr>
          <p:nvPr>
            <p:ph type="sldNum" idx="27"/>
          </p:nvPr>
        </p:nvSpPr>
        <p:spPr/>
        <p:txBody>
          <a:bodyPr/>
          <a:p>
            <a:fld id="{87BB2CB2-5B6C-4A0F-AFBB-2B110F082190}" type="slidenum">
              <a:t>&lt;#&gt;</a:t>
            </a:fld>
          </a:p>
        </p:txBody>
      </p:sp>
      <p:sp>
        <p:nvSpPr>
          <p:cNvPr id="4" name="PlaceHolder 3"/>
          <p:cNvSpPr>
            <a:spLocks noGrp="1"/>
          </p:cNvSpPr>
          <p:nvPr>
            <p:ph type="dt" idx="25"/>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29"/>
          </p:nvPr>
        </p:nvSpPr>
        <p:spPr/>
        <p:txBody>
          <a:bodyPr/>
          <a:p>
            <a:r>
              <a:t>Footer</a:t>
            </a:r>
          </a:p>
        </p:txBody>
      </p:sp>
      <p:sp>
        <p:nvSpPr>
          <p:cNvPr id="3" name="PlaceHolder 2"/>
          <p:cNvSpPr>
            <a:spLocks noGrp="1"/>
          </p:cNvSpPr>
          <p:nvPr>
            <p:ph type="sldNum" idx="30"/>
          </p:nvPr>
        </p:nvSpPr>
        <p:spPr/>
        <p:txBody>
          <a:bodyPr/>
          <a:p>
            <a:fld id="{89A0EC87-4DFC-4B96-8CA3-F22BBE53CDA6}" type="slidenum">
              <a:t>&lt;#&gt;</a:t>
            </a:fld>
          </a:p>
        </p:txBody>
      </p:sp>
      <p:sp>
        <p:nvSpPr>
          <p:cNvPr id="4" name="PlaceHolder 3"/>
          <p:cNvSpPr>
            <a:spLocks noGrp="1"/>
          </p:cNvSpPr>
          <p:nvPr>
            <p:ph type="dt" idx="28"/>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2"/>
          </p:nvPr>
        </p:nvSpPr>
        <p:spPr/>
        <p:txBody>
          <a:bodyPr/>
          <a:p>
            <a:r>
              <a:t>Footer</a:t>
            </a:r>
          </a:p>
        </p:txBody>
      </p:sp>
      <p:sp>
        <p:nvSpPr>
          <p:cNvPr id="3" name="PlaceHolder 2"/>
          <p:cNvSpPr>
            <a:spLocks noGrp="1"/>
          </p:cNvSpPr>
          <p:nvPr>
            <p:ph type="sldNum" idx="33"/>
          </p:nvPr>
        </p:nvSpPr>
        <p:spPr/>
        <p:txBody>
          <a:bodyPr/>
          <a:p>
            <a:fld id="{6BD77B87-8E27-4436-A432-3D0E4F3EF5E5}" type="slidenum">
              <a:t>&lt;#&gt;</a:t>
            </a:fld>
          </a:p>
        </p:txBody>
      </p:sp>
      <p:sp>
        <p:nvSpPr>
          <p:cNvPr id="4" name="PlaceHolder 3"/>
          <p:cNvSpPr>
            <a:spLocks noGrp="1"/>
          </p:cNvSpPr>
          <p:nvPr>
            <p:ph type="dt" idx="31"/>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85800" y="2130480"/>
            <a:ext cx="7772040" cy="146952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1" name="PlaceHolder 2"/>
          <p:cNvSpPr>
            <a:spLocks noGrp="1"/>
          </p:cNvSpPr>
          <p:nvPr>
            <p:ph type="dt" idx="1"/>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2" name="PlaceHolder 3"/>
          <p:cNvSpPr>
            <a:spLocks noGrp="1"/>
          </p:cNvSpPr>
          <p:nvPr>
            <p:ph type="ftr" idx="2"/>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 name="PlaceHolder 4"/>
          <p:cNvSpPr>
            <a:spLocks noGrp="1"/>
          </p:cNvSpPr>
          <p:nvPr>
            <p:ph type="sldNum" idx="3"/>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AFA3E0C0-CA56-496A-B82D-66C50DD1242E}"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a:t>
            </a:r>
            <a:r>
              <a:rPr b="0" lang="en-US" sz="4400" spc="-1" strike="noStrike">
                <a:solidFill>
                  <a:schemeClr val="dk1"/>
                </a:solidFill>
                <a:latin typeface="Calibri"/>
              </a:rPr>
              <a:t>Master title style</a:t>
            </a:r>
            <a:endParaRPr b="0" lang="en-US" sz="4400" spc="-1" strike="noStrike">
              <a:solidFill>
                <a:schemeClr val="dk1"/>
              </a:solidFill>
              <a:latin typeface="Calibri"/>
            </a:endParaRPr>
          </a:p>
        </p:txBody>
      </p:sp>
      <p:sp>
        <p:nvSpPr>
          <p:cNvPr id="7" name="PlaceHolder 2"/>
          <p:cNvSpPr>
            <a:spLocks noGrp="1"/>
          </p:cNvSpPr>
          <p:nvPr>
            <p:ph type="body"/>
          </p:nvPr>
        </p:nvSpPr>
        <p:spPr>
          <a:xfrm>
            <a:off x="457200" y="1600200"/>
            <a:ext cx="8229240" cy="4525560"/>
          </a:xfrm>
          <a:prstGeom prst="rect">
            <a:avLst/>
          </a:prstGeom>
          <a:noFill/>
          <a:ln w="0">
            <a:noFill/>
          </a:ln>
        </p:spPr>
        <p:txBody>
          <a:bodyPr lIns="91440" rIns="91440" tIns="45720" bIns="45720" anchor="t" vert="eaVe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7D5E4066-17D7-489E-AAD9-4663C51FD50E}"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lIns="91440" rIns="91440" tIns="45720" bIns="45720" anchor="ctr" vert="eaVert">
            <a:noAutofit/>
          </a:bodyPr>
          <a:p>
            <a:pPr indent="0" algn="ctr" defTabSz="457200">
              <a:lnSpc>
                <a:spcPct val="100000"/>
              </a:lnSpc>
              <a:buNone/>
            </a:pPr>
            <a:r>
              <a:rPr b="0" lang="en-US" sz="4400" spc="-1" strike="noStrike">
                <a:solidFill>
                  <a:schemeClr val="dk1"/>
                </a:solidFill>
                <a:latin typeface="Calibri"/>
              </a:rPr>
              <a:t>C</a:t>
            </a:r>
            <a:r>
              <a:rPr b="0" lang="en-US" sz="4400" spc="-1" strike="noStrike">
                <a:solidFill>
                  <a:schemeClr val="dk1"/>
                </a:solidFill>
                <a:latin typeface="Calibri"/>
              </a:rPr>
              <a:t>l</a:t>
            </a:r>
            <a:r>
              <a:rPr b="0" lang="en-US" sz="4400" spc="-1" strike="noStrike">
                <a:solidFill>
                  <a:schemeClr val="dk1"/>
                </a:solidFill>
                <a:latin typeface="Calibri"/>
              </a:rPr>
              <a:t>i</a:t>
            </a:r>
            <a:r>
              <a:rPr b="0" lang="en-US" sz="4400" spc="-1" strike="noStrike">
                <a:solidFill>
                  <a:schemeClr val="dk1"/>
                </a:solidFill>
                <a:latin typeface="Calibri"/>
              </a:rPr>
              <a:t>c</a:t>
            </a:r>
            <a:r>
              <a:rPr b="0" lang="en-US" sz="4400" spc="-1" strike="noStrike">
                <a:solidFill>
                  <a:schemeClr val="dk1"/>
                </a:solidFill>
                <a:latin typeface="Calibri"/>
              </a:rPr>
              <a:t>k</a:t>
            </a:r>
            <a:r>
              <a:rPr b="0" lang="en-US" sz="4400" spc="-1" strike="noStrike">
                <a:solidFill>
                  <a:schemeClr val="dk1"/>
                </a:solidFill>
                <a:latin typeface="Calibri"/>
              </a:rPr>
              <a:t> </a:t>
            </a:r>
            <a:r>
              <a:rPr b="0" lang="en-US" sz="4400" spc="-1" strike="noStrike">
                <a:solidFill>
                  <a:schemeClr val="dk1"/>
                </a:solidFill>
                <a:latin typeface="Calibri"/>
              </a:rPr>
              <a:t>t</a:t>
            </a:r>
            <a:r>
              <a:rPr b="0" lang="en-US" sz="4400" spc="-1" strike="noStrike">
                <a:solidFill>
                  <a:schemeClr val="dk1"/>
                </a:solidFill>
                <a:latin typeface="Calibri"/>
              </a:rPr>
              <a:t>o</a:t>
            </a:r>
            <a:r>
              <a:rPr b="0" lang="en-US" sz="4400" spc="-1" strike="noStrike">
                <a:solidFill>
                  <a:schemeClr val="dk1"/>
                </a:solidFill>
                <a:latin typeface="Calibri"/>
              </a:rPr>
              <a:t> </a:t>
            </a:r>
            <a:r>
              <a:rPr b="0" lang="en-US" sz="4400" spc="-1" strike="noStrike">
                <a:solidFill>
                  <a:schemeClr val="dk1"/>
                </a:solidFill>
                <a:latin typeface="Calibri"/>
              </a:rPr>
              <a:t>e</a:t>
            </a:r>
            <a:r>
              <a:rPr b="0" lang="en-US" sz="4400" spc="-1" strike="noStrike">
                <a:solidFill>
                  <a:schemeClr val="dk1"/>
                </a:solidFill>
                <a:latin typeface="Calibri"/>
              </a:rPr>
              <a:t>d</a:t>
            </a:r>
            <a:r>
              <a:rPr b="0" lang="en-US" sz="4400" spc="-1" strike="noStrike">
                <a:solidFill>
                  <a:schemeClr val="dk1"/>
                </a:solidFill>
                <a:latin typeface="Calibri"/>
              </a:rPr>
              <a:t>i</a:t>
            </a:r>
            <a:r>
              <a:rPr b="0" lang="en-US" sz="4400" spc="-1" strike="noStrike">
                <a:solidFill>
                  <a:schemeClr val="dk1"/>
                </a:solidFill>
                <a:latin typeface="Calibri"/>
              </a:rPr>
              <a:t>t </a:t>
            </a:r>
            <a:r>
              <a:rPr b="0" lang="en-US" sz="4400" spc="-1" strike="noStrike">
                <a:solidFill>
                  <a:schemeClr val="dk1"/>
                </a:solidFill>
                <a:latin typeface="Calibri"/>
              </a:rPr>
              <a:t>M</a:t>
            </a:r>
            <a:r>
              <a:rPr b="0" lang="en-US" sz="4400" spc="-1" strike="noStrike">
                <a:solidFill>
                  <a:schemeClr val="dk1"/>
                </a:solidFill>
                <a:latin typeface="Calibri"/>
              </a:rPr>
              <a:t>a</a:t>
            </a:r>
            <a:r>
              <a:rPr b="0" lang="en-US" sz="4400" spc="-1" strike="noStrike">
                <a:solidFill>
                  <a:schemeClr val="dk1"/>
                </a:solidFill>
                <a:latin typeface="Calibri"/>
              </a:rPr>
              <a:t>s</a:t>
            </a:r>
            <a:r>
              <a:rPr b="0" lang="en-US" sz="4400" spc="-1" strike="noStrike">
                <a:solidFill>
                  <a:schemeClr val="dk1"/>
                </a:solidFill>
                <a:latin typeface="Calibri"/>
              </a:rPr>
              <a:t>t</a:t>
            </a:r>
            <a:r>
              <a:rPr b="0" lang="en-US" sz="4400" spc="-1" strike="noStrike">
                <a:solidFill>
                  <a:schemeClr val="dk1"/>
                </a:solidFill>
                <a:latin typeface="Calibri"/>
              </a:rPr>
              <a:t>e</a:t>
            </a:r>
            <a:r>
              <a:rPr b="0" lang="en-US" sz="4400" spc="-1" strike="noStrike">
                <a:solidFill>
                  <a:schemeClr val="dk1"/>
                </a:solidFill>
                <a:latin typeface="Calibri"/>
              </a:rPr>
              <a:t>r</a:t>
            </a:r>
            <a:r>
              <a:rPr b="0" lang="en-US" sz="4400" spc="-1" strike="noStrike">
                <a:solidFill>
                  <a:schemeClr val="dk1"/>
                </a:solidFill>
                <a:latin typeface="Calibri"/>
              </a:rPr>
              <a:t> </a:t>
            </a:r>
            <a:r>
              <a:rPr b="0" lang="en-US" sz="4400" spc="-1" strike="noStrike">
                <a:solidFill>
                  <a:schemeClr val="dk1"/>
                </a:solidFill>
                <a:latin typeface="Calibri"/>
              </a:rPr>
              <a:t>t</a:t>
            </a:r>
            <a:r>
              <a:rPr b="0" lang="en-US" sz="4400" spc="-1" strike="noStrike">
                <a:solidFill>
                  <a:schemeClr val="dk1"/>
                </a:solidFill>
                <a:latin typeface="Calibri"/>
              </a:rPr>
              <a:t>i</a:t>
            </a:r>
            <a:r>
              <a:rPr b="0" lang="en-US" sz="4400" spc="-1" strike="noStrike">
                <a:solidFill>
                  <a:schemeClr val="dk1"/>
                </a:solidFill>
                <a:latin typeface="Calibri"/>
              </a:rPr>
              <a:t>t</a:t>
            </a:r>
            <a:r>
              <a:rPr b="0" lang="en-US" sz="4400" spc="-1" strike="noStrike">
                <a:solidFill>
                  <a:schemeClr val="dk1"/>
                </a:solidFill>
                <a:latin typeface="Calibri"/>
              </a:rPr>
              <a:t>l</a:t>
            </a:r>
            <a:r>
              <a:rPr b="0" lang="en-US" sz="4400" spc="-1" strike="noStrike">
                <a:solidFill>
                  <a:schemeClr val="dk1"/>
                </a:solidFill>
                <a:latin typeface="Calibri"/>
              </a:rPr>
              <a:t>e</a:t>
            </a:r>
            <a:r>
              <a:rPr b="0" lang="en-US" sz="4400" spc="-1" strike="noStrike">
                <a:solidFill>
                  <a:schemeClr val="dk1"/>
                </a:solidFill>
                <a:latin typeface="Calibri"/>
              </a:rPr>
              <a:t> </a:t>
            </a:r>
            <a:r>
              <a:rPr b="0" lang="en-US" sz="4400" spc="-1" strike="noStrike">
                <a:solidFill>
                  <a:schemeClr val="dk1"/>
                </a:solidFill>
                <a:latin typeface="Calibri"/>
              </a:rPr>
              <a:t>s</a:t>
            </a:r>
            <a:r>
              <a:rPr b="0" lang="en-US" sz="4400" spc="-1" strike="noStrike">
                <a:solidFill>
                  <a:schemeClr val="dk1"/>
                </a:solidFill>
                <a:latin typeface="Calibri"/>
              </a:rPr>
              <a:t>t</a:t>
            </a:r>
            <a:r>
              <a:rPr b="0" lang="en-US" sz="4400" spc="-1" strike="noStrike">
                <a:solidFill>
                  <a:schemeClr val="dk1"/>
                </a:solidFill>
                <a:latin typeface="Calibri"/>
              </a:rPr>
              <a:t>y</a:t>
            </a:r>
            <a:r>
              <a:rPr b="0" lang="en-US" sz="4400" spc="-1" strike="noStrike">
                <a:solidFill>
                  <a:schemeClr val="dk1"/>
                </a:solidFill>
                <a:latin typeface="Calibri"/>
              </a:rPr>
              <a:t>l</a:t>
            </a:r>
            <a:r>
              <a:rPr b="0" lang="en-US" sz="4400" spc="-1" strike="noStrike">
                <a:solidFill>
                  <a:schemeClr val="dk1"/>
                </a:solidFill>
                <a:latin typeface="Calibri"/>
              </a:rPr>
              <a:t>e</a:t>
            </a:r>
            <a:endParaRPr b="0" lang="en-US" sz="4400" spc="-1" strike="noStrike">
              <a:solidFill>
                <a:schemeClr val="dk1"/>
              </a:solidFill>
              <a:latin typeface="Calibri"/>
            </a:endParaRPr>
          </a:p>
        </p:txBody>
      </p:sp>
      <p:sp>
        <p:nvSpPr>
          <p:cNvPr id="12" name="PlaceHolder 2"/>
          <p:cNvSpPr>
            <a:spLocks noGrp="1"/>
          </p:cNvSpPr>
          <p:nvPr>
            <p:ph type="body"/>
          </p:nvPr>
        </p:nvSpPr>
        <p:spPr>
          <a:xfrm>
            <a:off x="457200" y="274680"/>
            <a:ext cx="6019560" cy="5851080"/>
          </a:xfrm>
          <a:prstGeom prst="rect">
            <a:avLst/>
          </a:prstGeom>
          <a:noFill/>
          <a:ln w="0">
            <a:noFill/>
          </a:ln>
        </p:spPr>
        <p:txBody>
          <a:bodyPr lIns="91440" rIns="91440" tIns="45720" bIns="45720" anchor="t" vert="eaVe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630D39F4-AE3B-4AC5-AEE1-11D69AC38733}"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a:t>
            </a:r>
            <a:r>
              <a:rPr b="0" lang="en-US" sz="4400" spc="-1" strike="noStrike">
                <a:solidFill>
                  <a:schemeClr val="dk1"/>
                </a:solidFill>
                <a:latin typeface="Calibri"/>
              </a:rPr>
              <a:t>edit </a:t>
            </a:r>
            <a:r>
              <a:rPr b="0" lang="en-US" sz="4400" spc="-1" strike="noStrike">
                <a:solidFill>
                  <a:schemeClr val="dk1"/>
                </a:solidFill>
                <a:latin typeface="Calibri"/>
              </a:rPr>
              <a:t>Master </a:t>
            </a:r>
            <a:r>
              <a:rPr b="0" lang="en-US" sz="4400" spc="-1" strike="noStrike">
                <a:solidFill>
                  <a:schemeClr val="dk1"/>
                </a:solidFill>
                <a:latin typeface="Calibri"/>
              </a:rPr>
              <a:t>title </a:t>
            </a:r>
            <a:r>
              <a:rPr b="0" lang="en-US" sz="4400" spc="-1" strike="noStrike">
                <a:solidFill>
                  <a:schemeClr val="dk1"/>
                </a:solidFill>
                <a:latin typeface="Calibri"/>
              </a:rPr>
              <a:t>style</a:t>
            </a:r>
            <a:endParaRPr b="0" lang="en-US" sz="4400" spc="-1" strike="noStrike">
              <a:solidFill>
                <a:schemeClr val="dk1"/>
              </a:solidFill>
              <a:latin typeface="Calibri"/>
            </a:endParaRP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8F9AED38-C98F-4419-9794-3ADCED0C49DC}"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722160" y="4406760"/>
            <a:ext cx="7772040" cy="1361880"/>
          </a:xfrm>
          <a:prstGeom prst="rect">
            <a:avLst/>
          </a:prstGeom>
          <a:noFill/>
          <a:ln w="0">
            <a:noFill/>
          </a:ln>
        </p:spPr>
        <p:txBody>
          <a:bodyPr lIns="91440" rIns="91440" tIns="45720" bIns="45720" anchor="t">
            <a:noAutofit/>
          </a:bodyPr>
          <a:p>
            <a:pPr indent="0" defTabSz="457200">
              <a:lnSpc>
                <a:spcPct val="100000"/>
              </a:lnSpc>
              <a:buNone/>
            </a:pPr>
            <a:r>
              <a:rPr b="1" lang="en-US" sz="4000" spc="-1" strike="noStrike" cap="all">
                <a:solidFill>
                  <a:schemeClr val="dk1"/>
                </a:solidFill>
                <a:latin typeface="Calibri"/>
              </a:rPr>
              <a:t>Click to edit Master title style</a:t>
            </a:r>
            <a:endParaRPr b="0" lang="en-US" sz="4000" spc="-1" strike="noStrike">
              <a:solidFill>
                <a:schemeClr val="dk1"/>
              </a:solidFill>
              <a:latin typeface="Calibri"/>
            </a:endParaRPr>
          </a:p>
        </p:txBody>
      </p:sp>
      <p:sp>
        <p:nvSpPr>
          <p:cNvPr id="24" name="PlaceHolder 2"/>
          <p:cNvSpPr>
            <a:spLocks noGrp="1"/>
          </p:cNvSpPr>
          <p:nvPr>
            <p:ph type="body"/>
          </p:nvPr>
        </p:nvSpPr>
        <p:spPr>
          <a:xfrm>
            <a:off x="722160" y="2906640"/>
            <a:ext cx="7772040" cy="1499760"/>
          </a:xfrm>
          <a:prstGeom prst="rect">
            <a:avLst/>
          </a:prstGeom>
          <a:noFill/>
          <a:ln w="0">
            <a:noFill/>
          </a:ln>
        </p:spPr>
        <p:txBody>
          <a:bodyPr lIns="91440" rIns="91440" tIns="45720" bIns="45720" anchor="b">
            <a:noAutofit/>
          </a:bodyPr>
          <a:p>
            <a:pPr indent="0" defTabSz="457200">
              <a:lnSpc>
                <a:spcPct val="100000"/>
              </a:lnSpc>
              <a:spcBef>
                <a:spcPts val="400"/>
              </a:spcBef>
              <a:buNone/>
              <a:tabLst>
                <a:tab algn="l" pos="0"/>
              </a:tabLst>
            </a:pPr>
            <a:r>
              <a:rPr b="0" lang="en-US" sz="2000" spc="-1" strike="noStrike">
                <a:solidFill>
                  <a:schemeClr val="dk1">
                    <a:tint val="75000"/>
                  </a:schemeClr>
                </a:solidFill>
                <a:latin typeface="Calibri"/>
              </a:rPr>
              <a:t>Click to edit Master text styles</a:t>
            </a:r>
            <a:endParaRPr b="0" lang="en-US" sz="2000" spc="-1" strike="noStrike">
              <a:solidFill>
                <a:schemeClr val="dk1"/>
              </a:solidFill>
              <a:latin typeface="Calibri"/>
            </a:endParaRPr>
          </a:p>
        </p:txBody>
      </p:sp>
      <p:sp>
        <p:nvSpPr>
          <p:cNvPr id="25" name="PlaceHolder 3"/>
          <p:cNvSpPr>
            <a:spLocks noGrp="1"/>
          </p:cNvSpPr>
          <p:nvPr>
            <p:ph type="dt" idx="13"/>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26" name="PlaceHolder 4"/>
          <p:cNvSpPr>
            <a:spLocks noGrp="1"/>
          </p:cNvSpPr>
          <p:nvPr>
            <p:ph type="ftr" idx="14"/>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7" name="PlaceHolder 5"/>
          <p:cNvSpPr>
            <a:spLocks noGrp="1"/>
          </p:cNvSpPr>
          <p:nvPr>
            <p:ph type="sldNum" idx="15"/>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03D2703E-9FE6-40DE-86CD-CA709593D014}"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29" name="PlaceHolder 2"/>
          <p:cNvSpPr>
            <a:spLocks noGrp="1"/>
          </p:cNvSpPr>
          <p:nvPr>
            <p:ph type="body"/>
          </p:nvPr>
        </p:nvSpPr>
        <p:spPr>
          <a:xfrm>
            <a:off x="457200" y="1600200"/>
            <a:ext cx="4038120" cy="4525560"/>
          </a:xfrm>
          <a:prstGeom prst="rect">
            <a:avLst/>
          </a:prstGeom>
          <a:noFill/>
          <a:ln w="0">
            <a:noFill/>
          </a:ln>
        </p:spPr>
        <p:txBody>
          <a:bodyPr lIns="91440" rIns="91440" tIns="45720" bIns="45720" anchor="t">
            <a:noAutofit/>
          </a:bodyPr>
          <a:p>
            <a:pPr marL="343080" indent="-343080" defTabSz="457200">
              <a:lnSpc>
                <a:spcPct val="100000"/>
              </a:lnSpc>
              <a:spcBef>
                <a:spcPts val="561"/>
              </a:spcBef>
              <a:buClr>
                <a:srgbClr val="000000"/>
              </a:buClr>
              <a:buFont typeface="Arial"/>
              <a:buChar char="•"/>
            </a:pPr>
            <a:r>
              <a:rPr b="0" lang="en-US" sz="2800" spc="-1" strike="noStrike">
                <a:solidFill>
                  <a:schemeClr val="dk1"/>
                </a:solidFill>
                <a:latin typeface="Calibri"/>
              </a:rPr>
              <a:t>Click to edit Master text styles</a:t>
            </a:r>
            <a:endParaRPr b="0" lang="en-US" sz="2800" spc="-1" strike="noStrike">
              <a:solidFill>
                <a:schemeClr val="dk1"/>
              </a:solidFill>
              <a:latin typeface="Calibri"/>
            </a:endParaRPr>
          </a:p>
          <a:p>
            <a:pPr lvl="1" marL="743040" indent="-285840" defTabSz="457200">
              <a:lnSpc>
                <a:spcPct val="100000"/>
              </a:lnSpc>
              <a:spcBef>
                <a:spcPts val="479"/>
              </a:spcBef>
              <a:buClr>
                <a:srgbClr val="000000"/>
              </a:buClr>
              <a:buFont typeface="Arial"/>
              <a:buChar char="–"/>
            </a:pPr>
            <a:r>
              <a:rPr b="0" lang="en-US" sz="2400" spc="-1" strike="noStrike">
                <a:solidFill>
                  <a:schemeClr val="dk1"/>
                </a:solidFill>
                <a:latin typeface="Calibri"/>
              </a:rPr>
              <a:t>Second level</a:t>
            </a:r>
            <a:endParaRPr b="0" lang="en-US" sz="2400" spc="-1" strike="noStrike">
              <a:solidFill>
                <a:schemeClr val="dk1"/>
              </a:solidFill>
              <a:latin typeface="Calibri"/>
            </a:endParaRPr>
          </a:p>
          <a:p>
            <a:pPr lvl="2" marL="11430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Third level</a:t>
            </a:r>
            <a:endParaRPr b="0" lang="en-US" sz="2000" spc="-1" strike="noStrike">
              <a:solidFill>
                <a:schemeClr val="dk1"/>
              </a:solidFill>
              <a:latin typeface="Calibri"/>
            </a:endParaRPr>
          </a:p>
          <a:p>
            <a:pPr lvl="3" marL="16002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Fourth level</a:t>
            </a:r>
            <a:endParaRPr b="0" lang="en-US" sz="1800" spc="-1" strike="noStrike">
              <a:solidFill>
                <a:schemeClr val="dk1"/>
              </a:solidFill>
              <a:latin typeface="Calibri"/>
            </a:endParaRPr>
          </a:p>
          <a:p>
            <a:pPr lvl="4" marL="20574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Fifth level</a:t>
            </a:r>
            <a:endParaRPr b="0" lang="en-US" sz="1800" spc="-1" strike="noStrike">
              <a:solidFill>
                <a:schemeClr val="dk1"/>
              </a:solidFill>
              <a:latin typeface="Calibri"/>
            </a:endParaRPr>
          </a:p>
        </p:txBody>
      </p:sp>
      <p:sp>
        <p:nvSpPr>
          <p:cNvPr id="30" name="PlaceHolder 3"/>
          <p:cNvSpPr>
            <a:spLocks noGrp="1"/>
          </p:cNvSpPr>
          <p:nvPr>
            <p:ph type="body"/>
          </p:nvPr>
        </p:nvSpPr>
        <p:spPr>
          <a:xfrm>
            <a:off x="4648320" y="1600200"/>
            <a:ext cx="4038120" cy="4525560"/>
          </a:xfrm>
          <a:prstGeom prst="rect">
            <a:avLst/>
          </a:prstGeom>
          <a:noFill/>
          <a:ln w="0">
            <a:noFill/>
          </a:ln>
        </p:spPr>
        <p:txBody>
          <a:bodyPr lIns="91440" rIns="91440" tIns="45720" bIns="45720" anchor="t">
            <a:noAutofit/>
          </a:bodyPr>
          <a:p>
            <a:pPr marL="343080" indent="-343080" defTabSz="457200">
              <a:lnSpc>
                <a:spcPct val="100000"/>
              </a:lnSpc>
              <a:spcBef>
                <a:spcPts val="561"/>
              </a:spcBef>
              <a:buClr>
                <a:srgbClr val="000000"/>
              </a:buClr>
              <a:buFont typeface="Arial"/>
              <a:buChar char="•"/>
            </a:pPr>
            <a:r>
              <a:rPr b="0" lang="en-US" sz="2800" spc="-1" strike="noStrike">
                <a:solidFill>
                  <a:schemeClr val="dk1"/>
                </a:solidFill>
                <a:latin typeface="Calibri"/>
              </a:rPr>
              <a:t>Click to edit Master text styles</a:t>
            </a:r>
            <a:endParaRPr b="0" lang="en-US" sz="2800" spc="-1" strike="noStrike">
              <a:solidFill>
                <a:schemeClr val="dk1"/>
              </a:solidFill>
              <a:latin typeface="Calibri"/>
            </a:endParaRPr>
          </a:p>
          <a:p>
            <a:pPr lvl="1" marL="743040" indent="-285840" defTabSz="457200">
              <a:lnSpc>
                <a:spcPct val="100000"/>
              </a:lnSpc>
              <a:spcBef>
                <a:spcPts val="479"/>
              </a:spcBef>
              <a:buClr>
                <a:srgbClr val="000000"/>
              </a:buClr>
              <a:buFont typeface="Arial"/>
              <a:buChar char="–"/>
            </a:pPr>
            <a:r>
              <a:rPr b="0" lang="en-US" sz="2400" spc="-1" strike="noStrike">
                <a:solidFill>
                  <a:schemeClr val="dk1"/>
                </a:solidFill>
                <a:latin typeface="Calibri"/>
              </a:rPr>
              <a:t>Second level</a:t>
            </a:r>
            <a:endParaRPr b="0" lang="en-US" sz="2400" spc="-1" strike="noStrike">
              <a:solidFill>
                <a:schemeClr val="dk1"/>
              </a:solidFill>
              <a:latin typeface="Calibri"/>
            </a:endParaRPr>
          </a:p>
          <a:p>
            <a:pPr lvl="2" marL="11430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Third level</a:t>
            </a:r>
            <a:endParaRPr b="0" lang="en-US" sz="2000" spc="-1" strike="noStrike">
              <a:solidFill>
                <a:schemeClr val="dk1"/>
              </a:solidFill>
              <a:latin typeface="Calibri"/>
            </a:endParaRPr>
          </a:p>
          <a:p>
            <a:pPr lvl="3" marL="16002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Fourth level</a:t>
            </a:r>
            <a:endParaRPr b="0" lang="en-US" sz="1800" spc="-1" strike="noStrike">
              <a:solidFill>
                <a:schemeClr val="dk1"/>
              </a:solidFill>
              <a:latin typeface="Calibri"/>
            </a:endParaRPr>
          </a:p>
          <a:p>
            <a:pPr lvl="4" marL="20574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Fifth level</a:t>
            </a:r>
            <a:endParaRPr b="0" lang="en-US" sz="1800" spc="-1" strike="noStrike">
              <a:solidFill>
                <a:schemeClr val="dk1"/>
              </a:solidFill>
              <a:latin typeface="Calibri"/>
            </a:endParaRPr>
          </a:p>
        </p:txBody>
      </p:sp>
      <p:sp>
        <p:nvSpPr>
          <p:cNvPr id="31" name="PlaceHolder 4"/>
          <p:cNvSpPr>
            <a:spLocks noGrp="1"/>
          </p:cNvSpPr>
          <p:nvPr>
            <p:ph type="dt" idx="16"/>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32" name="PlaceHolder 5"/>
          <p:cNvSpPr>
            <a:spLocks noGrp="1"/>
          </p:cNvSpPr>
          <p:nvPr>
            <p:ph type="ftr" idx="17"/>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3" name="PlaceHolder 6"/>
          <p:cNvSpPr>
            <a:spLocks noGrp="1"/>
          </p:cNvSpPr>
          <p:nvPr>
            <p:ph type="sldNum" idx="18"/>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86D0EA8E-DCFC-4C80-863B-3BE0D72E78FE}"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7"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38" name="PlaceHolder 2"/>
          <p:cNvSpPr>
            <a:spLocks noGrp="1"/>
          </p:cNvSpPr>
          <p:nvPr>
            <p:ph type="body"/>
          </p:nvPr>
        </p:nvSpPr>
        <p:spPr>
          <a:xfrm>
            <a:off x="457200" y="1535040"/>
            <a:ext cx="4039920" cy="639360"/>
          </a:xfrm>
          <a:prstGeom prst="rect">
            <a:avLst/>
          </a:prstGeom>
          <a:noFill/>
          <a:ln w="0">
            <a:noFill/>
          </a:ln>
        </p:spPr>
        <p:txBody>
          <a:bodyPr lIns="91440" rIns="91440" tIns="45720" bIns="45720" anchor="b">
            <a:noAutofit/>
          </a:bodyPr>
          <a:p>
            <a:pPr indent="0" defTabSz="457200">
              <a:lnSpc>
                <a:spcPct val="100000"/>
              </a:lnSpc>
              <a:spcBef>
                <a:spcPts val="479"/>
              </a:spcBef>
              <a:buNone/>
              <a:tabLst>
                <a:tab algn="l" pos="0"/>
              </a:tabLst>
            </a:pPr>
            <a:r>
              <a:rPr b="1" lang="en-US" sz="2400" spc="-1" strike="noStrike">
                <a:solidFill>
                  <a:schemeClr val="dk1"/>
                </a:solidFill>
                <a:latin typeface="Calibri"/>
              </a:rPr>
              <a:t>Click to edit Master text styles</a:t>
            </a:r>
            <a:endParaRPr b="0" lang="en-US" sz="2400" spc="-1" strike="noStrike">
              <a:solidFill>
                <a:schemeClr val="dk1"/>
              </a:solidFill>
              <a:latin typeface="Calibri"/>
            </a:endParaRPr>
          </a:p>
        </p:txBody>
      </p:sp>
      <p:sp>
        <p:nvSpPr>
          <p:cNvPr id="39" name="PlaceHolder 3"/>
          <p:cNvSpPr>
            <a:spLocks noGrp="1"/>
          </p:cNvSpPr>
          <p:nvPr>
            <p:ph type="body"/>
          </p:nvPr>
        </p:nvSpPr>
        <p:spPr>
          <a:xfrm>
            <a:off x="457200" y="2174760"/>
            <a:ext cx="4039920" cy="3951000"/>
          </a:xfrm>
          <a:prstGeom prst="rect">
            <a:avLst/>
          </a:prstGeom>
          <a:noFill/>
          <a:ln w="0">
            <a:noFill/>
          </a:ln>
        </p:spPr>
        <p:txBody>
          <a:bodyPr lIns="91440" rIns="91440" tIns="45720" bIns="45720" anchor="t">
            <a:noAutofit/>
          </a:bodyPr>
          <a:p>
            <a:pPr marL="343080" indent="-343080" defTabSz="457200">
              <a:lnSpc>
                <a:spcPct val="100000"/>
              </a:lnSpc>
              <a:spcBef>
                <a:spcPts val="479"/>
              </a:spcBef>
              <a:buClr>
                <a:srgbClr val="000000"/>
              </a:buClr>
              <a:buFont typeface="Arial"/>
              <a:buChar char="•"/>
            </a:pPr>
            <a:r>
              <a:rPr b="0" lang="en-US" sz="2400" spc="-1" strike="noStrike">
                <a:solidFill>
                  <a:schemeClr val="dk1"/>
                </a:solidFill>
                <a:latin typeface="Calibri"/>
              </a:rPr>
              <a:t>Click to edit Master text styles</a:t>
            </a:r>
            <a:endParaRPr b="0" lang="en-US" sz="2400" spc="-1" strike="noStrike">
              <a:solidFill>
                <a:schemeClr val="dk1"/>
              </a:solidFill>
              <a:latin typeface="Calibri"/>
            </a:endParaRPr>
          </a:p>
          <a:p>
            <a:pPr lvl="1" marL="743040" indent="-285840" defTabSz="457200">
              <a:lnSpc>
                <a:spcPct val="100000"/>
              </a:lnSpc>
              <a:spcBef>
                <a:spcPts val="400"/>
              </a:spcBef>
              <a:buClr>
                <a:srgbClr val="000000"/>
              </a:buClr>
              <a:buFont typeface="Arial"/>
              <a:buChar char="–"/>
            </a:pPr>
            <a:r>
              <a:rPr b="0" lang="en-US" sz="2000" spc="-1" strike="noStrike">
                <a:solidFill>
                  <a:schemeClr val="dk1"/>
                </a:solidFill>
                <a:latin typeface="Calibri"/>
              </a:rPr>
              <a:t>Second level</a:t>
            </a:r>
            <a:endParaRPr b="0" lang="en-US" sz="2000" spc="-1" strike="noStrike">
              <a:solidFill>
                <a:schemeClr val="dk1"/>
              </a:solidFill>
              <a:latin typeface="Calibri"/>
            </a:endParaRPr>
          </a:p>
          <a:p>
            <a:pPr lvl="2" marL="11430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Third level</a:t>
            </a:r>
            <a:endParaRPr b="0" lang="en-US" sz="1800" spc="-1" strike="noStrike">
              <a:solidFill>
                <a:schemeClr val="dk1"/>
              </a:solidFill>
              <a:latin typeface="Calibri"/>
            </a:endParaRPr>
          </a:p>
          <a:p>
            <a:pPr lvl="3" marL="16002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Fourth level</a:t>
            </a:r>
            <a:endParaRPr b="0" lang="en-US" sz="1600" spc="-1" strike="noStrike">
              <a:solidFill>
                <a:schemeClr val="dk1"/>
              </a:solidFill>
              <a:latin typeface="Calibri"/>
            </a:endParaRPr>
          </a:p>
          <a:p>
            <a:pPr lvl="4" marL="20574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Fifth level</a:t>
            </a:r>
            <a:endParaRPr b="0" lang="en-US" sz="1600" spc="-1" strike="noStrike">
              <a:solidFill>
                <a:schemeClr val="dk1"/>
              </a:solidFill>
              <a:latin typeface="Calibri"/>
            </a:endParaRPr>
          </a:p>
        </p:txBody>
      </p:sp>
      <p:sp>
        <p:nvSpPr>
          <p:cNvPr id="40" name="PlaceHolder 4"/>
          <p:cNvSpPr>
            <a:spLocks noGrp="1"/>
          </p:cNvSpPr>
          <p:nvPr>
            <p:ph type="body"/>
          </p:nvPr>
        </p:nvSpPr>
        <p:spPr>
          <a:xfrm>
            <a:off x="4645080" y="1535040"/>
            <a:ext cx="4041360" cy="639360"/>
          </a:xfrm>
          <a:prstGeom prst="rect">
            <a:avLst/>
          </a:prstGeom>
          <a:noFill/>
          <a:ln w="0">
            <a:noFill/>
          </a:ln>
        </p:spPr>
        <p:txBody>
          <a:bodyPr lIns="91440" rIns="91440" tIns="45720" bIns="45720" anchor="b">
            <a:noAutofit/>
          </a:bodyPr>
          <a:p>
            <a:pPr indent="0" defTabSz="457200">
              <a:lnSpc>
                <a:spcPct val="100000"/>
              </a:lnSpc>
              <a:spcBef>
                <a:spcPts val="479"/>
              </a:spcBef>
              <a:buNone/>
              <a:tabLst>
                <a:tab algn="l" pos="0"/>
              </a:tabLst>
            </a:pPr>
            <a:r>
              <a:rPr b="1" lang="en-US" sz="2400" spc="-1" strike="noStrike">
                <a:solidFill>
                  <a:schemeClr val="dk1"/>
                </a:solidFill>
                <a:latin typeface="Calibri"/>
              </a:rPr>
              <a:t>Click to edit Master text styles</a:t>
            </a:r>
            <a:endParaRPr b="0" lang="en-US" sz="2400" spc="-1" strike="noStrike">
              <a:solidFill>
                <a:schemeClr val="dk1"/>
              </a:solidFill>
              <a:latin typeface="Calibri"/>
            </a:endParaRPr>
          </a:p>
        </p:txBody>
      </p:sp>
      <p:sp>
        <p:nvSpPr>
          <p:cNvPr id="41" name="PlaceHolder 5"/>
          <p:cNvSpPr>
            <a:spLocks noGrp="1"/>
          </p:cNvSpPr>
          <p:nvPr>
            <p:ph type="body"/>
          </p:nvPr>
        </p:nvSpPr>
        <p:spPr>
          <a:xfrm>
            <a:off x="4645080" y="2174760"/>
            <a:ext cx="4041360" cy="3951000"/>
          </a:xfrm>
          <a:prstGeom prst="rect">
            <a:avLst/>
          </a:prstGeom>
          <a:noFill/>
          <a:ln w="0">
            <a:noFill/>
          </a:ln>
        </p:spPr>
        <p:txBody>
          <a:bodyPr lIns="91440" rIns="91440" tIns="45720" bIns="45720" anchor="t">
            <a:noAutofit/>
          </a:bodyPr>
          <a:p>
            <a:pPr marL="343080" indent="-343080" defTabSz="457200">
              <a:lnSpc>
                <a:spcPct val="100000"/>
              </a:lnSpc>
              <a:spcBef>
                <a:spcPts val="479"/>
              </a:spcBef>
              <a:buClr>
                <a:srgbClr val="000000"/>
              </a:buClr>
              <a:buFont typeface="Arial"/>
              <a:buChar char="•"/>
            </a:pPr>
            <a:r>
              <a:rPr b="0" lang="en-US" sz="2400" spc="-1" strike="noStrike">
                <a:solidFill>
                  <a:schemeClr val="dk1"/>
                </a:solidFill>
                <a:latin typeface="Calibri"/>
              </a:rPr>
              <a:t>Click to edit Master text styles</a:t>
            </a:r>
            <a:endParaRPr b="0" lang="en-US" sz="2400" spc="-1" strike="noStrike">
              <a:solidFill>
                <a:schemeClr val="dk1"/>
              </a:solidFill>
              <a:latin typeface="Calibri"/>
            </a:endParaRPr>
          </a:p>
          <a:p>
            <a:pPr lvl="1" marL="743040" indent="-285840" defTabSz="457200">
              <a:lnSpc>
                <a:spcPct val="100000"/>
              </a:lnSpc>
              <a:spcBef>
                <a:spcPts val="400"/>
              </a:spcBef>
              <a:buClr>
                <a:srgbClr val="000000"/>
              </a:buClr>
              <a:buFont typeface="Arial"/>
              <a:buChar char="–"/>
            </a:pPr>
            <a:r>
              <a:rPr b="0" lang="en-US" sz="2000" spc="-1" strike="noStrike">
                <a:solidFill>
                  <a:schemeClr val="dk1"/>
                </a:solidFill>
                <a:latin typeface="Calibri"/>
              </a:rPr>
              <a:t>Second level</a:t>
            </a:r>
            <a:endParaRPr b="0" lang="en-US" sz="2000" spc="-1" strike="noStrike">
              <a:solidFill>
                <a:schemeClr val="dk1"/>
              </a:solidFill>
              <a:latin typeface="Calibri"/>
            </a:endParaRPr>
          </a:p>
          <a:p>
            <a:pPr lvl="2" marL="11430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Third level</a:t>
            </a:r>
            <a:endParaRPr b="0" lang="en-US" sz="1800" spc="-1" strike="noStrike">
              <a:solidFill>
                <a:schemeClr val="dk1"/>
              </a:solidFill>
              <a:latin typeface="Calibri"/>
            </a:endParaRPr>
          </a:p>
          <a:p>
            <a:pPr lvl="3" marL="16002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Fourth level</a:t>
            </a:r>
            <a:endParaRPr b="0" lang="en-US" sz="1600" spc="-1" strike="noStrike">
              <a:solidFill>
                <a:schemeClr val="dk1"/>
              </a:solidFill>
              <a:latin typeface="Calibri"/>
            </a:endParaRPr>
          </a:p>
          <a:p>
            <a:pPr lvl="4" marL="20574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Fifth level</a:t>
            </a:r>
            <a:endParaRPr b="0" lang="en-US" sz="1600" spc="-1" strike="noStrike">
              <a:solidFill>
                <a:schemeClr val="dk1"/>
              </a:solidFill>
              <a:latin typeface="Calibri"/>
            </a:endParaRPr>
          </a:p>
        </p:txBody>
      </p:sp>
      <p:sp>
        <p:nvSpPr>
          <p:cNvPr id="42" name="PlaceHolder 6"/>
          <p:cNvSpPr>
            <a:spLocks noGrp="1"/>
          </p:cNvSpPr>
          <p:nvPr>
            <p:ph type="dt" idx="19"/>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43" name="PlaceHolder 7"/>
          <p:cNvSpPr>
            <a:spLocks noGrp="1"/>
          </p:cNvSpPr>
          <p:nvPr>
            <p:ph type="ftr" idx="20"/>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4" name="PlaceHolder 8"/>
          <p:cNvSpPr>
            <a:spLocks noGrp="1"/>
          </p:cNvSpPr>
          <p:nvPr>
            <p:ph type="sldNum" idx="21"/>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CAD88D65-49B7-4567-9869-70CEC3AD8D70}"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46" name="PlaceHolder 2"/>
          <p:cNvSpPr>
            <a:spLocks noGrp="1"/>
          </p:cNvSpPr>
          <p:nvPr>
            <p:ph type="dt" idx="22"/>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47" name="PlaceHolder 3"/>
          <p:cNvSpPr>
            <a:spLocks noGrp="1"/>
          </p:cNvSpPr>
          <p:nvPr>
            <p:ph type="ftr" idx="23"/>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8" name="PlaceHolder 4"/>
          <p:cNvSpPr>
            <a:spLocks noGrp="1"/>
          </p:cNvSpPr>
          <p:nvPr>
            <p:ph type="sldNum" idx="24"/>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E33EADCB-EF96-4076-8B3D-2E7E376BF087}"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0" name="PlaceHolder 1"/>
          <p:cNvSpPr>
            <a:spLocks noGrp="1"/>
          </p:cNvSpPr>
          <p:nvPr>
            <p:ph type="dt" idx="25"/>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51" name="PlaceHolder 2"/>
          <p:cNvSpPr>
            <a:spLocks noGrp="1"/>
          </p:cNvSpPr>
          <p:nvPr>
            <p:ph type="ftr" idx="26"/>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2" name="PlaceHolder 3"/>
          <p:cNvSpPr>
            <a:spLocks noGrp="1"/>
          </p:cNvSpPr>
          <p:nvPr>
            <p:ph type="sldNum" idx="27"/>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979EDF1A-75B5-429C-9365-041D98F653F7}"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53" name="PlaceHolder 4"/>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r>
              <a:rPr b="0" lang="en-US" sz="1800" spc="-1" strike="noStrike">
                <a:solidFill>
                  <a:schemeClr val="dk1"/>
                </a:solidFill>
                <a:latin typeface="Calibri"/>
              </a:rPr>
              <a:t>Click to edit the title text format</a:t>
            </a:r>
            <a:endParaRPr b="0" lang="en-US" sz="1800" spc="-1" strike="noStrike">
              <a:solidFill>
                <a:schemeClr val="dk1"/>
              </a:solidFill>
              <a:latin typeface="Calibri"/>
            </a:endParaRPr>
          </a:p>
        </p:txBody>
      </p:sp>
      <p:sp>
        <p:nvSpPr>
          <p:cNvPr id="54" name="PlaceHolder 5"/>
          <p:cNvSpPr>
            <a:spLocks noGrp="1"/>
          </p:cNvSpPr>
          <p:nvPr>
            <p:ph type="body"/>
          </p:nvPr>
        </p:nvSpPr>
        <p:spPr>
          <a:xfrm>
            <a:off x="609480" y="1604520"/>
            <a:ext cx="1097208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2880"/>
            <a:ext cx="3007800" cy="1161720"/>
          </a:xfrm>
          <a:prstGeom prst="rect">
            <a:avLst/>
          </a:prstGeom>
          <a:noFill/>
          <a:ln w="0">
            <a:noFill/>
          </a:ln>
        </p:spPr>
        <p:txBody>
          <a:bodyPr lIns="91440" rIns="91440" tIns="45720" bIns="45720" anchor="b">
            <a:noAutofit/>
          </a:bodyPr>
          <a:p>
            <a:pPr indent="0" defTabSz="457200">
              <a:lnSpc>
                <a:spcPct val="100000"/>
              </a:lnSpc>
              <a:buNone/>
            </a:pPr>
            <a:r>
              <a:rPr b="1" lang="en-US" sz="2000" spc="-1" strike="noStrike">
                <a:solidFill>
                  <a:schemeClr val="dk1"/>
                </a:solidFill>
                <a:latin typeface="Calibri"/>
              </a:rPr>
              <a:t>Click to edit Master title style</a:t>
            </a:r>
            <a:endParaRPr b="0" lang="en-US" sz="2000" spc="-1" strike="noStrike">
              <a:solidFill>
                <a:schemeClr val="dk1"/>
              </a:solidFill>
              <a:latin typeface="Calibri"/>
            </a:endParaRPr>
          </a:p>
        </p:txBody>
      </p:sp>
      <p:sp>
        <p:nvSpPr>
          <p:cNvPr id="56" name="PlaceHolder 2"/>
          <p:cNvSpPr>
            <a:spLocks noGrp="1"/>
          </p:cNvSpPr>
          <p:nvPr>
            <p:ph type="body"/>
          </p:nvPr>
        </p:nvSpPr>
        <p:spPr>
          <a:xfrm>
            <a:off x="3575160" y="272880"/>
            <a:ext cx="5111280" cy="585288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57" name="PlaceHolder 3"/>
          <p:cNvSpPr>
            <a:spLocks noGrp="1"/>
          </p:cNvSpPr>
          <p:nvPr>
            <p:ph type="body"/>
          </p:nvPr>
        </p:nvSpPr>
        <p:spPr>
          <a:xfrm>
            <a:off x="457200" y="1434960"/>
            <a:ext cx="3007800" cy="4690800"/>
          </a:xfrm>
          <a:prstGeom prst="rect">
            <a:avLst/>
          </a:prstGeom>
          <a:noFill/>
          <a:ln w="0">
            <a:noFill/>
          </a:ln>
        </p:spPr>
        <p:txBody>
          <a:bodyPr lIns="91440" rIns="91440" tIns="45720" bIns="45720" anchor="t">
            <a:noAutofit/>
          </a:bodyPr>
          <a:p>
            <a:pPr indent="0" defTabSz="457200">
              <a:lnSpc>
                <a:spcPct val="100000"/>
              </a:lnSpc>
              <a:spcBef>
                <a:spcPts val="281"/>
              </a:spcBef>
              <a:buNone/>
              <a:tabLst>
                <a:tab algn="l" pos="0"/>
              </a:tabLst>
            </a:pPr>
            <a:r>
              <a:rPr b="0" lang="en-US" sz="1400" spc="-1" strike="noStrike">
                <a:solidFill>
                  <a:schemeClr val="dk1"/>
                </a:solidFill>
                <a:latin typeface="Calibri"/>
              </a:rPr>
              <a:t>Click to edit Master text styles</a:t>
            </a:r>
            <a:endParaRPr b="0" lang="en-US" sz="1400" spc="-1" strike="noStrike">
              <a:solidFill>
                <a:schemeClr val="dk1"/>
              </a:solidFill>
              <a:latin typeface="Calibri"/>
            </a:endParaRPr>
          </a:p>
        </p:txBody>
      </p:sp>
      <p:sp>
        <p:nvSpPr>
          <p:cNvPr id="58" name="PlaceHolder 4"/>
          <p:cNvSpPr>
            <a:spLocks noGrp="1"/>
          </p:cNvSpPr>
          <p:nvPr>
            <p:ph type="dt" idx="28"/>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59" name="PlaceHolder 5"/>
          <p:cNvSpPr>
            <a:spLocks noGrp="1"/>
          </p:cNvSpPr>
          <p:nvPr>
            <p:ph type="ftr" idx="29"/>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0" name="PlaceHolder 6"/>
          <p:cNvSpPr>
            <a:spLocks noGrp="1"/>
          </p:cNvSpPr>
          <p:nvPr>
            <p:ph type="sldNum" idx="30"/>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F042419F-1C22-43F6-95C8-EE712212592A}"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1" name="PlaceHolder 1"/>
          <p:cNvSpPr>
            <a:spLocks noGrp="1"/>
          </p:cNvSpPr>
          <p:nvPr>
            <p:ph type="title"/>
          </p:nvPr>
        </p:nvSpPr>
        <p:spPr>
          <a:xfrm>
            <a:off x="1792440" y="4800600"/>
            <a:ext cx="5486040" cy="566280"/>
          </a:xfrm>
          <a:prstGeom prst="rect">
            <a:avLst/>
          </a:prstGeom>
          <a:noFill/>
          <a:ln w="0">
            <a:noFill/>
          </a:ln>
        </p:spPr>
        <p:txBody>
          <a:bodyPr lIns="91440" rIns="91440" tIns="45720" bIns="45720" anchor="b">
            <a:noAutofit/>
          </a:bodyPr>
          <a:p>
            <a:pPr indent="0" defTabSz="457200">
              <a:lnSpc>
                <a:spcPct val="100000"/>
              </a:lnSpc>
              <a:buNone/>
            </a:pPr>
            <a:r>
              <a:rPr b="1" lang="en-US" sz="2000" spc="-1" strike="noStrike">
                <a:solidFill>
                  <a:schemeClr val="dk1"/>
                </a:solidFill>
                <a:latin typeface="Calibri"/>
              </a:rPr>
              <a:t>Click to edit Master title style</a:t>
            </a:r>
            <a:endParaRPr b="0" lang="en-US" sz="2000" spc="-1" strike="noStrike">
              <a:solidFill>
                <a:schemeClr val="dk1"/>
              </a:solidFill>
              <a:latin typeface="Calibri"/>
            </a:endParaRPr>
          </a:p>
        </p:txBody>
      </p:sp>
      <p:sp>
        <p:nvSpPr>
          <p:cNvPr id="62" name="PlaceHolder 2"/>
          <p:cNvSpPr>
            <a:spLocks noGrp="1"/>
          </p:cNvSpPr>
          <p:nvPr>
            <p:ph type="body"/>
          </p:nvPr>
        </p:nvSpPr>
        <p:spPr>
          <a:xfrm>
            <a:off x="1792440" y="612720"/>
            <a:ext cx="5486040" cy="4114440"/>
          </a:xfrm>
          <a:prstGeom prst="rect">
            <a:avLst/>
          </a:prstGeom>
          <a:noFill/>
          <a:ln w="0">
            <a:noFill/>
          </a:ln>
        </p:spPr>
        <p:txBody>
          <a:bodyPr lIns="90000" rIns="90000" tIns="45000" bIns="45000" anchor="t">
            <a:no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3200" spc="-1" strike="noStrike">
                <a:solidFill>
                  <a:schemeClr val="dk1"/>
                </a:solidFill>
                <a:latin typeface="Calibri"/>
              </a:rPr>
              <a:t>Second Outline Level</a:t>
            </a:r>
            <a:endParaRPr b="0" lang="en-US" sz="32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3200" spc="-1" strike="noStrike">
                <a:solidFill>
                  <a:schemeClr val="dk1"/>
                </a:solidFill>
                <a:latin typeface="Calibri"/>
              </a:rPr>
              <a:t>Third Outline Level</a:t>
            </a:r>
            <a:endParaRPr b="0" lang="en-US" sz="32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3200" spc="-1" strike="noStrike">
                <a:solidFill>
                  <a:schemeClr val="dk1"/>
                </a:solidFill>
                <a:latin typeface="Calibri"/>
              </a:rPr>
              <a:t>Fourth Outline Level</a:t>
            </a:r>
            <a:endParaRPr b="0" lang="en-US" sz="32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3200" spc="-1" strike="noStrike">
                <a:solidFill>
                  <a:schemeClr val="dk1"/>
                </a:solidFill>
                <a:latin typeface="Calibri"/>
              </a:rPr>
              <a:t>Fifth Outline Level</a:t>
            </a:r>
            <a:endParaRPr b="0" lang="en-US" sz="32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3200" spc="-1" strike="noStrike">
                <a:solidFill>
                  <a:schemeClr val="dk1"/>
                </a:solidFill>
                <a:latin typeface="Calibri"/>
              </a:rPr>
              <a:t>Sixth Outline Level</a:t>
            </a:r>
            <a:endParaRPr b="0" lang="en-US" sz="32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3200" spc="-1" strike="noStrike">
                <a:solidFill>
                  <a:schemeClr val="dk1"/>
                </a:solidFill>
                <a:latin typeface="Calibri"/>
              </a:rPr>
              <a:t>Seventh Outline Level</a:t>
            </a:r>
            <a:endParaRPr b="0" lang="en-US" sz="3200" spc="-1" strike="noStrike">
              <a:solidFill>
                <a:schemeClr val="dk1"/>
              </a:solidFill>
              <a:latin typeface="Calibri"/>
            </a:endParaRPr>
          </a:p>
        </p:txBody>
      </p:sp>
      <p:sp>
        <p:nvSpPr>
          <p:cNvPr id="63" name="PlaceHolder 3"/>
          <p:cNvSpPr>
            <a:spLocks noGrp="1"/>
          </p:cNvSpPr>
          <p:nvPr>
            <p:ph type="body"/>
          </p:nvPr>
        </p:nvSpPr>
        <p:spPr>
          <a:xfrm>
            <a:off x="1792440" y="5367240"/>
            <a:ext cx="5486040" cy="804600"/>
          </a:xfrm>
          <a:prstGeom prst="rect">
            <a:avLst/>
          </a:prstGeom>
          <a:noFill/>
          <a:ln w="0">
            <a:noFill/>
          </a:ln>
        </p:spPr>
        <p:txBody>
          <a:bodyPr lIns="91440" rIns="91440" tIns="45720" bIns="45720" anchor="t">
            <a:noAutofit/>
          </a:bodyPr>
          <a:p>
            <a:pPr indent="0" defTabSz="457200">
              <a:lnSpc>
                <a:spcPct val="100000"/>
              </a:lnSpc>
              <a:spcBef>
                <a:spcPts val="281"/>
              </a:spcBef>
              <a:buNone/>
              <a:tabLst>
                <a:tab algn="l" pos="0"/>
              </a:tabLst>
            </a:pPr>
            <a:r>
              <a:rPr b="0" lang="en-US" sz="1400" spc="-1" strike="noStrike">
                <a:solidFill>
                  <a:schemeClr val="dk1"/>
                </a:solidFill>
                <a:latin typeface="Calibri"/>
              </a:rPr>
              <a:t>Click to edit Master text styles</a:t>
            </a:r>
            <a:endParaRPr b="0" lang="en-US" sz="1400" spc="-1" strike="noStrike">
              <a:solidFill>
                <a:schemeClr val="dk1"/>
              </a:solidFill>
              <a:latin typeface="Calibri"/>
            </a:endParaRPr>
          </a:p>
        </p:txBody>
      </p:sp>
      <p:sp>
        <p:nvSpPr>
          <p:cNvPr id="64" name="PlaceHolder 4"/>
          <p:cNvSpPr>
            <a:spLocks noGrp="1"/>
          </p:cNvSpPr>
          <p:nvPr>
            <p:ph type="dt" idx="31"/>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65" name="PlaceHolder 5"/>
          <p:cNvSpPr>
            <a:spLocks noGrp="1"/>
          </p:cNvSpPr>
          <p:nvPr>
            <p:ph type="ftr" idx="32"/>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6" name="PlaceHolder 6"/>
          <p:cNvSpPr>
            <a:spLocks noGrp="1"/>
          </p:cNvSpPr>
          <p:nvPr>
            <p:ph type="sldNum" idx="33"/>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F04EA640-8142-48E0-87F6-9545CBBE5F3A}"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jpeg"/><Relationship Id="rId3" Type="http://schemas.openxmlformats.org/officeDocument/2006/relationships/slideLayout" Target="../slideLayouts/slideLayout9.xml"/><Relationship Id="rId4"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9.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9.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9.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9.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9.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9.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9.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9.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9.xml"/><Relationship Id="rId3" Type="http://schemas.openxmlformats.org/officeDocument/2006/relationships/notesSlide" Target="../notesSlides/notesSlide1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51922"/>
        </a:solidFill>
      </p:bgPr>
    </p:bg>
    <p:spTree>
      <p:nvGrpSpPr>
        <p:cNvPr id="1" name=""/>
        <p:cNvGrpSpPr/>
        <p:nvPr/>
      </p:nvGrpSpPr>
      <p:grpSpPr>
        <a:xfrm>
          <a:off x="0" y="0"/>
          <a:ext cx="0" cy="0"/>
          <a:chOff x="0" y="0"/>
          <a:chExt cx="0" cy="0"/>
        </a:xfrm>
      </p:grpSpPr>
      <p:sp>
        <p:nvSpPr>
          <p:cNvPr id="73" name="Rectangle 1"/>
          <p:cNvSpPr/>
          <p:nvPr/>
        </p:nvSpPr>
        <p:spPr>
          <a:xfrm>
            <a:off x="0" y="0"/>
            <a:ext cx="12191400" cy="72720"/>
          </a:xfrm>
          <a:prstGeom prst="rect">
            <a:avLst/>
          </a:prstGeom>
          <a:solidFill>
            <a:srgbClr val="58bec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457200">
              <a:lnSpc>
                <a:spcPct val="100000"/>
              </a:lnSpc>
            </a:pPr>
            <a:endParaRPr b="0" lang="en-US" sz="1800" spc="-1" strike="noStrike">
              <a:solidFill>
                <a:schemeClr val="lt1"/>
              </a:solidFill>
              <a:latin typeface="Calibri"/>
            </a:endParaRPr>
          </a:p>
        </p:txBody>
      </p:sp>
      <p:pic>
        <p:nvPicPr>
          <p:cNvPr id="74" name="Picture 2" descr="falcon-concept-visualization.png"/>
          <p:cNvPicPr/>
          <p:nvPr/>
        </p:nvPicPr>
        <p:blipFill>
          <a:blip r:embed="rId1"/>
          <a:srcRect l="0" t="24" r="0" b="24"/>
          <a:stretch/>
        </p:blipFill>
        <p:spPr>
          <a:xfrm>
            <a:off x="1753200" y="0"/>
            <a:ext cx="12191400" cy="6857640"/>
          </a:xfrm>
          <a:prstGeom prst="rect">
            <a:avLst/>
          </a:prstGeom>
          <a:ln w="0">
            <a:noFill/>
          </a:ln>
        </p:spPr>
      </p:pic>
      <p:sp>
        <p:nvSpPr>
          <p:cNvPr id="75" name="Rectangle 3"/>
          <p:cNvSpPr/>
          <p:nvPr/>
        </p:nvSpPr>
        <p:spPr>
          <a:xfrm>
            <a:off x="0" y="0"/>
            <a:ext cx="6766200" cy="6857640"/>
          </a:xfrm>
          <a:prstGeom prst="rect">
            <a:avLst/>
          </a:prstGeom>
          <a:solidFill>
            <a:srgbClr val="05192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pic>
        <p:nvPicPr>
          <p:cNvPr id="76" name="Picture 4" descr="falcon-logo.jpg"/>
          <p:cNvPicPr/>
          <p:nvPr/>
        </p:nvPicPr>
        <p:blipFill>
          <a:blip r:embed="rId2"/>
          <a:stretch/>
        </p:blipFill>
        <p:spPr>
          <a:xfrm>
            <a:off x="640080" y="502920"/>
            <a:ext cx="749520" cy="749520"/>
          </a:xfrm>
          <a:prstGeom prst="rect">
            <a:avLst/>
          </a:prstGeom>
          <a:ln w="0">
            <a:noFill/>
          </a:ln>
        </p:spPr>
      </p:pic>
      <p:sp>
        <p:nvSpPr>
          <p:cNvPr id="77" name="TextBox 5"/>
          <p:cNvSpPr/>
          <p:nvPr/>
        </p:nvSpPr>
        <p:spPr>
          <a:xfrm>
            <a:off x="640080" y="1600200"/>
            <a:ext cx="5668920" cy="62172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b="1" lang="en-US" sz="3600" spc="-1" strike="noStrike">
                <a:solidFill>
                  <a:srgbClr val="eff7f7"/>
                </a:solidFill>
                <a:latin typeface="Aptos"/>
              </a:rPr>
              <a:t>PROJECT FALCON</a:t>
            </a:r>
            <a:endParaRPr b="0" lang="en-US" sz="3600" spc="-1" strike="noStrike">
              <a:solidFill>
                <a:srgbClr val="ffffff"/>
              </a:solidFill>
              <a:latin typeface="Arial"/>
            </a:endParaRPr>
          </a:p>
        </p:txBody>
      </p:sp>
      <p:sp>
        <p:nvSpPr>
          <p:cNvPr id="78" name="TextBox 6"/>
          <p:cNvSpPr/>
          <p:nvPr/>
        </p:nvSpPr>
        <p:spPr>
          <a:xfrm>
            <a:off x="658440" y="2331720"/>
            <a:ext cx="5303160" cy="71316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b="1" lang="en-US" sz="2100" spc="-1" strike="noStrike">
                <a:solidFill>
                  <a:srgbClr val="70cbd3"/>
                </a:solidFill>
                <a:latin typeface="Aptos"/>
              </a:rPr>
              <a:t>Fullbright College's AI-powered</a:t>
            </a:r>
            <a:br>
              <a:rPr sz="2100"/>
            </a:br>
            <a:r>
              <a:rPr b="1" lang="en-US" sz="2100" spc="-1" strike="noStrike">
                <a:solidFill>
                  <a:srgbClr val="70cbd3"/>
                </a:solidFill>
                <a:latin typeface="Aptos"/>
              </a:rPr>
              <a:t>Live Coastal Observation Network</a:t>
            </a:r>
            <a:endParaRPr b="0" lang="en-US" sz="2100" spc="-1" strike="noStrike">
              <a:solidFill>
                <a:srgbClr val="ffffff"/>
              </a:solidFill>
              <a:latin typeface="Arial"/>
            </a:endParaRPr>
          </a:p>
        </p:txBody>
      </p:sp>
      <p:sp>
        <p:nvSpPr>
          <p:cNvPr id="79" name="TextBox 7"/>
          <p:cNvSpPr/>
          <p:nvPr/>
        </p:nvSpPr>
        <p:spPr>
          <a:xfrm>
            <a:off x="658440" y="3566160"/>
            <a:ext cx="5257440" cy="80424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b="0" lang="en-US" sz="1600" spc="-1" strike="noStrike">
                <a:solidFill>
                  <a:srgbClr val="eff7f7"/>
                </a:solidFill>
                <a:latin typeface="Aptos"/>
              </a:rPr>
              <a:t>An affordable solar-powered smart buoy for localized coastal monitoring, edge processing, and responsible short-horizon prediction research.</a:t>
            </a:r>
            <a:endParaRPr b="0" lang="en-US" sz="1600" spc="-1" strike="noStrike">
              <a:solidFill>
                <a:srgbClr val="ffffff"/>
              </a:solidFill>
              <a:latin typeface="Arial"/>
            </a:endParaRPr>
          </a:p>
        </p:txBody>
      </p:sp>
      <p:sp>
        <p:nvSpPr>
          <p:cNvPr id="80" name="Rounded Rectangle 8"/>
          <p:cNvSpPr/>
          <p:nvPr/>
        </p:nvSpPr>
        <p:spPr>
          <a:xfrm>
            <a:off x="658440" y="5074920"/>
            <a:ext cx="3931560" cy="502560"/>
          </a:xfrm>
          <a:prstGeom prst="roundRect">
            <a:avLst>
              <a:gd name="adj" fmla="val 12000"/>
            </a:avLst>
          </a:prstGeom>
          <a:solidFill>
            <a:srgbClr val="12434c"/>
          </a:solidFill>
          <a:ln>
            <a:solidFill>
              <a:srgbClr val="58bec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81" name="TextBox 9"/>
          <p:cNvSpPr/>
          <p:nvPr/>
        </p:nvSpPr>
        <p:spPr>
          <a:xfrm>
            <a:off x="822960" y="5230440"/>
            <a:ext cx="3611520" cy="21060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b="1" lang="en-US" sz="900" spc="-1" strike="noStrike">
                <a:solidFill>
                  <a:srgbClr val="eff7f7"/>
                </a:solidFill>
                <a:latin typeface="Aptos"/>
              </a:rPr>
              <a:t>IDEA • SOFTWARE PROTOTYPE • FUNDING PROPOSAL</a:t>
            </a:r>
            <a:endParaRPr b="0" lang="en-US" sz="900" spc="-1" strike="noStrike">
              <a:solidFill>
                <a:srgbClr val="ffffff"/>
              </a:solidFill>
              <a:latin typeface="Arial"/>
            </a:endParaRPr>
          </a:p>
        </p:txBody>
      </p:sp>
      <p:sp>
        <p:nvSpPr>
          <p:cNvPr id="82" name="TextBox 10"/>
          <p:cNvSpPr/>
          <p:nvPr/>
        </p:nvSpPr>
        <p:spPr>
          <a:xfrm>
            <a:off x="9509760" y="6236280"/>
            <a:ext cx="2148480" cy="194760"/>
          </a:xfrm>
          <a:prstGeom prst="rect">
            <a:avLst/>
          </a:prstGeom>
          <a:noFill/>
          <a:ln w="0">
            <a:noFill/>
          </a:ln>
        </p:spPr>
        <p:style>
          <a:lnRef idx="0"/>
          <a:fillRef idx="0"/>
          <a:effectRef idx="0"/>
          <a:fontRef idx="minor"/>
        </p:style>
        <p:txBody>
          <a:bodyPr lIns="36720" rIns="36720" tIns="36720" bIns="36720" anchor="t">
            <a:spAutoFit/>
          </a:bodyPr>
          <a:p>
            <a:pPr algn="r" defTabSz="457200">
              <a:lnSpc>
                <a:spcPct val="100000"/>
              </a:lnSpc>
            </a:pPr>
            <a:r>
              <a:rPr b="1" lang="en-US" sz="800" spc="-1" strike="noStrike">
                <a:solidFill>
                  <a:srgbClr val="eff7f7"/>
                </a:solidFill>
                <a:latin typeface="Aptos"/>
              </a:rPr>
              <a:t>CONCEPT VISUALIZATION</a:t>
            </a:r>
            <a:endParaRPr b="0" lang="en-US" sz="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51922"/>
        </a:solidFill>
      </p:bgPr>
    </p:bg>
    <p:spTree>
      <p:nvGrpSpPr>
        <p:cNvPr id="1" name=""/>
        <p:cNvGrpSpPr/>
        <p:nvPr/>
      </p:nvGrpSpPr>
      <p:grpSpPr>
        <a:xfrm>
          <a:off x="0" y="0"/>
          <a:ext cx="0" cy="0"/>
          <a:chOff x="0" y="0"/>
          <a:chExt cx="0" cy="0"/>
        </a:xfrm>
      </p:grpSpPr>
      <p:sp>
        <p:nvSpPr>
          <p:cNvPr id="83" name="Rectangle 1"/>
          <p:cNvSpPr/>
          <p:nvPr/>
        </p:nvSpPr>
        <p:spPr>
          <a:xfrm>
            <a:off x="0" y="0"/>
            <a:ext cx="12191400" cy="72720"/>
          </a:xfrm>
          <a:prstGeom prst="rect">
            <a:avLst/>
          </a:prstGeom>
          <a:solidFill>
            <a:srgbClr val="58bec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457200">
              <a:lnSpc>
                <a:spcPct val="100000"/>
              </a:lnSpc>
            </a:pPr>
            <a:endParaRPr b="0" lang="en-US" sz="1800" spc="-1" strike="noStrike">
              <a:solidFill>
                <a:schemeClr val="lt1"/>
              </a:solidFill>
              <a:latin typeface="Calibri"/>
            </a:endParaRPr>
          </a:p>
        </p:txBody>
      </p:sp>
      <p:sp>
        <p:nvSpPr>
          <p:cNvPr id="84" name="TextBox 2"/>
          <p:cNvSpPr/>
          <p:nvPr/>
        </p:nvSpPr>
        <p:spPr>
          <a:xfrm>
            <a:off x="502920" y="292680"/>
            <a:ext cx="8229240" cy="22572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b="1" lang="en-US" sz="1000" spc="-1" strike="noStrike">
                <a:solidFill>
                  <a:srgbClr val="58bec2"/>
                </a:solidFill>
                <a:latin typeface="Aptos"/>
              </a:rPr>
              <a:t>WHY THIS MATTERS</a:t>
            </a:r>
            <a:endParaRPr b="0" lang="en-US" sz="1000" spc="-1" strike="noStrike">
              <a:solidFill>
                <a:srgbClr val="ffffff"/>
              </a:solidFill>
              <a:latin typeface="Arial"/>
            </a:endParaRPr>
          </a:p>
        </p:txBody>
      </p:sp>
      <p:sp>
        <p:nvSpPr>
          <p:cNvPr id="85" name="TextBox 3"/>
          <p:cNvSpPr/>
          <p:nvPr/>
        </p:nvSpPr>
        <p:spPr>
          <a:xfrm>
            <a:off x="502920" y="603360"/>
            <a:ext cx="10698120" cy="48492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b="1" lang="en-US" sz="2700" spc="-1" strike="noStrike">
                <a:solidFill>
                  <a:srgbClr val="eff7f7"/>
                </a:solidFill>
                <a:latin typeface="Aptos"/>
              </a:rPr>
              <a:t>The gap is affordable, site-specific coastal observation</a:t>
            </a:r>
            <a:endParaRPr b="0" lang="en-US" sz="2700" spc="-1" strike="noStrike">
              <a:solidFill>
                <a:srgbClr val="ffffff"/>
              </a:solidFill>
              <a:latin typeface="Arial"/>
            </a:endParaRPr>
          </a:p>
        </p:txBody>
      </p:sp>
      <p:sp>
        <p:nvSpPr>
          <p:cNvPr id="86" name="TextBox 4"/>
          <p:cNvSpPr/>
          <p:nvPr/>
        </p:nvSpPr>
        <p:spPr>
          <a:xfrm>
            <a:off x="11201400" y="347400"/>
            <a:ext cx="456840" cy="240840"/>
          </a:xfrm>
          <a:prstGeom prst="rect">
            <a:avLst/>
          </a:prstGeom>
          <a:noFill/>
          <a:ln w="0">
            <a:noFill/>
          </a:ln>
        </p:spPr>
        <p:style>
          <a:lnRef idx="0"/>
          <a:fillRef idx="0"/>
          <a:effectRef idx="0"/>
          <a:fontRef idx="minor"/>
        </p:style>
        <p:txBody>
          <a:bodyPr lIns="36720" rIns="36720" tIns="36720" bIns="36720" anchor="t">
            <a:spAutoFit/>
          </a:bodyPr>
          <a:p>
            <a:pPr algn="r" defTabSz="457200">
              <a:lnSpc>
                <a:spcPct val="100000"/>
              </a:lnSpc>
            </a:pPr>
            <a:r>
              <a:rPr b="1" lang="en-US" sz="1100" spc="-1" strike="noStrike">
                <a:solidFill>
                  <a:srgbClr val="a6c2c6"/>
                </a:solidFill>
                <a:latin typeface="Aptos"/>
              </a:rPr>
              <a:t>02</a:t>
            </a:r>
            <a:endParaRPr b="0" lang="en-US" sz="1100" spc="-1" strike="noStrike">
              <a:solidFill>
                <a:srgbClr val="ffffff"/>
              </a:solidFill>
              <a:latin typeface="Arial"/>
            </a:endParaRPr>
          </a:p>
        </p:txBody>
      </p:sp>
      <p:sp>
        <p:nvSpPr>
          <p:cNvPr id="87" name="Rectangle 5"/>
          <p:cNvSpPr/>
          <p:nvPr/>
        </p:nvSpPr>
        <p:spPr>
          <a:xfrm>
            <a:off x="502920" y="1188720"/>
            <a:ext cx="11155320" cy="13320"/>
          </a:xfrm>
          <a:prstGeom prst="rect">
            <a:avLst/>
          </a:prstGeom>
          <a:solidFill>
            <a:srgbClr val="29515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1320" bIns="-31320" anchor="ctr">
            <a:noAutofit/>
          </a:bodyPr>
          <a:p>
            <a:pPr algn="ctr" defTabSz="457200">
              <a:lnSpc>
                <a:spcPct val="100000"/>
              </a:lnSpc>
            </a:pPr>
            <a:endParaRPr b="0" lang="en-US" sz="1800" spc="-1" strike="noStrike">
              <a:solidFill>
                <a:schemeClr val="lt1"/>
              </a:solidFill>
              <a:latin typeface="Calibri"/>
            </a:endParaRPr>
          </a:p>
        </p:txBody>
      </p:sp>
      <p:sp>
        <p:nvSpPr>
          <p:cNvPr id="88" name="Rounded Rectangle 6"/>
          <p:cNvSpPr/>
          <p:nvPr/>
        </p:nvSpPr>
        <p:spPr>
          <a:xfrm>
            <a:off x="502920" y="1508760"/>
            <a:ext cx="3520080" cy="1874160"/>
          </a:xfrm>
          <a:prstGeom prst="roundRect">
            <a:avLst>
              <a:gd name="adj" fmla="val 12000"/>
            </a:avLst>
          </a:prstGeom>
          <a:solidFill>
            <a:srgbClr val="0c2a34"/>
          </a:solidFill>
          <a:ln>
            <a:solidFill>
              <a:srgbClr val="2a5963"/>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89" name="TextBox 7"/>
          <p:cNvSpPr/>
          <p:nvPr/>
        </p:nvSpPr>
        <p:spPr>
          <a:xfrm>
            <a:off x="704160" y="1653840"/>
            <a:ext cx="411120" cy="423000"/>
          </a:xfrm>
          <a:prstGeom prst="rect">
            <a:avLst/>
          </a:prstGeom>
          <a:noFill/>
          <a:ln w="0">
            <a:noFill/>
          </a:ln>
        </p:spPr>
        <p:style>
          <a:lnRef idx="0"/>
          <a:fillRef idx="0"/>
          <a:effectRef idx="0"/>
          <a:fontRef idx="minor"/>
        </p:style>
        <p:txBody>
          <a:bodyPr lIns="36720" rIns="36720" tIns="36720" bIns="36720" anchor="ctr">
            <a:spAutoFit/>
          </a:bodyPr>
          <a:p>
            <a:pPr algn="ctr" defTabSz="457200">
              <a:lnSpc>
                <a:spcPct val="100000"/>
              </a:lnSpc>
            </a:pPr>
            <a:r>
              <a:rPr b="1" lang="en-US" sz="2300" spc="-1" strike="noStrike">
                <a:solidFill>
                  <a:srgbClr val="58bec2"/>
                </a:solidFill>
                <a:latin typeface="Aptos"/>
              </a:rPr>
              <a:t>⌖</a:t>
            </a:r>
            <a:endParaRPr b="0" lang="en-US" sz="2300" spc="-1" strike="noStrike">
              <a:solidFill>
                <a:srgbClr val="ffffff"/>
              </a:solidFill>
              <a:latin typeface="Arial"/>
            </a:endParaRPr>
          </a:p>
        </p:txBody>
      </p:sp>
      <p:sp>
        <p:nvSpPr>
          <p:cNvPr id="90" name="TextBox 8"/>
          <p:cNvSpPr/>
          <p:nvPr/>
        </p:nvSpPr>
        <p:spPr>
          <a:xfrm>
            <a:off x="1188720" y="1691640"/>
            <a:ext cx="2651400" cy="30168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b="1" lang="en-US" sz="1500" spc="-1" strike="noStrike">
                <a:solidFill>
                  <a:srgbClr val="eff7f7"/>
                </a:solidFill>
                <a:latin typeface="Aptos"/>
              </a:rPr>
              <a:t>Localized conditions</a:t>
            </a:r>
            <a:endParaRPr b="0" lang="en-US" sz="1500" spc="-1" strike="noStrike">
              <a:solidFill>
                <a:srgbClr val="ffffff"/>
              </a:solidFill>
              <a:latin typeface="Arial"/>
            </a:endParaRPr>
          </a:p>
        </p:txBody>
      </p:sp>
      <p:sp>
        <p:nvSpPr>
          <p:cNvPr id="91" name="TextBox 9"/>
          <p:cNvSpPr/>
          <p:nvPr/>
        </p:nvSpPr>
        <p:spPr>
          <a:xfrm>
            <a:off x="731520" y="2167200"/>
            <a:ext cx="3062880" cy="40860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b="0" lang="en-US" sz="1100" spc="-1" strike="noStrike">
                <a:solidFill>
                  <a:srgbClr val="a6c2c6"/>
                </a:solidFill>
                <a:latin typeface="Aptos"/>
              </a:rPr>
              <a:t>A wide-area forecast may not describe the exact near-shore research or launch site.</a:t>
            </a:r>
            <a:endParaRPr b="0" lang="en-US" sz="1100" spc="-1" strike="noStrike">
              <a:solidFill>
                <a:srgbClr val="ffffff"/>
              </a:solidFill>
              <a:latin typeface="Arial"/>
            </a:endParaRPr>
          </a:p>
        </p:txBody>
      </p:sp>
      <p:sp>
        <p:nvSpPr>
          <p:cNvPr id="92" name="Rounded Rectangle 10"/>
          <p:cNvSpPr/>
          <p:nvPr/>
        </p:nvSpPr>
        <p:spPr>
          <a:xfrm>
            <a:off x="4325040" y="1508760"/>
            <a:ext cx="3520080" cy="1874160"/>
          </a:xfrm>
          <a:prstGeom prst="roundRect">
            <a:avLst>
              <a:gd name="adj" fmla="val 12000"/>
            </a:avLst>
          </a:prstGeom>
          <a:solidFill>
            <a:srgbClr val="0c2a34"/>
          </a:solidFill>
          <a:ln>
            <a:solidFill>
              <a:srgbClr val="2a5963"/>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93" name="TextBox 11"/>
          <p:cNvSpPr/>
          <p:nvPr/>
        </p:nvSpPr>
        <p:spPr>
          <a:xfrm>
            <a:off x="4526280" y="1653840"/>
            <a:ext cx="411120" cy="423000"/>
          </a:xfrm>
          <a:prstGeom prst="rect">
            <a:avLst/>
          </a:prstGeom>
          <a:noFill/>
          <a:ln w="0">
            <a:noFill/>
          </a:ln>
        </p:spPr>
        <p:style>
          <a:lnRef idx="0"/>
          <a:fillRef idx="0"/>
          <a:effectRef idx="0"/>
          <a:fontRef idx="minor"/>
        </p:style>
        <p:txBody>
          <a:bodyPr lIns="36720" rIns="36720" tIns="36720" bIns="36720" anchor="ctr">
            <a:spAutoFit/>
          </a:bodyPr>
          <a:p>
            <a:pPr algn="ctr" defTabSz="457200">
              <a:lnSpc>
                <a:spcPct val="100000"/>
              </a:lnSpc>
            </a:pPr>
            <a:r>
              <a:rPr b="1" lang="en-US" sz="2300" spc="-1" strike="noStrike">
                <a:solidFill>
                  <a:srgbClr val="70cbd3"/>
                </a:solidFill>
                <a:latin typeface="Aptos"/>
              </a:rPr>
              <a:t>₱</a:t>
            </a:r>
            <a:endParaRPr b="0" lang="en-US" sz="2300" spc="-1" strike="noStrike">
              <a:solidFill>
                <a:srgbClr val="ffffff"/>
              </a:solidFill>
              <a:latin typeface="Arial"/>
            </a:endParaRPr>
          </a:p>
        </p:txBody>
      </p:sp>
      <p:sp>
        <p:nvSpPr>
          <p:cNvPr id="94" name="TextBox 12"/>
          <p:cNvSpPr/>
          <p:nvPr/>
        </p:nvSpPr>
        <p:spPr>
          <a:xfrm>
            <a:off x="5010840" y="1691640"/>
            <a:ext cx="2651400" cy="30168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b="1" lang="en-US" sz="1500" spc="-1" strike="noStrike">
                <a:solidFill>
                  <a:srgbClr val="eff7f7"/>
                </a:solidFill>
                <a:latin typeface="Aptos"/>
              </a:rPr>
              <a:t>Access and cost</a:t>
            </a:r>
            <a:endParaRPr b="0" lang="en-US" sz="1500" spc="-1" strike="noStrike">
              <a:solidFill>
                <a:srgbClr val="ffffff"/>
              </a:solidFill>
              <a:latin typeface="Arial"/>
            </a:endParaRPr>
          </a:p>
        </p:txBody>
      </p:sp>
      <p:sp>
        <p:nvSpPr>
          <p:cNvPr id="95" name="TextBox 13"/>
          <p:cNvSpPr/>
          <p:nvPr/>
        </p:nvSpPr>
        <p:spPr>
          <a:xfrm>
            <a:off x="4553640" y="2167200"/>
            <a:ext cx="3062880" cy="57636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b="0" lang="en-US" sz="1100" spc="-1" strike="noStrike">
                <a:solidFill>
                  <a:srgbClr val="a6c2c6"/>
                </a:solidFill>
                <a:latin typeface="Aptos"/>
              </a:rPr>
              <a:t>Professional oceanographic systems can be difficult for small institutions to acquire and maintain.</a:t>
            </a:r>
            <a:endParaRPr b="0" lang="en-US" sz="1100" spc="-1" strike="noStrike">
              <a:solidFill>
                <a:srgbClr val="ffffff"/>
              </a:solidFill>
              <a:latin typeface="Arial"/>
            </a:endParaRPr>
          </a:p>
        </p:txBody>
      </p:sp>
      <p:sp>
        <p:nvSpPr>
          <p:cNvPr id="96" name="Rounded Rectangle 14"/>
          <p:cNvSpPr/>
          <p:nvPr/>
        </p:nvSpPr>
        <p:spPr>
          <a:xfrm>
            <a:off x="8138160" y="1508760"/>
            <a:ext cx="3520080" cy="1874160"/>
          </a:xfrm>
          <a:prstGeom prst="roundRect">
            <a:avLst>
              <a:gd name="adj" fmla="val 12000"/>
            </a:avLst>
          </a:prstGeom>
          <a:solidFill>
            <a:srgbClr val="0c2a34"/>
          </a:solidFill>
          <a:ln>
            <a:solidFill>
              <a:srgbClr val="2a5963"/>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97" name="TextBox 15"/>
          <p:cNvSpPr/>
          <p:nvPr/>
        </p:nvSpPr>
        <p:spPr>
          <a:xfrm>
            <a:off x="8339400" y="1653840"/>
            <a:ext cx="411120" cy="423000"/>
          </a:xfrm>
          <a:prstGeom prst="rect">
            <a:avLst/>
          </a:prstGeom>
          <a:noFill/>
          <a:ln w="0">
            <a:noFill/>
          </a:ln>
        </p:spPr>
        <p:style>
          <a:lnRef idx="0"/>
          <a:fillRef idx="0"/>
          <a:effectRef idx="0"/>
          <a:fontRef idx="minor"/>
        </p:style>
        <p:txBody>
          <a:bodyPr lIns="36720" rIns="36720" tIns="36720" bIns="36720" anchor="ctr">
            <a:spAutoFit/>
          </a:bodyPr>
          <a:p>
            <a:pPr algn="ctr" defTabSz="457200">
              <a:lnSpc>
                <a:spcPct val="100000"/>
              </a:lnSpc>
            </a:pPr>
            <a:r>
              <a:rPr b="1" lang="en-US" sz="2300" spc="-1" strike="noStrike">
                <a:solidFill>
                  <a:srgbClr val="d39d4c"/>
                </a:solidFill>
                <a:latin typeface="Aptos"/>
              </a:rPr>
              <a:t>⚠</a:t>
            </a:r>
            <a:endParaRPr b="0" lang="en-US" sz="2300" spc="-1" strike="noStrike">
              <a:solidFill>
                <a:srgbClr val="ffffff"/>
              </a:solidFill>
              <a:latin typeface="Arial"/>
            </a:endParaRPr>
          </a:p>
        </p:txBody>
      </p:sp>
      <p:sp>
        <p:nvSpPr>
          <p:cNvPr id="98" name="TextBox 16"/>
          <p:cNvSpPr/>
          <p:nvPr/>
        </p:nvSpPr>
        <p:spPr>
          <a:xfrm>
            <a:off x="8823960" y="1691640"/>
            <a:ext cx="2651400" cy="30168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b="1" lang="en-US" sz="1500" spc="-1" strike="noStrike">
                <a:solidFill>
                  <a:srgbClr val="eff7f7"/>
                </a:solidFill>
                <a:latin typeface="Aptos"/>
              </a:rPr>
              <a:t>Operational limits</a:t>
            </a:r>
            <a:endParaRPr b="0" lang="en-US" sz="1500" spc="-1" strike="noStrike">
              <a:solidFill>
                <a:srgbClr val="ffffff"/>
              </a:solidFill>
              <a:latin typeface="Arial"/>
            </a:endParaRPr>
          </a:p>
        </p:txBody>
      </p:sp>
      <p:sp>
        <p:nvSpPr>
          <p:cNvPr id="99" name="TextBox 17"/>
          <p:cNvSpPr/>
          <p:nvPr/>
        </p:nvSpPr>
        <p:spPr>
          <a:xfrm>
            <a:off x="8366760" y="2167200"/>
            <a:ext cx="3062880" cy="57636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b="0" lang="en-US" sz="1100" spc="-1" strike="noStrike">
                <a:solidFill>
                  <a:srgbClr val="a6c2c6"/>
                </a:solidFill>
                <a:latin typeface="Aptos"/>
              </a:rPr>
              <a:t>Connectivity, power, maintenance, and equipment displacement complicate continuous monitoring.</a:t>
            </a:r>
            <a:endParaRPr b="0" lang="en-US" sz="1100" spc="-1" strike="noStrike">
              <a:solidFill>
                <a:srgbClr val="ffffff"/>
              </a:solidFill>
              <a:latin typeface="Arial"/>
            </a:endParaRPr>
          </a:p>
        </p:txBody>
      </p:sp>
      <p:sp>
        <p:nvSpPr>
          <p:cNvPr id="100" name="Rounded Rectangle 18"/>
          <p:cNvSpPr/>
          <p:nvPr/>
        </p:nvSpPr>
        <p:spPr>
          <a:xfrm>
            <a:off x="502920" y="3794760"/>
            <a:ext cx="11155320" cy="1572480"/>
          </a:xfrm>
          <a:prstGeom prst="roundRect">
            <a:avLst>
              <a:gd name="adj" fmla="val 12000"/>
            </a:avLst>
          </a:prstGeom>
          <a:solidFill>
            <a:srgbClr val="0a252f"/>
          </a:solidFill>
          <a:ln>
            <a:solidFill>
              <a:srgbClr val="36646d"/>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01" name="TextBox 19"/>
          <p:cNvSpPr/>
          <p:nvPr/>
        </p:nvSpPr>
        <p:spPr>
          <a:xfrm>
            <a:off x="822960" y="4114800"/>
            <a:ext cx="2011320" cy="24084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b="1" lang="en-US" sz="1100" spc="-1" strike="noStrike">
                <a:solidFill>
                  <a:srgbClr val="58bec2"/>
                </a:solidFill>
                <a:latin typeface="Aptos"/>
              </a:rPr>
              <a:t>THE RESEARCH QUESTION</a:t>
            </a:r>
            <a:endParaRPr b="0" lang="en-US" sz="1100" spc="-1" strike="noStrike">
              <a:solidFill>
                <a:srgbClr val="ffffff"/>
              </a:solidFill>
              <a:latin typeface="Arial"/>
            </a:endParaRPr>
          </a:p>
        </p:txBody>
      </p:sp>
      <p:sp>
        <p:nvSpPr>
          <p:cNvPr id="102" name="TextBox 20"/>
          <p:cNvSpPr/>
          <p:nvPr/>
        </p:nvSpPr>
        <p:spPr>
          <a:xfrm>
            <a:off x="822960" y="4275360"/>
            <a:ext cx="10149480" cy="1123560"/>
          </a:xfrm>
          <a:prstGeom prst="rect">
            <a:avLst/>
          </a:prstGeom>
          <a:noFill/>
          <a:ln w="0">
            <a:noFill/>
          </a:ln>
        </p:spPr>
        <p:style>
          <a:lnRef idx="0"/>
          <a:fillRef idx="0"/>
          <a:effectRef idx="0"/>
          <a:fontRef idx="minor"/>
        </p:style>
        <p:txBody>
          <a:bodyPr lIns="36720" rIns="36720" tIns="36720" bIns="36720" anchor="ctr">
            <a:spAutoFit/>
          </a:bodyPr>
          <a:p>
            <a:pPr algn="ctr" defTabSz="457200">
              <a:lnSpc>
                <a:spcPct val="100000"/>
              </a:lnSpc>
            </a:pPr>
            <a:r>
              <a:rPr b="1" lang="en-US" sz="2300" spc="-1" strike="noStrike">
                <a:solidFill>
                  <a:srgbClr val="eff7f7"/>
                </a:solidFill>
                <a:latin typeface="Aptos"/>
              </a:rPr>
              <a:t>Can a modular, local-first buoy provide useful coastal observations at a defined Palawan pilot site—at a cost and complexity a small institution can manage?</a:t>
            </a:r>
            <a:endParaRPr b="0" lang="en-US" sz="2300" spc="-1" strike="noStrike">
              <a:solidFill>
                <a:srgbClr val="ffffff"/>
              </a:solidFill>
              <a:latin typeface="Arial"/>
            </a:endParaRPr>
          </a:p>
        </p:txBody>
      </p:sp>
      <p:sp>
        <p:nvSpPr>
          <p:cNvPr id="103" name="TextBox 21"/>
          <p:cNvSpPr/>
          <p:nvPr/>
        </p:nvSpPr>
        <p:spPr>
          <a:xfrm>
            <a:off x="502920" y="6537960"/>
            <a:ext cx="6400440" cy="19476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b="1" lang="en-US" sz="800" spc="-1" strike="noStrike">
                <a:solidFill>
                  <a:srgbClr val="a6c2c6"/>
                </a:solidFill>
                <a:latin typeface="Aptos"/>
              </a:rPr>
              <a:t>PROJECT FALCON • FULLBRIGHT COLLEGE</a:t>
            </a:r>
            <a:endParaRPr b="0" lang="en-US" sz="800" spc="-1" strike="noStrike">
              <a:solidFill>
                <a:srgbClr val="ffffff"/>
              </a:solidFill>
              <a:latin typeface="Arial"/>
            </a:endParaRPr>
          </a:p>
        </p:txBody>
      </p:sp>
      <p:sp>
        <p:nvSpPr>
          <p:cNvPr id="104" name="TextBox 22"/>
          <p:cNvSpPr/>
          <p:nvPr/>
        </p:nvSpPr>
        <p:spPr>
          <a:xfrm>
            <a:off x="9144000" y="6537960"/>
            <a:ext cx="2514240" cy="194760"/>
          </a:xfrm>
          <a:prstGeom prst="rect">
            <a:avLst/>
          </a:prstGeom>
          <a:noFill/>
          <a:ln w="0">
            <a:noFill/>
          </a:ln>
        </p:spPr>
        <p:style>
          <a:lnRef idx="0"/>
          <a:fillRef idx="0"/>
          <a:effectRef idx="0"/>
          <a:fontRef idx="minor"/>
        </p:style>
        <p:txBody>
          <a:bodyPr lIns="36720" rIns="36720" tIns="36720" bIns="36720" anchor="t">
            <a:spAutoFit/>
          </a:bodyPr>
          <a:p>
            <a:pPr algn="r" defTabSz="457200">
              <a:lnSpc>
                <a:spcPct val="100000"/>
              </a:lnSpc>
            </a:pPr>
            <a:r>
              <a:rPr b="1" lang="en-US" sz="800" spc="-1" strike="noStrike">
                <a:solidFill>
                  <a:srgbClr val="a6c2c6"/>
                </a:solidFill>
                <a:latin typeface="Aptos"/>
              </a:rPr>
              <a:t>DOST IDEA PRESENTATION</a:t>
            </a:r>
            <a:endParaRPr b="0" lang="en-US" sz="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51922"/>
        </a:solidFill>
      </p:bgPr>
    </p:bg>
    <p:spTree>
      <p:nvGrpSpPr>
        <p:cNvPr id="1" name=""/>
        <p:cNvGrpSpPr/>
        <p:nvPr/>
      </p:nvGrpSpPr>
      <p:grpSpPr>
        <a:xfrm>
          <a:off x="0" y="0"/>
          <a:ext cx="0" cy="0"/>
          <a:chOff x="0" y="0"/>
          <a:chExt cx="0" cy="0"/>
        </a:xfrm>
      </p:grpSpPr>
      <p:sp>
        <p:nvSpPr>
          <p:cNvPr id="105" name="Rectangle 1"/>
          <p:cNvSpPr/>
          <p:nvPr/>
        </p:nvSpPr>
        <p:spPr>
          <a:xfrm>
            <a:off x="0" y="0"/>
            <a:ext cx="12191400" cy="72720"/>
          </a:xfrm>
          <a:prstGeom prst="rect">
            <a:avLst/>
          </a:prstGeom>
          <a:solidFill>
            <a:srgbClr val="58bec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457200">
              <a:lnSpc>
                <a:spcPct val="100000"/>
              </a:lnSpc>
            </a:pPr>
            <a:endParaRPr b="0" lang="en-US" sz="1800" spc="-1" strike="noStrike">
              <a:solidFill>
                <a:schemeClr val="lt1"/>
              </a:solidFill>
              <a:latin typeface="Calibri"/>
            </a:endParaRPr>
          </a:p>
        </p:txBody>
      </p:sp>
      <p:sp>
        <p:nvSpPr>
          <p:cNvPr id="106" name="TextBox 2"/>
          <p:cNvSpPr/>
          <p:nvPr/>
        </p:nvSpPr>
        <p:spPr>
          <a:xfrm>
            <a:off x="502920" y="292680"/>
            <a:ext cx="8229240" cy="22572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b="1" lang="en-US" sz="1000" spc="-1" strike="noStrike">
                <a:solidFill>
                  <a:srgbClr val="58bec2"/>
                </a:solidFill>
                <a:latin typeface="Aptos"/>
              </a:rPr>
              <a:t>PROPOSED SOLUTION</a:t>
            </a:r>
            <a:endParaRPr b="0" lang="en-US" sz="1000" spc="-1" strike="noStrike">
              <a:solidFill>
                <a:srgbClr val="ffffff"/>
              </a:solidFill>
              <a:latin typeface="Arial"/>
            </a:endParaRPr>
          </a:p>
        </p:txBody>
      </p:sp>
      <p:sp>
        <p:nvSpPr>
          <p:cNvPr id="107" name="TextBox 3"/>
          <p:cNvSpPr/>
          <p:nvPr/>
        </p:nvSpPr>
        <p:spPr>
          <a:xfrm>
            <a:off x="502920" y="603360"/>
            <a:ext cx="10698120" cy="48492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b="1" lang="en-US" sz="2700" spc="-1" strike="noStrike">
                <a:solidFill>
                  <a:srgbClr val="eff7f7"/>
                </a:solidFill>
                <a:latin typeface="Aptos"/>
              </a:rPr>
              <a:t>A local-first smart coastal observation buoy</a:t>
            </a:r>
            <a:endParaRPr b="0" lang="en-US" sz="2700" spc="-1" strike="noStrike">
              <a:solidFill>
                <a:srgbClr val="ffffff"/>
              </a:solidFill>
              <a:latin typeface="Arial"/>
            </a:endParaRPr>
          </a:p>
        </p:txBody>
      </p:sp>
      <p:sp>
        <p:nvSpPr>
          <p:cNvPr id="108" name="TextBox 4"/>
          <p:cNvSpPr/>
          <p:nvPr/>
        </p:nvSpPr>
        <p:spPr>
          <a:xfrm>
            <a:off x="11201400" y="347400"/>
            <a:ext cx="456840" cy="240840"/>
          </a:xfrm>
          <a:prstGeom prst="rect">
            <a:avLst/>
          </a:prstGeom>
          <a:noFill/>
          <a:ln w="0">
            <a:noFill/>
          </a:ln>
        </p:spPr>
        <p:style>
          <a:lnRef idx="0"/>
          <a:fillRef idx="0"/>
          <a:effectRef idx="0"/>
          <a:fontRef idx="minor"/>
        </p:style>
        <p:txBody>
          <a:bodyPr lIns="36720" rIns="36720" tIns="36720" bIns="36720" anchor="t">
            <a:spAutoFit/>
          </a:bodyPr>
          <a:p>
            <a:pPr algn="r" defTabSz="457200">
              <a:lnSpc>
                <a:spcPct val="100000"/>
              </a:lnSpc>
            </a:pPr>
            <a:r>
              <a:rPr b="1" lang="en-US" sz="1100" spc="-1" strike="noStrike">
                <a:solidFill>
                  <a:srgbClr val="a6c2c6"/>
                </a:solidFill>
                <a:latin typeface="Aptos"/>
              </a:rPr>
              <a:t>03</a:t>
            </a:r>
            <a:endParaRPr b="0" lang="en-US" sz="1100" spc="-1" strike="noStrike">
              <a:solidFill>
                <a:srgbClr val="ffffff"/>
              </a:solidFill>
              <a:latin typeface="Arial"/>
            </a:endParaRPr>
          </a:p>
        </p:txBody>
      </p:sp>
      <p:sp>
        <p:nvSpPr>
          <p:cNvPr id="109" name="Rectangle 5"/>
          <p:cNvSpPr/>
          <p:nvPr/>
        </p:nvSpPr>
        <p:spPr>
          <a:xfrm>
            <a:off x="502920" y="1188720"/>
            <a:ext cx="11155320" cy="13320"/>
          </a:xfrm>
          <a:prstGeom prst="rect">
            <a:avLst/>
          </a:prstGeom>
          <a:solidFill>
            <a:srgbClr val="29515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1320" bIns="-31320" anchor="ctr">
            <a:noAutofit/>
          </a:bodyPr>
          <a:p>
            <a:pPr algn="ctr" defTabSz="457200">
              <a:lnSpc>
                <a:spcPct val="100000"/>
              </a:lnSpc>
            </a:pPr>
            <a:endParaRPr b="0" lang="en-US" sz="1800" spc="-1" strike="noStrike">
              <a:solidFill>
                <a:schemeClr val="lt1"/>
              </a:solidFill>
              <a:latin typeface="Calibri"/>
            </a:endParaRPr>
          </a:p>
        </p:txBody>
      </p:sp>
      <p:pic>
        <p:nvPicPr>
          <p:cNvPr id="110" name="Picture 6" descr="falcon-concept-visualization.png"/>
          <p:cNvPicPr/>
          <p:nvPr/>
        </p:nvPicPr>
        <p:blipFill>
          <a:blip r:embed="rId1"/>
          <a:srcRect l="13735" t="0" r="13735" b="0"/>
          <a:stretch/>
        </p:blipFill>
        <p:spPr>
          <a:xfrm>
            <a:off x="502920" y="1417320"/>
            <a:ext cx="5714640" cy="4434480"/>
          </a:xfrm>
          <a:prstGeom prst="rect">
            <a:avLst/>
          </a:prstGeom>
          <a:ln w="0">
            <a:noFill/>
          </a:ln>
        </p:spPr>
      </p:pic>
      <p:sp>
        <p:nvSpPr>
          <p:cNvPr id="111" name="TextBox 7"/>
          <p:cNvSpPr/>
          <p:nvPr/>
        </p:nvSpPr>
        <p:spPr>
          <a:xfrm>
            <a:off x="658440" y="5596200"/>
            <a:ext cx="2194200" cy="19476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b="1" lang="en-US" sz="800" spc="-1" strike="noStrike">
                <a:solidFill>
                  <a:srgbClr val="eff7f7"/>
                </a:solidFill>
                <a:latin typeface="Aptos"/>
              </a:rPr>
              <a:t>CONCEPT VISUALIZATION</a:t>
            </a:r>
            <a:endParaRPr b="0" lang="en-US" sz="800" spc="-1" strike="noStrike">
              <a:solidFill>
                <a:srgbClr val="ffffff"/>
              </a:solidFill>
              <a:latin typeface="Arial"/>
            </a:endParaRPr>
          </a:p>
        </p:txBody>
      </p:sp>
      <p:sp>
        <p:nvSpPr>
          <p:cNvPr id="112" name="TextBox 8"/>
          <p:cNvSpPr/>
          <p:nvPr/>
        </p:nvSpPr>
        <p:spPr>
          <a:xfrm>
            <a:off x="2880360" y="5596200"/>
            <a:ext cx="3154320" cy="194760"/>
          </a:xfrm>
          <a:prstGeom prst="rect">
            <a:avLst/>
          </a:prstGeom>
          <a:noFill/>
          <a:ln w="0">
            <a:noFill/>
          </a:ln>
        </p:spPr>
        <p:style>
          <a:lnRef idx="0"/>
          <a:fillRef idx="0"/>
          <a:effectRef idx="0"/>
          <a:fontRef idx="minor"/>
        </p:style>
        <p:txBody>
          <a:bodyPr lIns="36720" rIns="36720" tIns="36720" bIns="36720" anchor="t">
            <a:spAutoFit/>
          </a:bodyPr>
          <a:p>
            <a:pPr algn="r" defTabSz="457200">
              <a:lnSpc>
                <a:spcPct val="100000"/>
              </a:lnSpc>
            </a:pPr>
            <a:r>
              <a:rPr b="1" lang="en-US" sz="800" spc="-1" strike="noStrike">
                <a:solidFill>
                  <a:srgbClr val="a6c2c6"/>
                </a:solidFill>
                <a:latin typeface="Aptos"/>
              </a:rPr>
              <a:t>Actual interactive model available: FALCON-01.glb</a:t>
            </a:r>
            <a:endParaRPr b="0" lang="en-US" sz="800" spc="-1" strike="noStrike">
              <a:solidFill>
                <a:srgbClr val="ffffff"/>
              </a:solidFill>
              <a:latin typeface="Arial"/>
            </a:endParaRPr>
          </a:p>
        </p:txBody>
      </p:sp>
      <p:sp>
        <p:nvSpPr>
          <p:cNvPr id="113" name="Rounded Rectangle 9"/>
          <p:cNvSpPr/>
          <p:nvPr/>
        </p:nvSpPr>
        <p:spPr>
          <a:xfrm>
            <a:off x="3246120" y="4316040"/>
            <a:ext cx="2486880" cy="383760"/>
          </a:xfrm>
          <a:prstGeom prst="roundRect">
            <a:avLst>
              <a:gd name="adj" fmla="val 12000"/>
            </a:avLst>
          </a:prstGeom>
          <a:solidFill>
            <a:srgbClr val="0a2a33"/>
          </a:solidFill>
          <a:ln>
            <a:solidFill>
              <a:srgbClr val="70cbd3"/>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14" name="TextBox 10"/>
          <p:cNvSpPr/>
          <p:nvPr/>
        </p:nvSpPr>
        <p:spPr>
          <a:xfrm>
            <a:off x="3401640" y="4434840"/>
            <a:ext cx="2175840" cy="210600"/>
          </a:xfrm>
          <a:prstGeom prst="rect">
            <a:avLst/>
          </a:prstGeom>
          <a:noFill/>
          <a:ln w="0">
            <a:noFill/>
          </a:ln>
        </p:spPr>
        <p:style>
          <a:lnRef idx="0"/>
          <a:fillRef idx="0"/>
          <a:effectRef idx="0"/>
          <a:fontRef idx="minor"/>
        </p:style>
        <p:txBody>
          <a:bodyPr lIns="36720" rIns="36720" tIns="36720" bIns="36720" anchor="t">
            <a:spAutoFit/>
          </a:bodyPr>
          <a:p>
            <a:pPr algn="ctr" defTabSz="457200">
              <a:lnSpc>
                <a:spcPct val="100000"/>
              </a:lnSpc>
            </a:pPr>
            <a:r>
              <a:rPr b="1" lang="en-US" sz="900" spc="-1" strike="noStrike">
                <a:solidFill>
                  <a:srgbClr val="eff7f7"/>
                </a:solidFill>
                <a:latin typeface="Aptos"/>
              </a:rPr>
              <a:t>UPPER ELECTRONICS POD</a:t>
            </a:r>
            <a:endParaRPr b="0" lang="en-US" sz="900" spc="-1" strike="noStrike">
              <a:solidFill>
                <a:srgbClr val="ffffff"/>
              </a:solidFill>
              <a:latin typeface="Arial"/>
            </a:endParaRPr>
          </a:p>
        </p:txBody>
      </p:sp>
      <p:sp>
        <p:nvSpPr>
          <p:cNvPr id="115" name="Rounded Rectangle 11"/>
          <p:cNvSpPr/>
          <p:nvPr/>
        </p:nvSpPr>
        <p:spPr>
          <a:xfrm>
            <a:off x="6537960" y="1417320"/>
            <a:ext cx="5120280" cy="959760"/>
          </a:xfrm>
          <a:prstGeom prst="roundRect">
            <a:avLst>
              <a:gd name="adj" fmla="val 12000"/>
            </a:avLst>
          </a:prstGeom>
          <a:solidFill>
            <a:srgbClr val="0c2a34"/>
          </a:solidFill>
          <a:ln>
            <a:solidFill>
              <a:srgbClr val="2a5963"/>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16" name="TextBox 12"/>
          <p:cNvSpPr/>
          <p:nvPr/>
        </p:nvSpPr>
        <p:spPr>
          <a:xfrm>
            <a:off x="6739200" y="1562400"/>
            <a:ext cx="411120" cy="423000"/>
          </a:xfrm>
          <a:prstGeom prst="rect">
            <a:avLst/>
          </a:prstGeom>
          <a:noFill/>
          <a:ln w="0">
            <a:noFill/>
          </a:ln>
        </p:spPr>
        <p:style>
          <a:lnRef idx="0"/>
          <a:fillRef idx="0"/>
          <a:effectRef idx="0"/>
          <a:fontRef idx="minor"/>
        </p:style>
        <p:txBody>
          <a:bodyPr lIns="36720" rIns="36720" tIns="36720" bIns="36720" anchor="ctr">
            <a:spAutoFit/>
          </a:bodyPr>
          <a:p>
            <a:pPr algn="ctr" defTabSz="457200">
              <a:lnSpc>
                <a:spcPct val="100000"/>
              </a:lnSpc>
            </a:pPr>
            <a:r>
              <a:rPr b="1" lang="en-US" sz="2300" spc="-1" strike="noStrike">
                <a:solidFill>
                  <a:srgbClr val="58bec2"/>
                </a:solidFill>
                <a:latin typeface="Aptos"/>
              </a:rPr>
              <a:t>◉</a:t>
            </a:r>
            <a:endParaRPr b="0" lang="en-US" sz="2300" spc="-1" strike="noStrike">
              <a:solidFill>
                <a:srgbClr val="ffffff"/>
              </a:solidFill>
              <a:latin typeface="Arial"/>
            </a:endParaRPr>
          </a:p>
        </p:txBody>
      </p:sp>
      <p:sp>
        <p:nvSpPr>
          <p:cNvPr id="117" name="TextBox 13"/>
          <p:cNvSpPr/>
          <p:nvPr/>
        </p:nvSpPr>
        <p:spPr>
          <a:xfrm>
            <a:off x="7223760" y="1600200"/>
            <a:ext cx="4251600" cy="30168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b="1" lang="en-US" sz="1500" spc="-1" strike="noStrike">
                <a:solidFill>
                  <a:srgbClr val="eff7f7"/>
                </a:solidFill>
                <a:latin typeface="Aptos"/>
              </a:rPr>
              <a:t>Measure</a:t>
            </a:r>
            <a:endParaRPr b="0" lang="en-US" sz="1500" spc="-1" strike="noStrike">
              <a:solidFill>
                <a:srgbClr val="ffffff"/>
              </a:solidFill>
              <a:latin typeface="Arial"/>
            </a:endParaRPr>
          </a:p>
        </p:txBody>
      </p:sp>
      <p:sp>
        <p:nvSpPr>
          <p:cNvPr id="118" name="TextBox 14"/>
          <p:cNvSpPr/>
          <p:nvPr/>
        </p:nvSpPr>
        <p:spPr>
          <a:xfrm>
            <a:off x="6766560" y="2075760"/>
            <a:ext cx="4663080" cy="24084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b="0" lang="en-US" sz="1100" spc="-1" strike="noStrike">
                <a:solidFill>
                  <a:srgbClr val="a6c2c6"/>
                </a:solidFill>
                <a:latin typeface="Aptos"/>
              </a:rPr>
              <a:t>Motion, water pressure, wind, GPS, temperature, battery and solar.</a:t>
            </a:r>
            <a:endParaRPr b="0" lang="en-US" sz="1100" spc="-1" strike="noStrike">
              <a:solidFill>
                <a:srgbClr val="ffffff"/>
              </a:solidFill>
              <a:latin typeface="Arial"/>
            </a:endParaRPr>
          </a:p>
        </p:txBody>
      </p:sp>
      <p:sp>
        <p:nvSpPr>
          <p:cNvPr id="119" name="Rounded Rectangle 15"/>
          <p:cNvSpPr/>
          <p:nvPr/>
        </p:nvSpPr>
        <p:spPr>
          <a:xfrm>
            <a:off x="6537960" y="2541960"/>
            <a:ext cx="5120280" cy="1115280"/>
          </a:xfrm>
          <a:prstGeom prst="roundRect">
            <a:avLst>
              <a:gd name="adj" fmla="val 12000"/>
            </a:avLst>
          </a:prstGeom>
          <a:solidFill>
            <a:srgbClr val="0c2a34"/>
          </a:solidFill>
          <a:ln>
            <a:solidFill>
              <a:srgbClr val="2a5963"/>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20" name="TextBox 16"/>
          <p:cNvSpPr/>
          <p:nvPr/>
        </p:nvSpPr>
        <p:spPr>
          <a:xfrm>
            <a:off x="6739200" y="2687040"/>
            <a:ext cx="411120" cy="423000"/>
          </a:xfrm>
          <a:prstGeom prst="rect">
            <a:avLst/>
          </a:prstGeom>
          <a:noFill/>
          <a:ln w="0">
            <a:noFill/>
          </a:ln>
        </p:spPr>
        <p:style>
          <a:lnRef idx="0"/>
          <a:fillRef idx="0"/>
          <a:effectRef idx="0"/>
          <a:fontRef idx="minor"/>
        </p:style>
        <p:txBody>
          <a:bodyPr lIns="36720" rIns="36720" tIns="36720" bIns="36720" anchor="ctr">
            <a:spAutoFit/>
          </a:bodyPr>
          <a:p>
            <a:pPr algn="ctr" defTabSz="457200">
              <a:lnSpc>
                <a:spcPct val="100000"/>
              </a:lnSpc>
            </a:pPr>
            <a:r>
              <a:rPr b="1" lang="en-US" sz="2300" spc="-1" strike="noStrike">
                <a:solidFill>
                  <a:srgbClr val="70cbd3"/>
                </a:solidFill>
                <a:latin typeface="Aptos"/>
              </a:rPr>
              <a:t>▣</a:t>
            </a:r>
            <a:endParaRPr b="0" lang="en-US" sz="2300" spc="-1" strike="noStrike">
              <a:solidFill>
                <a:srgbClr val="ffffff"/>
              </a:solidFill>
              <a:latin typeface="Arial"/>
            </a:endParaRPr>
          </a:p>
        </p:txBody>
      </p:sp>
      <p:sp>
        <p:nvSpPr>
          <p:cNvPr id="121" name="TextBox 17"/>
          <p:cNvSpPr/>
          <p:nvPr/>
        </p:nvSpPr>
        <p:spPr>
          <a:xfrm>
            <a:off x="7223760" y="2724840"/>
            <a:ext cx="4251600" cy="30168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b="1" lang="en-US" sz="1500" spc="-1" strike="noStrike">
                <a:solidFill>
                  <a:srgbClr val="eff7f7"/>
                </a:solidFill>
                <a:latin typeface="Aptos"/>
              </a:rPr>
              <a:t>Process locally</a:t>
            </a:r>
            <a:endParaRPr b="0" lang="en-US" sz="1500" spc="-1" strike="noStrike">
              <a:solidFill>
                <a:srgbClr val="ffffff"/>
              </a:solidFill>
              <a:latin typeface="Arial"/>
            </a:endParaRPr>
          </a:p>
        </p:txBody>
      </p:sp>
      <p:sp>
        <p:nvSpPr>
          <p:cNvPr id="122" name="TextBox 18"/>
          <p:cNvSpPr/>
          <p:nvPr/>
        </p:nvSpPr>
        <p:spPr>
          <a:xfrm>
            <a:off x="6766560" y="3200400"/>
            <a:ext cx="4663080" cy="40860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b="0" lang="en-US" sz="1100" spc="-1" strike="noStrike">
                <a:solidFill>
                  <a:srgbClr val="a6c2c6"/>
                </a:solidFill>
                <a:latin typeface="Aptos"/>
              </a:rPr>
              <a:t>ESP32 reads sensors; Orange Pi stores, processes, serves the API, and hosts the dashboard.</a:t>
            </a:r>
            <a:endParaRPr b="0" lang="en-US" sz="1100" spc="-1" strike="noStrike">
              <a:solidFill>
                <a:srgbClr val="ffffff"/>
              </a:solidFill>
              <a:latin typeface="Arial"/>
            </a:endParaRPr>
          </a:p>
        </p:txBody>
      </p:sp>
      <p:sp>
        <p:nvSpPr>
          <p:cNvPr id="123" name="Rounded Rectangle 19"/>
          <p:cNvSpPr/>
          <p:nvPr/>
        </p:nvSpPr>
        <p:spPr>
          <a:xfrm>
            <a:off x="6537960" y="3822120"/>
            <a:ext cx="5120280" cy="1115280"/>
          </a:xfrm>
          <a:prstGeom prst="roundRect">
            <a:avLst>
              <a:gd name="adj" fmla="val 12000"/>
            </a:avLst>
          </a:prstGeom>
          <a:solidFill>
            <a:srgbClr val="0c2a34"/>
          </a:solidFill>
          <a:ln>
            <a:solidFill>
              <a:srgbClr val="2a5963"/>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24" name="TextBox 20"/>
          <p:cNvSpPr/>
          <p:nvPr/>
        </p:nvSpPr>
        <p:spPr>
          <a:xfrm>
            <a:off x="6739200" y="3967200"/>
            <a:ext cx="411120" cy="423000"/>
          </a:xfrm>
          <a:prstGeom prst="rect">
            <a:avLst/>
          </a:prstGeom>
          <a:noFill/>
          <a:ln w="0">
            <a:noFill/>
          </a:ln>
        </p:spPr>
        <p:style>
          <a:lnRef idx="0"/>
          <a:fillRef idx="0"/>
          <a:effectRef idx="0"/>
          <a:fontRef idx="minor"/>
        </p:style>
        <p:txBody>
          <a:bodyPr lIns="36720" rIns="36720" tIns="36720" bIns="36720" anchor="ctr">
            <a:spAutoFit/>
          </a:bodyPr>
          <a:p>
            <a:pPr algn="ctr" defTabSz="457200">
              <a:lnSpc>
                <a:spcPct val="100000"/>
              </a:lnSpc>
            </a:pPr>
            <a:r>
              <a:rPr b="1" lang="en-US" sz="2300" spc="-1" strike="noStrike">
                <a:solidFill>
                  <a:srgbClr val="66be91"/>
                </a:solidFill>
                <a:latin typeface="Aptos"/>
              </a:rPr>
              <a:t>⌁</a:t>
            </a:r>
            <a:endParaRPr b="0" lang="en-US" sz="2300" spc="-1" strike="noStrike">
              <a:solidFill>
                <a:srgbClr val="ffffff"/>
              </a:solidFill>
              <a:latin typeface="Arial"/>
            </a:endParaRPr>
          </a:p>
        </p:txBody>
      </p:sp>
      <p:sp>
        <p:nvSpPr>
          <p:cNvPr id="125" name="TextBox 21"/>
          <p:cNvSpPr/>
          <p:nvPr/>
        </p:nvSpPr>
        <p:spPr>
          <a:xfrm>
            <a:off x="7223760" y="4005000"/>
            <a:ext cx="4251600" cy="30168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b="1" lang="en-US" sz="1500" spc="-1" strike="noStrike">
                <a:solidFill>
                  <a:srgbClr val="eff7f7"/>
                </a:solidFill>
                <a:latin typeface="Aptos"/>
              </a:rPr>
              <a:t>Display and alert</a:t>
            </a:r>
            <a:endParaRPr b="0" lang="en-US" sz="1500" spc="-1" strike="noStrike">
              <a:solidFill>
                <a:srgbClr val="ffffff"/>
              </a:solidFill>
              <a:latin typeface="Arial"/>
            </a:endParaRPr>
          </a:p>
        </p:txBody>
      </p:sp>
      <p:sp>
        <p:nvSpPr>
          <p:cNvPr id="126" name="TextBox 22"/>
          <p:cNvSpPr/>
          <p:nvPr/>
        </p:nvSpPr>
        <p:spPr>
          <a:xfrm>
            <a:off x="6766560" y="4480560"/>
            <a:ext cx="4663080" cy="40860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b="0" lang="en-US" sz="1100" spc="-1" strike="noStrike">
                <a:solidFill>
                  <a:srgbClr val="a6c2c6"/>
                </a:solidFill>
                <a:latin typeface="Aptos"/>
              </a:rPr>
              <a:t>Responsive dashboard presents live values, history, system health, and abnormal displacement alerts.</a:t>
            </a:r>
            <a:endParaRPr b="0" lang="en-US" sz="1100" spc="-1" strike="noStrike">
              <a:solidFill>
                <a:srgbClr val="ffffff"/>
              </a:solidFill>
              <a:latin typeface="Arial"/>
            </a:endParaRPr>
          </a:p>
        </p:txBody>
      </p:sp>
      <p:sp>
        <p:nvSpPr>
          <p:cNvPr id="127" name="Rounded Rectangle 23"/>
          <p:cNvSpPr/>
          <p:nvPr/>
        </p:nvSpPr>
        <p:spPr>
          <a:xfrm>
            <a:off x="6537960" y="5102280"/>
            <a:ext cx="5120280" cy="959760"/>
          </a:xfrm>
          <a:prstGeom prst="roundRect">
            <a:avLst>
              <a:gd name="adj" fmla="val 12000"/>
            </a:avLst>
          </a:prstGeom>
          <a:solidFill>
            <a:srgbClr val="0c2a34"/>
          </a:solidFill>
          <a:ln>
            <a:solidFill>
              <a:srgbClr val="2a5963"/>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28" name="TextBox 24"/>
          <p:cNvSpPr/>
          <p:nvPr/>
        </p:nvSpPr>
        <p:spPr>
          <a:xfrm>
            <a:off x="6739200" y="5247360"/>
            <a:ext cx="411120" cy="423000"/>
          </a:xfrm>
          <a:prstGeom prst="rect">
            <a:avLst/>
          </a:prstGeom>
          <a:noFill/>
          <a:ln w="0">
            <a:noFill/>
          </a:ln>
        </p:spPr>
        <p:style>
          <a:lnRef idx="0"/>
          <a:fillRef idx="0"/>
          <a:effectRef idx="0"/>
          <a:fontRef idx="minor"/>
        </p:style>
        <p:txBody>
          <a:bodyPr lIns="36720" rIns="36720" tIns="36720" bIns="36720" anchor="ctr">
            <a:spAutoFit/>
          </a:bodyPr>
          <a:p>
            <a:pPr algn="ctr" defTabSz="457200">
              <a:lnSpc>
                <a:spcPct val="100000"/>
              </a:lnSpc>
            </a:pPr>
            <a:r>
              <a:rPr b="1" lang="en-US" sz="2300" spc="-1" strike="noStrike">
                <a:solidFill>
                  <a:srgbClr val="d39d4c"/>
                </a:solidFill>
                <a:latin typeface="Aptos"/>
              </a:rPr>
              <a:t>↗</a:t>
            </a:r>
            <a:endParaRPr b="0" lang="en-US" sz="2300" spc="-1" strike="noStrike">
              <a:solidFill>
                <a:srgbClr val="ffffff"/>
              </a:solidFill>
              <a:latin typeface="Arial"/>
            </a:endParaRPr>
          </a:p>
        </p:txBody>
      </p:sp>
      <p:sp>
        <p:nvSpPr>
          <p:cNvPr id="129" name="TextBox 25"/>
          <p:cNvSpPr/>
          <p:nvPr/>
        </p:nvSpPr>
        <p:spPr>
          <a:xfrm>
            <a:off x="7223760" y="5285160"/>
            <a:ext cx="4251600" cy="30168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b="1" lang="en-US" sz="1500" spc="-1" strike="noStrike">
                <a:solidFill>
                  <a:srgbClr val="eff7f7"/>
                </a:solidFill>
                <a:latin typeface="Aptos"/>
              </a:rPr>
              <a:t>Research prediction</a:t>
            </a:r>
            <a:endParaRPr b="0" lang="en-US" sz="1500" spc="-1" strike="noStrike">
              <a:solidFill>
                <a:srgbClr val="ffffff"/>
              </a:solidFill>
              <a:latin typeface="Arial"/>
            </a:endParaRPr>
          </a:p>
        </p:txBody>
      </p:sp>
      <p:sp>
        <p:nvSpPr>
          <p:cNvPr id="130" name="TextBox 26"/>
          <p:cNvSpPr/>
          <p:nvPr/>
        </p:nvSpPr>
        <p:spPr>
          <a:xfrm>
            <a:off x="6766560" y="5760720"/>
            <a:ext cx="4663080" cy="40860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b="0" lang="en-US" sz="1100" spc="-1" strike="noStrike">
                <a:solidFill>
                  <a:srgbClr val="a6c2c6"/>
                </a:solidFill>
                <a:latin typeface="Aptos"/>
              </a:rPr>
              <a:t>Field data will be collected before the model is trained, compared with a baseline, and validated.</a:t>
            </a:r>
            <a:endParaRPr b="0" lang="en-US" sz="1100" spc="-1" strike="noStrike">
              <a:solidFill>
                <a:srgbClr val="ffffff"/>
              </a:solidFill>
              <a:latin typeface="Arial"/>
            </a:endParaRPr>
          </a:p>
        </p:txBody>
      </p:sp>
      <p:sp>
        <p:nvSpPr>
          <p:cNvPr id="131" name="TextBox 27"/>
          <p:cNvSpPr/>
          <p:nvPr/>
        </p:nvSpPr>
        <p:spPr>
          <a:xfrm>
            <a:off x="502920" y="6537960"/>
            <a:ext cx="6400440" cy="19476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b="1" lang="en-US" sz="800" spc="-1" strike="noStrike">
                <a:solidFill>
                  <a:srgbClr val="a6c2c6"/>
                </a:solidFill>
                <a:latin typeface="Aptos"/>
              </a:rPr>
              <a:t>PROJECT FALCON • FULLBRIGHT COLLEGE</a:t>
            </a:r>
            <a:endParaRPr b="0" lang="en-US" sz="800" spc="-1" strike="noStrike">
              <a:solidFill>
                <a:srgbClr val="ffffff"/>
              </a:solidFill>
              <a:latin typeface="Arial"/>
            </a:endParaRPr>
          </a:p>
        </p:txBody>
      </p:sp>
      <p:sp>
        <p:nvSpPr>
          <p:cNvPr id="132" name="TextBox 28"/>
          <p:cNvSpPr/>
          <p:nvPr/>
        </p:nvSpPr>
        <p:spPr>
          <a:xfrm>
            <a:off x="9144000" y="6537960"/>
            <a:ext cx="2514240" cy="194760"/>
          </a:xfrm>
          <a:prstGeom prst="rect">
            <a:avLst/>
          </a:prstGeom>
          <a:noFill/>
          <a:ln w="0">
            <a:noFill/>
          </a:ln>
        </p:spPr>
        <p:style>
          <a:lnRef idx="0"/>
          <a:fillRef idx="0"/>
          <a:effectRef idx="0"/>
          <a:fontRef idx="minor"/>
        </p:style>
        <p:txBody>
          <a:bodyPr lIns="36720" rIns="36720" tIns="36720" bIns="36720" anchor="t">
            <a:spAutoFit/>
          </a:bodyPr>
          <a:p>
            <a:pPr algn="r" defTabSz="457200">
              <a:lnSpc>
                <a:spcPct val="100000"/>
              </a:lnSpc>
            </a:pPr>
            <a:r>
              <a:rPr b="1" lang="en-US" sz="800" spc="-1" strike="noStrike">
                <a:solidFill>
                  <a:srgbClr val="a6c2c6"/>
                </a:solidFill>
                <a:latin typeface="Aptos"/>
              </a:rPr>
              <a:t>DOST IDEA PRESENTATION</a:t>
            </a:r>
            <a:endParaRPr b="0" lang="en-US" sz="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51922"/>
        </a:solidFill>
      </p:bgPr>
    </p:bg>
    <p:spTree>
      <p:nvGrpSpPr>
        <p:cNvPr id="1" name=""/>
        <p:cNvGrpSpPr/>
        <p:nvPr/>
      </p:nvGrpSpPr>
      <p:grpSpPr>
        <a:xfrm>
          <a:off x="0" y="0"/>
          <a:ext cx="0" cy="0"/>
          <a:chOff x="0" y="0"/>
          <a:chExt cx="0" cy="0"/>
        </a:xfrm>
      </p:grpSpPr>
      <p:sp>
        <p:nvSpPr>
          <p:cNvPr id="133" name="Rectangle 1"/>
          <p:cNvSpPr/>
          <p:nvPr/>
        </p:nvSpPr>
        <p:spPr>
          <a:xfrm>
            <a:off x="0" y="0"/>
            <a:ext cx="12191400" cy="72720"/>
          </a:xfrm>
          <a:prstGeom prst="rect">
            <a:avLst/>
          </a:prstGeom>
          <a:solidFill>
            <a:srgbClr val="58bec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457200">
              <a:lnSpc>
                <a:spcPct val="100000"/>
              </a:lnSpc>
            </a:pPr>
            <a:endParaRPr b="0" lang="en-US" sz="1800" spc="-1" strike="noStrike">
              <a:solidFill>
                <a:schemeClr val="lt1"/>
              </a:solidFill>
              <a:latin typeface="Calibri"/>
            </a:endParaRPr>
          </a:p>
        </p:txBody>
      </p:sp>
      <p:pic>
        <p:nvPicPr>
          <p:cNvPr id="134" name="Picture 2" descr="falcon-upper-sensor-levels.png"/>
          <p:cNvPicPr/>
          <p:nvPr/>
        </p:nvPicPr>
        <p:blipFill>
          <a:blip r:embed="rId1"/>
          <a:stretch/>
        </p:blipFill>
        <p:spPr>
          <a:xfrm>
            <a:off x="0" y="0"/>
            <a:ext cx="12191400" cy="6857640"/>
          </a:xfrm>
          <a:prstGeom prst="rect">
            <a:avLst/>
          </a:prstGeom>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51922"/>
        </a:solidFill>
      </p:bgPr>
    </p:bg>
    <p:spTree>
      <p:nvGrpSpPr>
        <p:cNvPr id="1" name=""/>
        <p:cNvGrpSpPr/>
        <p:nvPr/>
      </p:nvGrpSpPr>
      <p:grpSpPr>
        <a:xfrm>
          <a:off x="0" y="0"/>
          <a:ext cx="0" cy="0"/>
          <a:chOff x="0" y="0"/>
          <a:chExt cx="0" cy="0"/>
        </a:xfrm>
      </p:grpSpPr>
      <p:sp>
        <p:nvSpPr>
          <p:cNvPr id="135" name="Rectangle 1"/>
          <p:cNvSpPr/>
          <p:nvPr/>
        </p:nvSpPr>
        <p:spPr>
          <a:xfrm>
            <a:off x="0" y="0"/>
            <a:ext cx="12191400" cy="72720"/>
          </a:xfrm>
          <a:prstGeom prst="rect">
            <a:avLst/>
          </a:prstGeom>
          <a:solidFill>
            <a:srgbClr val="58bec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457200">
              <a:lnSpc>
                <a:spcPct val="100000"/>
              </a:lnSpc>
            </a:pPr>
            <a:endParaRPr b="0" lang="en-US" sz="1800" spc="-1" strike="noStrike">
              <a:solidFill>
                <a:schemeClr val="lt1"/>
              </a:solidFill>
              <a:latin typeface="Calibri"/>
            </a:endParaRPr>
          </a:p>
        </p:txBody>
      </p:sp>
      <p:sp>
        <p:nvSpPr>
          <p:cNvPr id="136" name="TextBox 2"/>
          <p:cNvSpPr/>
          <p:nvPr/>
        </p:nvSpPr>
        <p:spPr>
          <a:xfrm>
            <a:off x="502920" y="292680"/>
            <a:ext cx="8229240" cy="22572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b="1" lang="en-US" sz="1000" spc="-1" strike="noStrike">
                <a:solidFill>
                  <a:srgbClr val="58bec2"/>
                </a:solidFill>
                <a:latin typeface="Aptos"/>
              </a:rPr>
              <a:t>HARDWARE CONCEPT</a:t>
            </a:r>
            <a:endParaRPr b="0" lang="en-US" sz="1000" spc="-1" strike="noStrike">
              <a:solidFill>
                <a:srgbClr val="ffffff"/>
              </a:solidFill>
              <a:latin typeface="Arial"/>
            </a:endParaRPr>
          </a:p>
        </p:txBody>
      </p:sp>
      <p:sp>
        <p:nvSpPr>
          <p:cNvPr id="137" name="TextBox 3"/>
          <p:cNvSpPr/>
          <p:nvPr/>
        </p:nvSpPr>
        <p:spPr>
          <a:xfrm>
            <a:off x="502920" y="603360"/>
            <a:ext cx="10698120" cy="48492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b="1" lang="en-US" sz="2700" spc="-1" strike="noStrike">
                <a:solidFill>
                  <a:srgbClr val="eff7f7"/>
                </a:solidFill>
                <a:latin typeface="Aptos"/>
              </a:rPr>
              <a:t>Selected sensors, controllers, and protected power flow</a:t>
            </a:r>
            <a:endParaRPr b="0" lang="en-US" sz="2700" spc="-1" strike="noStrike">
              <a:solidFill>
                <a:srgbClr val="ffffff"/>
              </a:solidFill>
              <a:latin typeface="Arial"/>
            </a:endParaRPr>
          </a:p>
        </p:txBody>
      </p:sp>
      <p:sp>
        <p:nvSpPr>
          <p:cNvPr id="138" name="TextBox 4"/>
          <p:cNvSpPr/>
          <p:nvPr/>
        </p:nvSpPr>
        <p:spPr>
          <a:xfrm>
            <a:off x="11201400" y="347400"/>
            <a:ext cx="456840" cy="240840"/>
          </a:xfrm>
          <a:prstGeom prst="rect">
            <a:avLst/>
          </a:prstGeom>
          <a:noFill/>
          <a:ln w="0">
            <a:noFill/>
          </a:ln>
        </p:spPr>
        <p:style>
          <a:lnRef idx="0"/>
          <a:fillRef idx="0"/>
          <a:effectRef idx="0"/>
          <a:fontRef idx="minor"/>
        </p:style>
        <p:txBody>
          <a:bodyPr lIns="36720" rIns="36720" tIns="36720" bIns="36720" anchor="t">
            <a:spAutoFit/>
          </a:bodyPr>
          <a:p>
            <a:pPr algn="r" defTabSz="457200">
              <a:lnSpc>
                <a:spcPct val="100000"/>
              </a:lnSpc>
            </a:pPr>
            <a:r>
              <a:rPr b="1" lang="en-US" sz="1100" spc="-1" strike="noStrike">
                <a:solidFill>
                  <a:srgbClr val="a6c2c6"/>
                </a:solidFill>
                <a:latin typeface="Aptos"/>
              </a:rPr>
              <a:t>05</a:t>
            </a:r>
            <a:endParaRPr b="0" lang="en-US" sz="1100" spc="-1" strike="noStrike">
              <a:solidFill>
                <a:srgbClr val="ffffff"/>
              </a:solidFill>
              <a:latin typeface="Arial"/>
            </a:endParaRPr>
          </a:p>
        </p:txBody>
      </p:sp>
      <p:sp>
        <p:nvSpPr>
          <p:cNvPr id="139" name="Rectangle 5"/>
          <p:cNvSpPr/>
          <p:nvPr/>
        </p:nvSpPr>
        <p:spPr>
          <a:xfrm>
            <a:off x="502920" y="1188720"/>
            <a:ext cx="11155320" cy="13320"/>
          </a:xfrm>
          <a:prstGeom prst="rect">
            <a:avLst/>
          </a:prstGeom>
          <a:solidFill>
            <a:srgbClr val="29515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1320" bIns="-31320" anchor="ctr">
            <a:noAutofit/>
          </a:bodyPr>
          <a:p>
            <a:pPr algn="ctr" defTabSz="457200">
              <a:lnSpc>
                <a:spcPct val="100000"/>
              </a:lnSpc>
            </a:pPr>
            <a:endParaRPr b="0" lang="en-US" sz="1800" spc="-1" strike="noStrike">
              <a:solidFill>
                <a:schemeClr val="lt1"/>
              </a:solidFill>
              <a:latin typeface="Calibri"/>
            </a:endParaRPr>
          </a:p>
        </p:txBody>
      </p:sp>
      <p:pic>
        <p:nvPicPr>
          <p:cNvPr id="140" name="Picture 6" descr="electronics-wiring.png"/>
          <p:cNvPicPr/>
          <p:nvPr/>
        </p:nvPicPr>
        <p:blipFill>
          <a:blip r:embed="rId1"/>
          <a:srcRect l="0" t="0" r="0" b="0"/>
          <a:stretch/>
        </p:blipFill>
        <p:spPr>
          <a:xfrm>
            <a:off x="2414016" y="1307592"/>
            <a:ext cx="7365492" cy="4910328"/>
          </a:xfrm>
          <a:prstGeom prst="rect">
            <a:avLst/>
          </a:prstGeom>
          <a:ln w="0">
            <a:noFill/>
          </a:ln>
        </p:spPr>
      </p:pic>
      <p:sp>
        <p:nvSpPr>
          <p:cNvPr id="141" name="TextBox 7"/>
          <p:cNvSpPr/>
          <p:nvPr/>
        </p:nvSpPr>
        <p:spPr>
          <a:xfrm>
            <a:off x="567000" y="6236280"/>
            <a:ext cx="9875160" cy="19476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b="0" lang="en-US" sz="800" spc="-1" strike="noStrike">
                <a:solidFill>
                  <a:srgbClr val="a6c2c6"/>
                </a:solidFill>
                <a:latin typeface="Aptos"/>
              </a:rPr>
              <a:t>Visual overview only • final wiring follows purchased-board datasheets and the approved pinout.</a:t>
            </a:r>
            <a:endParaRPr b="0" lang="en-US" sz="800" spc="-1" strike="noStrike">
              <a:solidFill>
                <a:srgbClr val="ffffff"/>
              </a:solidFill>
              <a:latin typeface="Arial"/>
            </a:endParaRPr>
          </a:p>
        </p:txBody>
      </p:sp>
      <p:sp>
        <p:nvSpPr>
          <p:cNvPr id="142" name="TextBox 8"/>
          <p:cNvSpPr/>
          <p:nvPr/>
        </p:nvSpPr>
        <p:spPr>
          <a:xfrm>
            <a:off x="502920" y="6537960"/>
            <a:ext cx="6400440" cy="19476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b="1" lang="en-US" sz="800" spc="-1" strike="noStrike">
                <a:solidFill>
                  <a:srgbClr val="a6c2c6"/>
                </a:solidFill>
                <a:latin typeface="Aptos"/>
              </a:rPr>
              <a:t>PROJECT FALCON • FULLBRIGHT COLLEGE</a:t>
            </a:r>
            <a:endParaRPr b="0" lang="en-US" sz="800" spc="-1" strike="noStrike">
              <a:solidFill>
                <a:srgbClr val="ffffff"/>
              </a:solidFill>
              <a:latin typeface="Arial"/>
            </a:endParaRPr>
          </a:p>
        </p:txBody>
      </p:sp>
      <p:sp>
        <p:nvSpPr>
          <p:cNvPr id="143" name="TextBox 9"/>
          <p:cNvSpPr/>
          <p:nvPr/>
        </p:nvSpPr>
        <p:spPr>
          <a:xfrm>
            <a:off x="9144000" y="6537960"/>
            <a:ext cx="2514240" cy="194760"/>
          </a:xfrm>
          <a:prstGeom prst="rect">
            <a:avLst/>
          </a:prstGeom>
          <a:noFill/>
          <a:ln w="0">
            <a:noFill/>
          </a:ln>
        </p:spPr>
        <p:style>
          <a:lnRef idx="0"/>
          <a:fillRef idx="0"/>
          <a:effectRef idx="0"/>
          <a:fontRef idx="minor"/>
        </p:style>
        <p:txBody>
          <a:bodyPr lIns="36720" rIns="36720" tIns="36720" bIns="36720" anchor="t">
            <a:spAutoFit/>
          </a:bodyPr>
          <a:p>
            <a:pPr algn="r" defTabSz="457200">
              <a:lnSpc>
                <a:spcPct val="100000"/>
              </a:lnSpc>
            </a:pPr>
            <a:r>
              <a:rPr b="1" lang="en-US" sz="800" spc="-1" strike="noStrike">
                <a:solidFill>
                  <a:srgbClr val="a6c2c6"/>
                </a:solidFill>
                <a:latin typeface="Aptos"/>
              </a:rPr>
              <a:t>DOST IDEA PRESENTATION</a:t>
            </a:r>
            <a:endParaRPr b="0" lang="en-US" sz="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51922"/>
        </a:solidFill>
      </p:bgPr>
    </p:bg>
    <p:spTree>
      <p:nvGrpSpPr>
        <p:cNvPr id="1" name=""/>
        <p:cNvGrpSpPr/>
        <p:nvPr/>
      </p:nvGrpSpPr>
      <p:grpSpPr>
        <a:xfrm>
          <a:off x="0" y="0"/>
          <a:ext cx="0" cy="0"/>
          <a:chOff x="0" y="0"/>
          <a:chExt cx="0" cy="0"/>
        </a:xfrm>
      </p:grpSpPr>
      <p:sp>
        <p:nvSpPr>
          <p:cNvPr id="144" name="Rectangle 1"/>
          <p:cNvSpPr/>
          <p:nvPr/>
        </p:nvSpPr>
        <p:spPr>
          <a:xfrm>
            <a:off x="0" y="0"/>
            <a:ext cx="12191400" cy="72720"/>
          </a:xfrm>
          <a:prstGeom prst="rect">
            <a:avLst/>
          </a:prstGeom>
          <a:solidFill>
            <a:srgbClr val="58bec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457200">
              <a:lnSpc>
                <a:spcPct val="100000"/>
              </a:lnSpc>
            </a:pPr>
            <a:endParaRPr b="0" lang="en-US" sz="1800" spc="-1" strike="noStrike">
              <a:solidFill>
                <a:schemeClr val="lt1"/>
              </a:solidFill>
              <a:latin typeface="Calibri"/>
            </a:endParaRPr>
          </a:p>
        </p:txBody>
      </p:sp>
      <p:sp>
        <p:nvSpPr>
          <p:cNvPr id="145" name="TextBox 2"/>
          <p:cNvSpPr/>
          <p:nvPr/>
        </p:nvSpPr>
        <p:spPr>
          <a:xfrm>
            <a:off x="502920" y="292680"/>
            <a:ext cx="8229240" cy="22572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b="1" lang="en-US" sz="1000" spc="-1" strike="noStrike">
                <a:solidFill>
                  <a:srgbClr val="58bec2"/>
                </a:solidFill>
                <a:latin typeface="Aptos"/>
              </a:rPr>
              <a:t>MAINTAINABLE ENCLOSURE</a:t>
            </a:r>
            <a:endParaRPr b="0" lang="en-US" sz="1000" spc="-1" strike="noStrike">
              <a:solidFill>
                <a:srgbClr val="ffffff"/>
              </a:solidFill>
              <a:latin typeface="Arial"/>
            </a:endParaRPr>
          </a:p>
        </p:txBody>
      </p:sp>
      <p:sp>
        <p:nvSpPr>
          <p:cNvPr id="146" name="TextBox 3"/>
          <p:cNvSpPr/>
          <p:nvPr/>
        </p:nvSpPr>
        <p:spPr>
          <a:xfrm>
            <a:off x="502920" y="603360"/>
            <a:ext cx="10698120" cy="48492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b="1" lang="en-US" sz="2700" spc="-1" strike="noStrike">
                <a:solidFill>
                  <a:srgbClr val="eff7f7"/>
                </a:solidFill>
                <a:latin typeface="Aptos"/>
              </a:rPr>
              <a:t>The upper pod organizes electronics and labeled cables</a:t>
            </a:r>
            <a:endParaRPr b="0" lang="en-US" sz="2700" spc="-1" strike="noStrike">
              <a:solidFill>
                <a:srgbClr val="ffffff"/>
              </a:solidFill>
              <a:latin typeface="Arial"/>
            </a:endParaRPr>
          </a:p>
        </p:txBody>
      </p:sp>
      <p:sp>
        <p:nvSpPr>
          <p:cNvPr id="147" name="TextBox 4"/>
          <p:cNvSpPr/>
          <p:nvPr/>
        </p:nvSpPr>
        <p:spPr>
          <a:xfrm>
            <a:off x="11201400" y="347400"/>
            <a:ext cx="456840" cy="240840"/>
          </a:xfrm>
          <a:prstGeom prst="rect">
            <a:avLst/>
          </a:prstGeom>
          <a:noFill/>
          <a:ln w="0">
            <a:noFill/>
          </a:ln>
        </p:spPr>
        <p:style>
          <a:lnRef idx="0"/>
          <a:fillRef idx="0"/>
          <a:effectRef idx="0"/>
          <a:fontRef idx="minor"/>
        </p:style>
        <p:txBody>
          <a:bodyPr lIns="36720" rIns="36720" tIns="36720" bIns="36720" anchor="t">
            <a:spAutoFit/>
          </a:bodyPr>
          <a:p>
            <a:pPr algn="r" defTabSz="457200">
              <a:lnSpc>
                <a:spcPct val="100000"/>
              </a:lnSpc>
            </a:pPr>
            <a:r>
              <a:rPr b="1" lang="en-US" sz="1100" spc="-1" strike="noStrike">
                <a:solidFill>
                  <a:srgbClr val="a6c2c6"/>
                </a:solidFill>
                <a:latin typeface="Aptos"/>
              </a:rPr>
              <a:t>06</a:t>
            </a:r>
            <a:endParaRPr b="0" lang="en-US" sz="1100" spc="-1" strike="noStrike">
              <a:solidFill>
                <a:srgbClr val="ffffff"/>
              </a:solidFill>
              <a:latin typeface="Arial"/>
            </a:endParaRPr>
          </a:p>
        </p:txBody>
      </p:sp>
      <p:sp>
        <p:nvSpPr>
          <p:cNvPr id="148" name="Rectangle 5"/>
          <p:cNvSpPr/>
          <p:nvPr/>
        </p:nvSpPr>
        <p:spPr>
          <a:xfrm>
            <a:off x="502920" y="1188720"/>
            <a:ext cx="11155320" cy="13320"/>
          </a:xfrm>
          <a:prstGeom prst="rect">
            <a:avLst/>
          </a:prstGeom>
          <a:solidFill>
            <a:srgbClr val="29515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1320" bIns="-31320" anchor="ctr">
            <a:noAutofit/>
          </a:bodyPr>
          <a:p>
            <a:pPr algn="ctr" defTabSz="457200">
              <a:lnSpc>
                <a:spcPct val="100000"/>
              </a:lnSpc>
            </a:pPr>
            <a:endParaRPr b="0" lang="en-US" sz="1800" spc="-1" strike="noStrike">
              <a:solidFill>
                <a:schemeClr val="lt1"/>
              </a:solidFill>
              <a:latin typeface="Calibri"/>
            </a:endParaRPr>
          </a:p>
        </p:txBody>
      </p:sp>
      <p:pic>
        <p:nvPicPr>
          <p:cNvPr id="149" name="Picture 6" descr="upper-electronics-maintenance.png"/>
          <p:cNvPicPr/>
          <p:nvPr/>
        </p:nvPicPr>
        <p:blipFill>
          <a:blip r:embed="rId1"/>
          <a:stretch/>
        </p:blipFill>
        <p:spPr>
          <a:xfrm>
            <a:off x="1600200" y="1307520"/>
            <a:ext cx="8979120" cy="5047200"/>
          </a:xfrm>
          <a:prstGeom prst="rect">
            <a:avLst/>
          </a:prstGeom>
          <a:ln w="0">
            <a:noFill/>
          </a:ln>
        </p:spPr>
      </p:pic>
      <p:sp>
        <p:nvSpPr>
          <p:cNvPr id="150" name="TextBox 7"/>
          <p:cNvSpPr/>
          <p:nvPr/>
        </p:nvSpPr>
        <p:spPr>
          <a:xfrm>
            <a:off x="502920" y="6537960"/>
            <a:ext cx="6400440" cy="19476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b="1" lang="en-US" sz="800" spc="-1" strike="noStrike">
                <a:solidFill>
                  <a:srgbClr val="a6c2c6"/>
                </a:solidFill>
                <a:latin typeface="Aptos"/>
              </a:rPr>
              <a:t>PROJECT FALCON • FULLBRIGHT COLLEGE</a:t>
            </a:r>
            <a:endParaRPr b="0" lang="en-US" sz="800" spc="-1" strike="noStrike">
              <a:solidFill>
                <a:srgbClr val="ffffff"/>
              </a:solidFill>
              <a:latin typeface="Arial"/>
            </a:endParaRPr>
          </a:p>
        </p:txBody>
      </p:sp>
      <p:sp>
        <p:nvSpPr>
          <p:cNvPr id="151" name="TextBox 8"/>
          <p:cNvSpPr/>
          <p:nvPr/>
        </p:nvSpPr>
        <p:spPr>
          <a:xfrm>
            <a:off x="9144000" y="6537960"/>
            <a:ext cx="2514240" cy="194760"/>
          </a:xfrm>
          <a:prstGeom prst="rect">
            <a:avLst/>
          </a:prstGeom>
          <a:noFill/>
          <a:ln w="0">
            <a:noFill/>
          </a:ln>
        </p:spPr>
        <p:style>
          <a:lnRef idx="0"/>
          <a:fillRef idx="0"/>
          <a:effectRef idx="0"/>
          <a:fontRef idx="minor"/>
        </p:style>
        <p:txBody>
          <a:bodyPr lIns="36720" rIns="36720" tIns="36720" bIns="36720" anchor="t">
            <a:spAutoFit/>
          </a:bodyPr>
          <a:p>
            <a:pPr algn="r" defTabSz="457200">
              <a:lnSpc>
                <a:spcPct val="100000"/>
              </a:lnSpc>
            </a:pPr>
            <a:r>
              <a:rPr b="1" lang="en-US" sz="800" spc="-1" strike="noStrike">
                <a:solidFill>
                  <a:srgbClr val="a6c2c6"/>
                </a:solidFill>
                <a:latin typeface="Aptos"/>
              </a:rPr>
              <a:t>DOST IDEA PRESENTATION</a:t>
            </a:r>
            <a:endParaRPr b="0" lang="en-US" sz="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51922"/>
        </a:solidFill>
      </p:bgPr>
    </p:bg>
    <p:spTree>
      <p:nvGrpSpPr>
        <p:cNvPr id="1" name=""/>
        <p:cNvGrpSpPr/>
        <p:nvPr/>
      </p:nvGrpSpPr>
      <p:grpSpPr>
        <a:xfrm>
          <a:off x="0" y="0"/>
          <a:ext cx="0" cy="0"/>
          <a:chOff x="0" y="0"/>
          <a:chExt cx="0" cy="0"/>
        </a:xfrm>
      </p:grpSpPr>
      <p:sp>
        <p:nvSpPr>
          <p:cNvPr id="152" name="Rectangle 1"/>
          <p:cNvSpPr/>
          <p:nvPr/>
        </p:nvSpPr>
        <p:spPr>
          <a:xfrm>
            <a:off x="0" y="0"/>
            <a:ext cx="12191400" cy="72720"/>
          </a:xfrm>
          <a:prstGeom prst="rect">
            <a:avLst/>
          </a:prstGeom>
          <a:solidFill>
            <a:srgbClr val="58bec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457200">
              <a:lnSpc>
                <a:spcPct val="100000"/>
              </a:lnSpc>
            </a:pPr>
            <a:endParaRPr b="0" lang="en-US" sz="1800" spc="-1" strike="noStrike">
              <a:solidFill>
                <a:schemeClr val="lt1"/>
              </a:solidFill>
              <a:latin typeface="Calibri"/>
            </a:endParaRPr>
          </a:p>
        </p:txBody>
      </p:sp>
      <p:sp>
        <p:nvSpPr>
          <p:cNvPr id="153" name="TextBox 2"/>
          <p:cNvSpPr/>
          <p:nvPr/>
        </p:nvSpPr>
        <p:spPr>
          <a:xfrm>
            <a:off x="502920" y="292680"/>
            <a:ext cx="8229240" cy="22572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b="1" lang="en-US" sz="1000" spc="-1" strike="noStrike">
                <a:solidFill>
                  <a:srgbClr val="58bec2"/>
                </a:solidFill>
                <a:latin typeface="Aptos"/>
              </a:rPr>
              <a:t>SYSTEM WORKFLOW</a:t>
            </a:r>
            <a:endParaRPr b="0" lang="en-US" sz="1000" spc="-1" strike="noStrike">
              <a:solidFill>
                <a:srgbClr val="ffffff"/>
              </a:solidFill>
              <a:latin typeface="Arial"/>
            </a:endParaRPr>
          </a:p>
        </p:txBody>
      </p:sp>
      <p:sp>
        <p:nvSpPr>
          <p:cNvPr id="154" name="TextBox 3"/>
          <p:cNvSpPr/>
          <p:nvPr/>
        </p:nvSpPr>
        <p:spPr>
          <a:xfrm>
            <a:off x="502920" y="603360"/>
            <a:ext cx="10698120" cy="48492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b="1" lang="en-US" sz="2700" spc="-1" strike="noStrike">
                <a:solidFill>
                  <a:srgbClr val="eff7f7"/>
                </a:solidFill>
                <a:latin typeface="Aptos"/>
              </a:rPr>
              <a:t>Sensors measure; ESP32 collects; Orange Pi explains</a:t>
            </a:r>
            <a:endParaRPr b="0" lang="en-US" sz="2700" spc="-1" strike="noStrike">
              <a:solidFill>
                <a:srgbClr val="ffffff"/>
              </a:solidFill>
              <a:latin typeface="Arial"/>
            </a:endParaRPr>
          </a:p>
        </p:txBody>
      </p:sp>
      <p:sp>
        <p:nvSpPr>
          <p:cNvPr id="155" name="TextBox 4"/>
          <p:cNvSpPr/>
          <p:nvPr/>
        </p:nvSpPr>
        <p:spPr>
          <a:xfrm>
            <a:off x="11201400" y="347400"/>
            <a:ext cx="456840" cy="240840"/>
          </a:xfrm>
          <a:prstGeom prst="rect">
            <a:avLst/>
          </a:prstGeom>
          <a:noFill/>
          <a:ln w="0">
            <a:noFill/>
          </a:ln>
        </p:spPr>
        <p:style>
          <a:lnRef idx="0"/>
          <a:fillRef idx="0"/>
          <a:effectRef idx="0"/>
          <a:fontRef idx="minor"/>
        </p:style>
        <p:txBody>
          <a:bodyPr lIns="36720" rIns="36720" tIns="36720" bIns="36720" anchor="t">
            <a:spAutoFit/>
          </a:bodyPr>
          <a:p>
            <a:pPr algn="r" defTabSz="457200">
              <a:lnSpc>
                <a:spcPct val="100000"/>
              </a:lnSpc>
            </a:pPr>
            <a:r>
              <a:rPr b="1" lang="en-US" sz="1100" spc="-1" strike="noStrike">
                <a:solidFill>
                  <a:srgbClr val="a6c2c6"/>
                </a:solidFill>
                <a:latin typeface="Aptos"/>
              </a:rPr>
              <a:t>07</a:t>
            </a:r>
            <a:endParaRPr b="0" lang="en-US" sz="1100" spc="-1" strike="noStrike">
              <a:solidFill>
                <a:srgbClr val="ffffff"/>
              </a:solidFill>
              <a:latin typeface="Arial"/>
            </a:endParaRPr>
          </a:p>
        </p:txBody>
      </p:sp>
      <p:sp>
        <p:nvSpPr>
          <p:cNvPr id="156" name="Rectangle 5"/>
          <p:cNvSpPr/>
          <p:nvPr/>
        </p:nvSpPr>
        <p:spPr>
          <a:xfrm>
            <a:off x="502920" y="1188720"/>
            <a:ext cx="11155320" cy="13320"/>
          </a:xfrm>
          <a:prstGeom prst="rect">
            <a:avLst/>
          </a:prstGeom>
          <a:solidFill>
            <a:srgbClr val="29515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1320" bIns="-31320" anchor="ctr">
            <a:noAutofit/>
          </a:bodyPr>
          <a:p>
            <a:pPr algn="ctr" defTabSz="457200">
              <a:lnSpc>
                <a:spcPct val="100000"/>
              </a:lnSpc>
            </a:pPr>
            <a:endParaRPr b="0" lang="en-US" sz="1800" spc="-1" strike="noStrike">
              <a:solidFill>
                <a:schemeClr val="lt1"/>
              </a:solidFill>
              <a:latin typeface="Calibri"/>
            </a:endParaRPr>
          </a:p>
        </p:txBody>
      </p:sp>
      <p:pic>
        <p:nvPicPr>
          <p:cNvPr id="157" name="Picture 6" descr="system-architecture.png"/>
          <p:cNvPicPr/>
          <p:nvPr/>
        </p:nvPicPr>
        <p:blipFill>
          <a:blip r:embed="rId1"/>
          <a:srcRect l="0" t="7391" r="0" b="7391"/>
          <a:stretch/>
        </p:blipFill>
        <p:spPr>
          <a:xfrm>
            <a:off x="502920" y="1371600"/>
            <a:ext cx="11155320" cy="4891680"/>
          </a:xfrm>
          <a:prstGeom prst="rect">
            <a:avLst/>
          </a:prstGeom>
          <a:ln w="0">
            <a:noFill/>
          </a:ln>
        </p:spPr>
      </p:pic>
      <p:sp>
        <p:nvSpPr>
          <p:cNvPr id="158" name="TextBox 7"/>
          <p:cNvSpPr/>
          <p:nvPr/>
        </p:nvSpPr>
        <p:spPr>
          <a:xfrm>
            <a:off x="502920" y="6537960"/>
            <a:ext cx="6400440" cy="19476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b="1" lang="en-US" sz="800" spc="-1" strike="noStrike">
                <a:solidFill>
                  <a:srgbClr val="a6c2c6"/>
                </a:solidFill>
                <a:latin typeface="Aptos"/>
              </a:rPr>
              <a:t>PROJECT FALCON • FULLBRIGHT COLLEGE</a:t>
            </a:r>
            <a:endParaRPr b="0" lang="en-US" sz="800" spc="-1" strike="noStrike">
              <a:solidFill>
                <a:srgbClr val="ffffff"/>
              </a:solidFill>
              <a:latin typeface="Arial"/>
            </a:endParaRPr>
          </a:p>
        </p:txBody>
      </p:sp>
      <p:sp>
        <p:nvSpPr>
          <p:cNvPr id="159" name="TextBox 8"/>
          <p:cNvSpPr/>
          <p:nvPr/>
        </p:nvSpPr>
        <p:spPr>
          <a:xfrm>
            <a:off x="9144000" y="6537960"/>
            <a:ext cx="2514240" cy="194760"/>
          </a:xfrm>
          <a:prstGeom prst="rect">
            <a:avLst/>
          </a:prstGeom>
          <a:noFill/>
          <a:ln w="0">
            <a:noFill/>
          </a:ln>
        </p:spPr>
        <p:style>
          <a:lnRef idx="0"/>
          <a:fillRef idx="0"/>
          <a:effectRef idx="0"/>
          <a:fontRef idx="minor"/>
        </p:style>
        <p:txBody>
          <a:bodyPr lIns="36720" rIns="36720" tIns="36720" bIns="36720" anchor="t">
            <a:spAutoFit/>
          </a:bodyPr>
          <a:p>
            <a:pPr algn="r" defTabSz="457200">
              <a:lnSpc>
                <a:spcPct val="100000"/>
              </a:lnSpc>
            </a:pPr>
            <a:r>
              <a:rPr b="1" lang="en-US" sz="800" spc="-1" strike="noStrike">
                <a:solidFill>
                  <a:srgbClr val="a6c2c6"/>
                </a:solidFill>
                <a:latin typeface="Aptos"/>
              </a:rPr>
              <a:t>DOST IDEA PRESENTATION</a:t>
            </a:r>
            <a:endParaRPr b="0" lang="en-US" sz="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51922"/>
        </a:solidFill>
      </p:bgPr>
    </p:bg>
    <p:spTree>
      <p:nvGrpSpPr>
        <p:cNvPr id="1" name=""/>
        <p:cNvGrpSpPr/>
        <p:nvPr/>
      </p:nvGrpSpPr>
      <p:grpSpPr>
        <a:xfrm>
          <a:off x="0" y="0"/>
          <a:ext cx="0" cy="0"/>
          <a:chOff x="0" y="0"/>
          <a:chExt cx="0" cy="0"/>
        </a:xfrm>
      </p:grpSpPr>
      <p:sp>
        <p:nvSpPr>
          <p:cNvPr id="160" name="Rectangle 1"/>
          <p:cNvSpPr/>
          <p:nvPr/>
        </p:nvSpPr>
        <p:spPr>
          <a:xfrm>
            <a:off x="0" y="0"/>
            <a:ext cx="12191400" cy="72720"/>
          </a:xfrm>
          <a:prstGeom prst="rect">
            <a:avLst/>
          </a:prstGeom>
          <a:solidFill>
            <a:srgbClr val="58bec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457200">
              <a:lnSpc>
                <a:spcPct val="100000"/>
              </a:lnSpc>
            </a:pPr>
            <a:endParaRPr b="0" lang="en-US" sz="1800" spc="-1" strike="noStrike">
              <a:solidFill>
                <a:schemeClr val="lt1"/>
              </a:solidFill>
              <a:latin typeface="Calibri"/>
            </a:endParaRPr>
          </a:p>
        </p:txBody>
      </p:sp>
      <p:sp>
        <p:nvSpPr>
          <p:cNvPr id="161" name="TextBox 2"/>
          <p:cNvSpPr/>
          <p:nvPr/>
        </p:nvSpPr>
        <p:spPr>
          <a:xfrm>
            <a:off x="502920" y="292680"/>
            <a:ext cx="8229240" cy="22572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b="1" lang="en-US" sz="1000" spc="-1" strike="noStrike">
                <a:solidFill>
                  <a:srgbClr val="58bec2"/>
                </a:solidFill>
                <a:latin typeface="Aptos"/>
              </a:rPr>
              <a:t>CURRENT PROGRESS</a:t>
            </a:r>
            <a:endParaRPr b="0" lang="en-US" sz="1000" spc="-1" strike="noStrike">
              <a:solidFill>
                <a:srgbClr val="ffffff"/>
              </a:solidFill>
              <a:latin typeface="Arial"/>
            </a:endParaRPr>
          </a:p>
        </p:txBody>
      </p:sp>
      <p:sp>
        <p:nvSpPr>
          <p:cNvPr id="162" name="TextBox 3"/>
          <p:cNvSpPr/>
          <p:nvPr/>
        </p:nvSpPr>
        <p:spPr>
          <a:xfrm>
            <a:off x="502920" y="603360"/>
            <a:ext cx="10698120" cy="48492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b="1" lang="en-US" sz="2700" spc="-1" strike="noStrike">
                <a:solidFill>
                  <a:srgbClr val="eff7f7"/>
                </a:solidFill>
                <a:latin typeface="Aptos"/>
              </a:rPr>
              <a:t>A working software concept—not yet a field-validated buoy</a:t>
            </a:r>
            <a:endParaRPr b="0" lang="en-US" sz="2700" spc="-1" strike="noStrike">
              <a:solidFill>
                <a:srgbClr val="ffffff"/>
              </a:solidFill>
              <a:latin typeface="Arial"/>
            </a:endParaRPr>
          </a:p>
        </p:txBody>
      </p:sp>
      <p:sp>
        <p:nvSpPr>
          <p:cNvPr id="163" name="TextBox 4"/>
          <p:cNvSpPr/>
          <p:nvPr/>
        </p:nvSpPr>
        <p:spPr>
          <a:xfrm>
            <a:off x="11201400" y="347400"/>
            <a:ext cx="456840" cy="240840"/>
          </a:xfrm>
          <a:prstGeom prst="rect">
            <a:avLst/>
          </a:prstGeom>
          <a:noFill/>
          <a:ln w="0">
            <a:noFill/>
          </a:ln>
        </p:spPr>
        <p:style>
          <a:lnRef idx="0"/>
          <a:fillRef idx="0"/>
          <a:effectRef idx="0"/>
          <a:fontRef idx="minor"/>
        </p:style>
        <p:txBody>
          <a:bodyPr lIns="36720" rIns="36720" tIns="36720" bIns="36720" anchor="t">
            <a:spAutoFit/>
          </a:bodyPr>
          <a:p>
            <a:pPr algn="r" defTabSz="457200">
              <a:lnSpc>
                <a:spcPct val="100000"/>
              </a:lnSpc>
            </a:pPr>
            <a:r>
              <a:rPr b="1" lang="en-US" sz="1100" spc="-1" strike="noStrike">
                <a:solidFill>
                  <a:srgbClr val="a6c2c6"/>
                </a:solidFill>
                <a:latin typeface="Aptos"/>
              </a:rPr>
              <a:t>08</a:t>
            </a:r>
            <a:endParaRPr b="0" lang="en-US" sz="1100" spc="-1" strike="noStrike">
              <a:solidFill>
                <a:srgbClr val="ffffff"/>
              </a:solidFill>
              <a:latin typeface="Arial"/>
            </a:endParaRPr>
          </a:p>
        </p:txBody>
      </p:sp>
      <p:sp>
        <p:nvSpPr>
          <p:cNvPr id="164" name="Rectangle 5"/>
          <p:cNvSpPr/>
          <p:nvPr/>
        </p:nvSpPr>
        <p:spPr>
          <a:xfrm>
            <a:off x="502920" y="1188720"/>
            <a:ext cx="11155320" cy="13320"/>
          </a:xfrm>
          <a:prstGeom prst="rect">
            <a:avLst/>
          </a:prstGeom>
          <a:solidFill>
            <a:srgbClr val="29515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1320" bIns="-31320" anchor="ctr">
            <a:noAutofit/>
          </a:bodyPr>
          <a:p>
            <a:pPr algn="ctr" defTabSz="457200">
              <a:lnSpc>
                <a:spcPct val="100000"/>
              </a:lnSpc>
            </a:pPr>
            <a:endParaRPr b="0" lang="en-US" sz="1800" spc="-1" strike="noStrike">
              <a:solidFill>
                <a:schemeClr val="lt1"/>
              </a:solidFill>
              <a:latin typeface="Calibri"/>
            </a:endParaRPr>
          </a:p>
        </p:txBody>
      </p:sp>
      <p:pic>
        <p:nvPicPr>
          <p:cNvPr id="165" name="Picture 6" descr="dashboard-overview.png"/>
          <p:cNvPicPr/>
          <p:nvPr/>
        </p:nvPicPr>
        <p:blipFill>
          <a:blip r:embed="rId1"/>
          <a:srcRect l="0" t="9621" r="0" b="9621"/>
          <a:stretch/>
        </p:blipFill>
        <p:spPr>
          <a:xfrm>
            <a:off x="502920" y="1389960"/>
            <a:ext cx="7040520" cy="4343040"/>
          </a:xfrm>
          <a:prstGeom prst="rect">
            <a:avLst/>
          </a:prstGeom>
          <a:ln w="0">
            <a:noFill/>
          </a:ln>
        </p:spPr>
      </p:pic>
      <p:sp>
        <p:nvSpPr>
          <p:cNvPr id="166" name="Rounded Rectangle 7"/>
          <p:cNvSpPr/>
          <p:nvPr/>
        </p:nvSpPr>
        <p:spPr>
          <a:xfrm>
            <a:off x="7818120" y="1389960"/>
            <a:ext cx="3840120" cy="2267280"/>
          </a:xfrm>
          <a:prstGeom prst="roundRect">
            <a:avLst>
              <a:gd name="adj" fmla="val 12000"/>
            </a:avLst>
          </a:prstGeom>
          <a:solidFill>
            <a:srgbClr val="0c2a34"/>
          </a:solidFill>
          <a:ln>
            <a:solidFill>
              <a:srgbClr val="2a5963"/>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67" name="TextBox 8"/>
          <p:cNvSpPr/>
          <p:nvPr/>
        </p:nvSpPr>
        <p:spPr>
          <a:xfrm>
            <a:off x="8019360" y="1535040"/>
            <a:ext cx="411120" cy="423000"/>
          </a:xfrm>
          <a:prstGeom prst="rect">
            <a:avLst/>
          </a:prstGeom>
          <a:noFill/>
          <a:ln w="0">
            <a:noFill/>
          </a:ln>
        </p:spPr>
        <p:style>
          <a:lnRef idx="0"/>
          <a:fillRef idx="0"/>
          <a:effectRef idx="0"/>
          <a:fontRef idx="minor"/>
        </p:style>
        <p:txBody>
          <a:bodyPr lIns="36720" rIns="36720" tIns="36720" bIns="36720" anchor="ctr">
            <a:spAutoFit/>
          </a:bodyPr>
          <a:p>
            <a:pPr algn="ctr" defTabSz="457200">
              <a:lnSpc>
                <a:spcPct val="100000"/>
              </a:lnSpc>
            </a:pPr>
            <a:r>
              <a:rPr b="1" lang="en-US" sz="2300" spc="-1" strike="noStrike">
                <a:solidFill>
                  <a:srgbClr val="58bec2"/>
                </a:solidFill>
                <a:latin typeface="Aptos"/>
              </a:rPr>
              <a:t>✓</a:t>
            </a:r>
            <a:endParaRPr b="0" lang="en-US" sz="2300" spc="-1" strike="noStrike">
              <a:solidFill>
                <a:srgbClr val="ffffff"/>
              </a:solidFill>
              <a:latin typeface="Arial"/>
            </a:endParaRPr>
          </a:p>
        </p:txBody>
      </p:sp>
      <p:sp>
        <p:nvSpPr>
          <p:cNvPr id="168" name="TextBox 9"/>
          <p:cNvSpPr/>
          <p:nvPr/>
        </p:nvSpPr>
        <p:spPr>
          <a:xfrm>
            <a:off x="8503920" y="1572840"/>
            <a:ext cx="2971440" cy="30168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b="1" lang="en-US" sz="1500" spc="-1" strike="noStrike">
                <a:solidFill>
                  <a:srgbClr val="eff7f7"/>
                </a:solidFill>
                <a:latin typeface="Aptos"/>
              </a:rPr>
              <a:t>Already working</a:t>
            </a:r>
            <a:endParaRPr b="0" lang="en-US" sz="1500" spc="-1" strike="noStrike">
              <a:solidFill>
                <a:srgbClr val="ffffff"/>
              </a:solidFill>
              <a:latin typeface="Arial"/>
            </a:endParaRPr>
          </a:p>
        </p:txBody>
      </p:sp>
      <p:sp>
        <p:nvSpPr>
          <p:cNvPr id="169" name="TextBox 10"/>
          <p:cNvSpPr/>
          <p:nvPr/>
        </p:nvSpPr>
        <p:spPr>
          <a:xfrm>
            <a:off x="8046720" y="2048400"/>
            <a:ext cx="3382920" cy="91188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b="0" lang="en-US" sz="1100" spc="-1" strike="noStrike">
                <a:solidFill>
                  <a:srgbClr val="a6c2c6"/>
                </a:solidFill>
                <a:latin typeface="Aptos"/>
              </a:rPr>
              <a:t>Responsive dashboard</a:t>
            </a:r>
            <a:br>
              <a:rPr sz="1100"/>
            </a:br>
            <a:r>
              <a:rPr b="0" lang="en-US" sz="1100" spc="-1" strike="noStrike">
                <a:solidFill>
                  <a:srgbClr val="a6c2c6"/>
                </a:solidFill>
                <a:latin typeface="Aptos"/>
              </a:rPr>
              <a:t>ESP32 firmware foundation</a:t>
            </a:r>
            <a:br>
              <a:rPr sz="1100"/>
            </a:br>
            <a:r>
              <a:rPr b="0" lang="en-US" sz="1100" spc="-1" strike="noStrike">
                <a:solidFill>
                  <a:srgbClr val="a6c2c6"/>
                </a:solidFill>
                <a:latin typeface="Aptos"/>
              </a:rPr>
              <a:t>Telemetry contract + simulator</a:t>
            </a:r>
            <a:br>
              <a:rPr sz="1100"/>
            </a:br>
            <a:r>
              <a:rPr b="0" lang="en-US" sz="1100" spc="-1" strike="noStrike">
                <a:solidFill>
                  <a:srgbClr val="a6c2c6"/>
                </a:solidFill>
                <a:latin typeface="Aptos"/>
              </a:rPr>
              <a:t>Python edge API + local database</a:t>
            </a:r>
            <a:br>
              <a:rPr sz="1100"/>
            </a:br>
            <a:r>
              <a:rPr b="0" lang="en-US" sz="1100" spc="-1" strike="noStrike">
                <a:solidFill>
                  <a:srgbClr val="a6c2c6"/>
                </a:solidFill>
                <a:latin typeface="Aptos"/>
              </a:rPr>
              <a:t>Alerts and documentation</a:t>
            </a:r>
            <a:endParaRPr b="0" lang="en-US" sz="1100" spc="-1" strike="noStrike">
              <a:solidFill>
                <a:srgbClr val="ffffff"/>
              </a:solidFill>
              <a:latin typeface="Arial"/>
            </a:endParaRPr>
          </a:p>
        </p:txBody>
      </p:sp>
      <p:sp>
        <p:nvSpPr>
          <p:cNvPr id="170" name="Rounded Rectangle 11"/>
          <p:cNvSpPr/>
          <p:nvPr/>
        </p:nvSpPr>
        <p:spPr>
          <a:xfrm>
            <a:off x="7818120" y="3822120"/>
            <a:ext cx="3840120" cy="1416960"/>
          </a:xfrm>
          <a:prstGeom prst="roundRect">
            <a:avLst>
              <a:gd name="adj" fmla="val 12000"/>
            </a:avLst>
          </a:prstGeom>
          <a:solidFill>
            <a:srgbClr val="0c2a34"/>
          </a:solidFill>
          <a:ln>
            <a:solidFill>
              <a:srgbClr val="2a5963"/>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71" name="TextBox 12"/>
          <p:cNvSpPr/>
          <p:nvPr/>
        </p:nvSpPr>
        <p:spPr>
          <a:xfrm>
            <a:off x="8019360" y="3967200"/>
            <a:ext cx="411120" cy="423000"/>
          </a:xfrm>
          <a:prstGeom prst="rect">
            <a:avLst/>
          </a:prstGeom>
          <a:noFill/>
          <a:ln w="0">
            <a:noFill/>
          </a:ln>
        </p:spPr>
        <p:style>
          <a:lnRef idx="0"/>
          <a:fillRef idx="0"/>
          <a:effectRef idx="0"/>
          <a:fontRef idx="minor"/>
        </p:style>
        <p:txBody>
          <a:bodyPr lIns="36720" rIns="36720" tIns="36720" bIns="36720" anchor="ctr">
            <a:spAutoFit/>
          </a:bodyPr>
          <a:p>
            <a:pPr algn="ctr" defTabSz="457200">
              <a:lnSpc>
                <a:spcPct val="100000"/>
              </a:lnSpc>
            </a:pPr>
            <a:r>
              <a:rPr b="1" lang="en-US" sz="2300" spc="-1" strike="noStrike">
                <a:solidFill>
                  <a:srgbClr val="66be91"/>
                </a:solidFill>
                <a:latin typeface="Aptos"/>
              </a:rPr>
              <a:t>✓</a:t>
            </a:r>
            <a:endParaRPr b="0" lang="en-US" sz="2300" spc="-1" strike="noStrike">
              <a:solidFill>
                <a:srgbClr val="ffffff"/>
              </a:solidFill>
              <a:latin typeface="Arial"/>
            </a:endParaRPr>
          </a:p>
        </p:txBody>
      </p:sp>
      <p:sp>
        <p:nvSpPr>
          <p:cNvPr id="172" name="TextBox 13"/>
          <p:cNvSpPr/>
          <p:nvPr/>
        </p:nvSpPr>
        <p:spPr>
          <a:xfrm>
            <a:off x="8503920" y="4005000"/>
            <a:ext cx="2971440" cy="30168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b="1" lang="en-US" sz="1500" spc="-1" strike="noStrike">
                <a:solidFill>
                  <a:srgbClr val="eff7f7"/>
                </a:solidFill>
                <a:latin typeface="Aptos"/>
              </a:rPr>
              <a:t>Verified in software</a:t>
            </a:r>
            <a:endParaRPr b="0" lang="en-US" sz="1500" spc="-1" strike="noStrike">
              <a:solidFill>
                <a:srgbClr val="ffffff"/>
              </a:solidFill>
              <a:latin typeface="Arial"/>
            </a:endParaRPr>
          </a:p>
        </p:txBody>
      </p:sp>
      <p:sp>
        <p:nvSpPr>
          <p:cNvPr id="173" name="TextBox 14"/>
          <p:cNvSpPr/>
          <p:nvPr/>
        </p:nvSpPr>
        <p:spPr>
          <a:xfrm>
            <a:off x="8046720" y="4480560"/>
            <a:ext cx="3382920" cy="57636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b="0" lang="en-US" sz="1100" spc="-1" strike="noStrike">
                <a:solidFill>
                  <a:srgbClr val="a6c2c6"/>
                </a:solidFill>
                <a:latin typeface="Aptos"/>
              </a:rPr>
              <a:t>Firmware builds successfully</a:t>
            </a:r>
            <a:br>
              <a:rPr sz="1100"/>
            </a:br>
            <a:r>
              <a:rPr b="0" lang="en-US" sz="1100" spc="-1" strike="noStrike">
                <a:solidFill>
                  <a:srgbClr val="a6c2c6"/>
                </a:solidFill>
                <a:latin typeface="Aptos"/>
              </a:rPr>
              <a:t>18 edge-service tests pass</a:t>
            </a:r>
            <a:br>
              <a:rPr sz="1100"/>
            </a:br>
            <a:r>
              <a:rPr b="0" lang="en-US" sz="1100" spc="-1" strike="noStrike">
                <a:solidFill>
                  <a:srgbClr val="a6c2c6"/>
                </a:solidFill>
                <a:latin typeface="Aptos"/>
              </a:rPr>
              <a:t>Dashboard production build passes</a:t>
            </a:r>
            <a:endParaRPr b="0" lang="en-US" sz="1100" spc="-1" strike="noStrike">
              <a:solidFill>
                <a:srgbClr val="ffffff"/>
              </a:solidFill>
              <a:latin typeface="Arial"/>
            </a:endParaRPr>
          </a:p>
        </p:txBody>
      </p:sp>
      <p:sp>
        <p:nvSpPr>
          <p:cNvPr id="174" name="Rounded Rectangle 15"/>
          <p:cNvSpPr/>
          <p:nvPr/>
        </p:nvSpPr>
        <p:spPr>
          <a:xfrm>
            <a:off x="7818120" y="5413320"/>
            <a:ext cx="3840120" cy="502560"/>
          </a:xfrm>
          <a:prstGeom prst="roundRect">
            <a:avLst>
              <a:gd name="adj" fmla="val 12000"/>
            </a:avLst>
          </a:prstGeom>
          <a:solidFill>
            <a:srgbClr val="402d19"/>
          </a:solidFill>
          <a:ln>
            <a:solidFill>
              <a:srgbClr val="d39d4c"/>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75" name="TextBox 16"/>
          <p:cNvSpPr/>
          <p:nvPr/>
        </p:nvSpPr>
        <p:spPr>
          <a:xfrm>
            <a:off x="8019360" y="5577840"/>
            <a:ext cx="3428640" cy="194760"/>
          </a:xfrm>
          <a:prstGeom prst="rect">
            <a:avLst/>
          </a:prstGeom>
          <a:noFill/>
          <a:ln w="0">
            <a:noFill/>
          </a:ln>
        </p:spPr>
        <p:style>
          <a:lnRef idx="0"/>
          <a:fillRef idx="0"/>
          <a:effectRef idx="0"/>
          <a:fontRef idx="minor"/>
        </p:style>
        <p:txBody>
          <a:bodyPr lIns="36720" rIns="36720" tIns="36720" bIns="36720" anchor="t">
            <a:spAutoFit/>
          </a:bodyPr>
          <a:p>
            <a:pPr algn="ctr" defTabSz="457200">
              <a:lnSpc>
                <a:spcPct val="100000"/>
              </a:lnSpc>
            </a:pPr>
            <a:r>
              <a:rPr b="1" lang="en-US" sz="800" spc="-1" strike="noStrike">
                <a:solidFill>
                  <a:srgbClr val="eff7f7"/>
                </a:solidFill>
                <a:latin typeface="Aptos"/>
              </a:rPr>
              <a:t>SIMULATED DATA • NOT FIELD MEASUREMENTS</a:t>
            </a:r>
            <a:endParaRPr b="0" lang="en-US" sz="800" spc="-1" strike="noStrike">
              <a:solidFill>
                <a:srgbClr val="ffffff"/>
              </a:solidFill>
              <a:latin typeface="Arial"/>
            </a:endParaRPr>
          </a:p>
        </p:txBody>
      </p:sp>
      <p:sp>
        <p:nvSpPr>
          <p:cNvPr id="176" name="TextBox 17"/>
          <p:cNvSpPr/>
          <p:nvPr/>
        </p:nvSpPr>
        <p:spPr>
          <a:xfrm>
            <a:off x="502920" y="6537960"/>
            <a:ext cx="6400440" cy="19476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b="1" lang="en-US" sz="800" spc="-1" strike="noStrike">
                <a:solidFill>
                  <a:srgbClr val="a6c2c6"/>
                </a:solidFill>
                <a:latin typeface="Aptos"/>
              </a:rPr>
              <a:t>PROJECT FALCON • FULLBRIGHT COLLEGE</a:t>
            </a:r>
            <a:endParaRPr b="0" lang="en-US" sz="800" spc="-1" strike="noStrike">
              <a:solidFill>
                <a:srgbClr val="ffffff"/>
              </a:solidFill>
              <a:latin typeface="Arial"/>
            </a:endParaRPr>
          </a:p>
        </p:txBody>
      </p:sp>
      <p:sp>
        <p:nvSpPr>
          <p:cNvPr id="177" name="TextBox 18"/>
          <p:cNvSpPr/>
          <p:nvPr/>
        </p:nvSpPr>
        <p:spPr>
          <a:xfrm>
            <a:off x="9144000" y="6537960"/>
            <a:ext cx="2514240" cy="194760"/>
          </a:xfrm>
          <a:prstGeom prst="rect">
            <a:avLst/>
          </a:prstGeom>
          <a:noFill/>
          <a:ln w="0">
            <a:noFill/>
          </a:ln>
        </p:spPr>
        <p:style>
          <a:lnRef idx="0"/>
          <a:fillRef idx="0"/>
          <a:effectRef idx="0"/>
          <a:fontRef idx="minor"/>
        </p:style>
        <p:txBody>
          <a:bodyPr lIns="36720" rIns="36720" tIns="36720" bIns="36720" anchor="t">
            <a:spAutoFit/>
          </a:bodyPr>
          <a:p>
            <a:pPr algn="r" defTabSz="457200">
              <a:lnSpc>
                <a:spcPct val="100000"/>
              </a:lnSpc>
            </a:pPr>
            <a:r>
              <a:rPr b="1" lang="en-US" sz="800" spc="-1" strike="noStrike">
                <a:solidFill>
                  <a:srgbClr val="a6c2c6"/>
                </a:solidFill>
                <a:latin typeface="Aptos"/>
              </a:rPr>
              <a:t>DOST IDEA PRESENTATION</a:t>
            </a:r>
            <a:endParaRPr b="0" lang="en-US" sz="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51922"/>
        </a:solidFill>
      </p:bgPr>
    </p:bg>
    <p:spTree>
      <p:nvGrpSpPr>
        <p:cNvPr id="1" name=""/>
        <p:cNvGrpSpPr/>
        <p:nvPr/>
      </p:nvGrpSpPr>
      <p:grpSpPr>
        <a:xfrm>
          <a:off x="0" y="0"/>
          <a:ext cx="0" cy="0"/>
          <a:chOff x="0" y="0"/>
          <a:chExt cx="0" cy="0"/>
        </a:xfrm>
      </p:grpSpPr>
      <p:sp>
        <p:nvSpPr>
          <p:cNvPr id="178" name="Rectangle 1"/>
          <p:cNvSpPr/>
          <p:nvPr/>
        </p:nvSpPr>
        <p:spPr>
          <a:xfrm>
            <a:off x="0" y="0"/>
            <a:ext cx="12191400" cy="72720"/>
          </a:xfrm>
          <a:prstGeom prst="rect">
            <a:avLst/>
          </a:prstGeom>
          <a:solidFill>
            <a:srgbClr val="58bec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457200">
              <a:lnSpc>
                <a:spcPct val="100000"/>
              </a:lnSpc>
            </a:pPr>
            <a:endParaRPr b="0" lang="en-US" sz="1800" spc="-1" strike="noStrike">
              <a:solidFill>
                <a:schemeClr val="lt1"/>
              </a:solidFill>
              <a:latin typeface="Calibri"/>
            </a:endParaRPr>
          </a:p>
        </p:txBody>
      </p:sp>
      <p:sp>
        <p:nvSpPr>
          <p:cNvPr id="179" name="TextBox 2"/>
          <p:cNvSpPr/>
          <p:nvPr/>
        </p:nvSpPr>
        <p:spPr>
          <a:xfrm>
            <a:off x="502920" y="292680"/>
            <a:ext cx="8229240" cy="22572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b="1" lang="en-US" sz="1000" spc="-1" strike="noStrike">
                <a:solidFill>
                  <a:srgbClr val="58bec2"/>
                </a:solidFill>
                <a:latin typeface="Aptos"/>
              </a:rPr>
              <a:t>INNOVATION</a:t>
            </a:r>
            <a:endParaRPr b="0" lang="en-US" sz="1000" spc="-1" strike="noStrike">
              <a:solidFill>
                <a:srgbClr val="ffffff"/>
              </a:solidFill>
              <a:latin typeface="Arial"/>
            </a:endParaRPr>
          </a:p>
        </p:txBody>
      </p:sp>
      <p:sp>
        <p:nvSpPr>
          <p:cNvPr id="180" name="TextBox 3"/>
          <p:cNvSpPr/>
          <p:nvPr/>
        </p:nvSpPr>
        <p:spPr>
          <a:xfrm>
            <a:off x="502920" y="603360"/>
            <a:ext cx="10698120" cy="48492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b="1" lang="en-US" sz="2700" spc="-1" strike="noStrike">
                <a:solidFill>
                  <a:srgbClr val="eff7f7"/>
                </a:solidFill>
                <a:latin typeface="Aptos"/>
              </a:rPr>
              <a:t>The contribution is responsible system integration</a:t>
            </a:r>
            <a:endParaRPr b="0" lang="en-US" sz="2700" spc="-1" strike="noStrike">
              <a:solidFill>
                <a:srgbClr val="ffffff"/>
              </a:solidFill>
              <a:latin typeface="Arial"/>
            </a:endParaRPr>
          </a:p>
        </p:txBody>
      </p:sp>
      <p:sp>
        <p:nvSpPr>
          <p:cNvPr id="181" name="TextBox 4"/>
          <p:cNvSpPr/>
          <p:nvPr/>
        </p:nvSpPr>
        <p:spPr>
          <a:xfrm>
            <a:off x="11201400" y="347400"/>
            <a:ext cx="456840" cy="240840"/>
          </a:xfrm>
          <a:prstGeom prst="rect">
            <a:avLst/>
          </a:prstGeom>
          <a:noFill/>
          <a:ln w="0">
            <a:noFill/>
          </a:ln>
        </p:spPr>
        <p:style>
          <a:lnRef idx="0"/>
          <a:fillRef idx="0"/>
          <a:effectRef idx="0"/>
          <a:fontRef idx="minor"/>
        </p:style>
        <p:txBody>
          <a:bodyPr lIns="36720" rIns="36720" tIns="36720" bIns="36720" anchor="t">
            <a:spAutoFit/>
          </a:bodyPr>
          <a:p>
            <a:pPr algn="r" defTabSz="457200">
              <a:lnSpc>
                <a:spcPct val="100000"/>
              </a:lnSpc>
            </a:pPr>
            <a:r>
              <a:rPr b="1" lang="en-US" sz="1100" spc="-1" strike="noStrike">
                <a:solidFill>
                  <a:srgbClr val="a6c2c6"/>
                </a:solidFill>
                <a:latin typeface="Aptos"/>
              </a:rPr>
              <a:t>09</a:t>
            </a:r>
            <a:endParaRPr b="0" lang="en-US" sz="1100" spc="-1" strike="noStrike">
              <a:solidFill>
                <a:srgbClr val="ffffff"/>
              </a:solidFill>
              <a:latin typeface="Arial"/>
            </a:endParaRPr>
          </a:p>
        </p:txBody>
      </p:sp>
      <p:sp>
        <p:nvSpPr>
          <p:cNvPr id="182" name="Rectangle 5"/>
          <p:cNvSpPr/>
          <p:nvPr/>
        </p:nvSpPr>
        <p:spPr>
          <a:xfrm>
            <a:off x="502920" y="1188720"/>
            <a:ext cx="11155320" cy="13320"/>
          </a:xfrm>
          <a:prstGeom prst="rect">
            <a:avLst/>
          </a:prstGeom>
          <a:solidFill>
            <a:srgbClr val="29515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1320" bIns="-31320" anchor="ctr">
            <a:noAutofit/>
          </a:bodyPr>
          <a:p>
            <a:pPr algn="ctr" defTabSz="457200">
              <a:lnSpc>
                <a:spcPct val="100000"/>
              </a:lnSpc>
            </a:pPr>
            <a:endParaRPr b="0" lang="en-US" sz="1800" spc="-1" strike="noStrike">
              <a:solidFill>
                <a:schemeClr val="lt1"/>
              </a:solidFill>
              <a:latin typeface="Calibri"/>
            </a:endParaRPr>
          </a:p>
        </p:txBody>
      </p:sp>
      <p:sp>
        <p:nvSpPr>
          <p:cNvPr id="183" name="TextBox 6"/>
          <p:cNvSpPr/>
          <p:nvPr/>
        </p:nvSpPr>
        <p:spPr>
          <a:xfrm>
            <a:off x="640080" y="1508760"/>
            <a:ext cx="10881000" cy="438840"/>
          </a:xfrm>
          <a:prstGeom prst="rect">
            <a:avLst/>
          </a:prstGeom>
          <a:noFill/>
          <a:ln w="0">
            <a:noFill/>
          </a:ln>
        </p:spPr>
        <p:style>
          <a:lnRef idx="0"/>
          <a:fillRef idx="0"/>
          <a:effectRef idx="0"/>
          <a:fontRef idx="minor"/>
        </p:style>
        <p:txBody>
          <a:bodyPr lIns="36720" rIns="36720" tIns="36720" bIns="36720" anchor="t">
            <a:spAutoFit/>
          </a:bodyPr>
          <a:p>
            <a:pPr algn="ctr" defTabSz="457200">
              <a:lnSpc>
                <a:spcPct val="100000"/>
              </a:lnSpc>
            </a:pPr>
            <a:r>
              <a:rPr b="1" lang="en-US" sz="2400" spc="-1" strike="noStrike">
                <a:solidFill>
                  <a:srgbClr val="eff7f7"/>
                </a:solidFill>
                <a:latin typeface="Aptos"/>
              </a:rPr>
              <a:t>FALCON does not claim to invent the buoy, sensor, or AI algorithm.</a:t>
            </a:r>
            <a:endParaRPr b="0" lang="en-US" sz="2400" spc="-1" strike="noStrike">
              <a:solidFill>
                <a:srgbClr val="ffffff"/>
              </a:solidFill>
              <a:latin typeface="Arial"/>
            </a:endParaRPr>
          </a:p>
        </p:txBody>
      </p:sp>
      <p:sp>
        <p:nvSpPr>
          <p:cNvPr id="184" name="Rounded Rectangle 7"/>
          <p:cNvSpPr/>
          <p:nvPr/>
        </p:nvSpPr>
        <p:spPr>
          <a:xfrm>
            <a:off x="594360" y="2331720"/>
            <a:ext cx="3428640" cy="1416960"/>
          </a:xfrm>
          <a:prstGeom prst="roundRect">
            <a:avLst>
              <a:gd name="adj" fmla="val 12000"/>
            </a:avLst>
          </a:prstGeom>
          <a:solidFill>
            <a:srgbClr val="0c2a34"/>
          </a:solidFill>
          <a:ln>
            <a:solidFill>
              <a:srgbClr val="2a5963"/>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85" name="TextBox 8"/>
          <p:cNvSpPr/>
          <p:nvPr/>
        </p:nvSpPr>
        <p:spPr>
          <a:xfrm>
            <a:off x="795600" y="2476800"/>
            <a:ext cx="411120" cy="423000"/>
          </a:xfrm>
          <a:prstGeom prst="rect">
            <a:avLst/>
          </a:prstGeom>
          <a:noFill/>
          <a:ln w="0">
            <a:noFill/>
          </a:ln>
        </p:spPr>
        <p:style>
          <a:lnRef idx="0"/>
          <a:fillRef idx="0"/>
          <a:effectRef idx="0"/>
          <a:fontRef idx="minor"/>
        </p:style>
        <p:txBody>
          <a:bodyPr lIns="36720" rIns="36720" tIns="36720" bIns="36720" anchor="ctr">
            <a:spAutoFit/>
          </a:bodyPr>
          <a:p>
            <a:pPr algn="ctr" defTabSz="457200">
              <a:lnSpc>
                <a:spcPct val="100000"/>
              </a:lnSpc>
            </a:pPr>
            <a:r>
              <a:rPr b="1" lang="en-US" sz="2300" spc="-1" strike="noStrike">
                <a:solidFill>
                  <a:srgbClr val="58bec2"/>
                </a:solidFill>
                <a:latin typeface="Aptos"/>
              </a:rPr>
              <a:t>◫</a:t>
            </a:r>
            <a:endParaRPr b="0" lang="en-US" sz="2300" spc="-1" strike="noStrike">
              <a:solidFill>
                <a:srgbClr val="ffffff"/>
              </a:solidFill>
              <a:latin typeface="Arial"/>
            </a:endParaRPr>
          </a:p>
        </p:txBody>
      </p:sp>
      <p:sp>
        <p:nvSpPr>
          <p:cNvPr id="186" name="TextBox 9"/>
          <p:cNvSpPr/>
          <p:nvPr/>
        </p:nvSpPr>
        <p:spPr>
          <a:xfrm>
            <a:off x="1280160" y="2514600"/>
            <a:ext cx="2559960" cy="30168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b="1" lang="en-US" sz="1500" spc="-1" strike="noStrike">
                <a:solidFill>
                  <a:srgbClr val="eff7f7"/>
                </a:solidFill>
                <a:latin typeface="Aptos"/>
              </a:rPr>
              <a:t>Affordable + modular</a:t>
            </a:r>
            <a:endParaRPr b="0" lang="en-US" sz="1500" spc="-1" strike="noStrike">
              <a:solidFill>
                <a:srgbClr val="ffffff"/>
              </a:solidFill>
              <a:latin typeface="Arial"/>
            </a:endParaRPr>
          </a:p>
        </p:txBody>
      </p:sp>
      <p:sp>
        <p:nvSpPr>
          <p:cNvPr id="187" name="TextBox 10"/>
          <p:cNvSpPr/>
          <p:nvPr/>
        </p:nvSpPr>
        <p:spPr>
          <a:xfrm>
            <a:off x="822960" y="2990160"/>
            <a:ext cx="2971440" cy="40860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b="0" lang="en-US" sz="1100" spc="-1" strike="noStrike">
                <a:solidFill>
                  <a:srgbClr val="a6c2c6"/>
                </a:solidFill>
                <a:latin typeface="Aptos"/>
              </a:rPr>
              <a:t>Student-scale architecture with replaceable, documented components.</a:t>
            </a:r>
            <a:endParaRPr b="0" lang="en-US" sz="1100" spc="-1" strike="noStrike">
              <a:solidFill>
                <a:srgbClr val="ffffff"/>
              </a:solidFill>
              <a:latin typeface="Arial"/>
            </a:endParaRPr>
          </a:p>
        </p:txBody>
      </p:sp>
      <p:sp>
        <p:nvSpPr>
          <p:cNvPr id="188" name="Rounded Rectangle 11"/>
          <p:cNvSpPr/>
          <p:nvPr/>
        </p:nvSpPr>
        <p:spPr>
          <a:xfrm>
            <a:off x="4389120" y="2331720"/>
            <a:ext cx="3428640" cy="1416960"/>
          </a:xfrm>
          <a:prstGeom prst="roundRect">
            <a:avLst>
              <a:gd name="adj" fmla="val 12000"/>
            </a:avLst>
          </a:prstGeom>
          <a:solidFill>
            <a:srgbClr val="0c2a34"/>
          </a:solidFill>
          <a:ln>
            <a:solidFill>
              <a:srgbClr val="2a5963"/>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89" name="TextBox 12"/>
          <p:cNvSpPr/>
          <p:nvPr/>
        </p:nvSpPr>
        <p:spPr>
          <a:xfrm>
            <a:off x="4590360" y="2476800"/>
            <a:ext cx="411120" cy="423000"/>
          </a:xfrm>
          <a:prstGeom prst="rect">
            <a:avLst/>
          </a:prstGeom>
          <a:noFill/>
          <a:ln w="0">
            <a:noFill/>
          </a:ln>
        </p:spPr>
        <p:style>
          <a:lnRef idx="0"/>
          <a:fillRef idx="0"/>
          <a:effectRef idx="0"/>
          <a:fontRef idx="minor"/>
        </p:style>
        <p:txBody>
          <a:bodyPr lIns="36720" rIns="36720" tIns="36720" bIns="36720" anchor="ctr">
            <a:spAutoFit/>
          </a:bodyPr>
          <a:p>
            <a:pPr algn="ctr" defTabSz="457200">
              <a:lnSpc>
                <a:spcPct val="100000"/>
              </a:lnSpc>
            </a:pPr>
            <a:r>
              <a:rPr b="1" lang="en-US" sz="2300" spc="-1" strike="noStrike">
                <a:solidFill>
                  <a:srgbClr val="70cbd3"/>
                </a:solidFill>
                <a:latin typeface="Aptos"/>
              </a:rPr>
              <a:t>⌂</a:t>
            </a:r>
            <a:endParaRPr b="0" lang="en-US" sz="2300" spc="-1" strike="noStrike">
              <a:solidFill>
                <a:srgbClr val="ffffff"/>
              </a:solidFill>
              <a:latin typeface="Arial"/>
            </a:endParaRPr>
          </a:p>
        </p:txBody>
      </p:sp>
      <p:sp>
        <p:nvSpPr>
          <p:cNvPr id="190" name="TextBox 13"/>
          <p:cNvSpPr/>
          <p:nvPr/>
        </p:nvSpPr>
        <p:spPr>
          <a:xfrm>
            <a:off x="5074920" y="2514600"/>
            <a:ext cx="2559960" cy="30168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b="1" lang="en-US" sz="1500" spc="-1" strike="noStrike">
                <a:solidFill>
                  <a:srgbClr val="eff7f7"/>
                </a:solidFill>
                <a:latin typeface="Aptos"/>
              </a:rPr>
              <a:t>Local-first</a:t>
            </a:r>
            <a:endParaRPr b="0" lang="en-US" sz="1500" spc="-1" strike="noStrike">
              <a:solidFill>
                <a:srgbClr val="ffffff"/>
              </a:solidFill>
              <a:latin typeface="Arial"/>
            </a:endParaRPr>
          </a:p>
        </p:txBody>
      </p:sp>
      <p:sp>
        <p:nvSpPr>
          <p:cNvPr id="191" name="TextBox 14"/>
          <p:cNvSpPr/>
          <p:nvPr/>
        </p:nvSpPr>
        <p:spPr>
          <a:xfrm>
            <a:off x="4617720" y="2990160"/>
            <a:ext cx="2971440" cy="40860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b="0" lang="en-US" sz="1100" spc="-1" strike="noStrike">
                <a:solidFill>
                  <a:srgbClr val="a6c2c6"/>
                </a:solidFill>
                <a:latin typeface="Aptos"/>
              </a:rPr>
              <a:t>Monitoring and storage continue without mandatory cloud dependence.</a:t>
            </a:r>
            <a:endParaRPr b="0" lang="en-US" sz="1100" spc="-1" strike="noStrike">
              <a:solidFill>
                <a:srgbClr val="ffffff"/>
              </a:solidFill>
              <a:latin typeface="Arial"/>
            </a:endParaRPr>
          </a:p>
        </p:txBody>
      </p:sp>
      <p:sp>
        <p:nvSpPr>
          <p:cNvPr id="192" name="Rounded Rectangle 15"/>
          <p:cNvSpPr/>
          <p:nvPr/>
        </p:nvSpPr>
        <p:spPr>
          <a:xfrm>
            <a:off x="8183880" y="2331720"/>
            <a:ext cx="3428640" cy="1416960"/>
          </a:xfrm>
          <a:prstGeom prst="roundRect">
            <a:avLst>
              <a:gd name="adj" fmla="val 12000"/>
            </a:avLst>
          </a:prstGeom>
          <a:solidFill>
            <a:srgbClr val="0c2a34"/>
          </a:solidFill>
          <a:ln>
            <a:solidFill>
              <a:srgbClr val="2a5963"/>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93" name="TextBox 16"/>
          <p:cNvSpPr/>
          <p:nvPr/>
        </p:nvSpPr>
        <p:spPr>
          <a:xfrm>
            <a:off x="8385120" y="2476800"/>
            <a:ext cx="411120" cy="423000"/>
          </a:xfrm>
          <a:prstGeom prst="rect">
            <a:avLst/>
          </a:prstGeom>
          <a:noFill/>
          <a:ln w="0">
            <a:noFill/>
          </a:ln>
        </p:spPr>
        <p:style>
          <a:lnRef idx="0"/>
          <a:fillRef idx="0"/>
          <a:effectRef idx="0"/>
          <a:fontRef idx="minor"/>
        </p:style>
        <p:txBody>
          <a:bodyPr lIns="36720" rIns="36720" tIns="36720" bIns="36720" anchor="ctr">
            <a:spAutoFit/>
          </a:bodyPr>
          <a:p>
            <a:pPr algn="ctr" defTabSz="457200">
              <a:lnSpc>
                <a:spcPct val="100000"/>
              </a:lnSpc>
            </a:pPr>
            <a:r>
              <a:rPr b="1" lang="en-US" sz="2300" spc="-1" strike="noStrike">
                <a:solidFill>
                  <a:srgbClr val="d39d4c"/>
                </a:solidFill>
                <a:latin typeface="Aptos"/>
              </a:rPr>
              <a:t>◐</a:t>
            </a:r>
            <a:endParaRPr b="0" lang="en-US" sz="2300" spc="-1" strike="noStrike">
              <a:solidFill>
                <a:srgbClr val="ffffff"/>
              </a:solidFill>
              <a:latin typeface="Arial"/>
            </a:endParaRPr>
          </a:p>
        </p:txBody>
      </p:sp>
      <p:sp>
        <p:nvSpPr>
          <p:cNvPr id="194" name="TextBox 17"/>
          <p:cNvSpPr/>
          <p:nvPr/>
        </p:nvSpPr>
        <p:spPr>
          <a:xfrm>
            <a:off x="8869680" y="2514600"/>
            <a:ext cx="2559960" cy="30168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b="1" lang="en-US" sz="1500" spc="-1" strike="noStrike">
                <a:solidFill>
                  <a:srgbClr val="eff7f7"/>
                </a:solidFill>
                <a:latin typeface="Aptos"/>
              </a:rPr>
              <a:t>Transparent output</a:t>
            </a:r>
            <a:endParaRPr b="0" lang="en-US" sz="1500" spc="-1" strike="noStrike">
              <a:solidFill>
                <a:srgbClr val="ffffff"/>
              </a:solidFill>
              <a:latin typeface="Arial"/>
            </a:endParaRPr>
          </a:p>
        </p:txBody>
      </p:sp>
      <p:sp>
        <p:nvSpPr>
          <p:cNvPr id="195" name="TextBox 18"/>
          <p:cNvSpPr/>
          <p:nvPr/>
        </p:nvSpPr>
        <p:spPr>
          <a:xfrm>
            <a:off x="8412480" y="2990160"/>
            <a:ext cx="2971440" cy="40860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b="0" lang="en-US" sz="1100" spc="-1" strike="noStrike">
                <a:solidFill>
                  <a:srgbClr val="a6c2c6"/>
                </a:solidFill>
                <a:latin typeface="Aptos"/>
              </a:rPr>
              <a:t>Measured, simulated, estimated, and predicted values are clearly distinguished.</a:t>
            </a:r>
            <a:endParaRPr b="0" lang="en-US" sz="1100" spc="-1" strike="noStrike">
              <a:solidFill>
                <a:srgbClr val="ffffff"/>
              </a:solidFill>
              <a:latin typeface="Arial"/>
            </a:endParaRPr>
          </a:p>
        </p:txBody>
      </p:sp>
      <p:sp>
        <p:nvSpPr>
          <p:cNvPr id="196" name="Rounded Rectangle 19"/>
          <p:cNvSpPr/>
          <p:nvPr/>
        </p:nvSpPr>
        <p:spPr>
          <a:xfrm>
            <a:off x="1097280" y="4251960"/>
            <a:ext cx="10012320" cy="1234080"/>
          </a:xfrm>
          <a:prstGeom prst="roundRect">
            <a:avLst>
              <a:gd name="adj" fmla="val 12000"/>
            </a:avLst>
          </a:prstGeom>
          <a:solidFill>
            <a:srgbClr val="0f3640"/>
          </a:solidFill>
          <a:ln>
            <a:solidFill>
              <a:srgbClr val="58bec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197" name="TextBox 20"/>
          <p:cNvSpPr/>
          <p:nvPr/>
        </p:nvSpPr>
        <p:spPr>
          <a:xfrm>
            <a:off x="1417320" y="4348080"/>
            <a:ext cx="9372240" cy="1032840"/>
          </a:xfrm>
          <a:prstGeom prst="rect">
            <a:avLst/>
          </a:prstGeom>
          <a:noFill/>
          <a:ln w="0">
            <a:noFill/>
          </a:ln>
        </p:spPr>
        <p:style>
          <a:lnRef idx="0"/>
          <a:fillRef idx="0"/>
          <a:effectRef idx="0"/>
          <a:fontRef idx="minor"/>
        </p:style>
        <p:txBody>
          <a:bodyPr lIns="36720" rIns="36720" tIns="36720" bIns="36720" anchor="ctr">
            <a:spAutoFit/>
          </a:bodyPr>
          <a:p>
            <a:pPr algn="ctr" defTabSz="457200">
              <a:lnSpc>
                <a:spcPct val="100000"/>
              </a:lnSpc>
            </a:pPr>
            <a:r>
              <a:rPr b="1" lang="en-US" sz="2100" spc="-1" strike="noStrike">
                <a:solidFill>
                  <a:srgbClr val="eff7f7"/>
                </a:solidFill>
                <a:latin typeface="Aptos"/>
              </a:rPr>
              <a:t>FALCON's novelty is the validated integration and local adaptation of sensing, edge computing, energy, prediction, and protection subsystems.</a:t>
            </a:r>
            <a:endParaRPr b="0" lang="en-US" sz="2100" spc="-1" strike="noStrike">
              <a:solidFill>
                <a:srgbClr val="ffffff"/>
              </a:solidFill>
              <a:latin typeface="Arial"/>
            </a:endParaRPr>
          </a:p>
        </p:txBody>
      </p:sp>
      <p:sp>
        <p:nvSpPr>
          <p:cNvPr id="198" name="TextBox 21"/>
          <p:cNvSpPr/>
          <p:nvPr/>
        </p:nvSpPr>
        <p:spPr>
          <a:xfrm>
            <a:off x="502920" y="6537960"/>
            <a:ext cx="6400440" cy="19476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b="1" lang="en-US" sz="800" spc="-1" strike="noStrike">
                <a:solidFill>
                  <a:srgbClr val="a6c2c6"/>
                </a:solidFill>
                <a:latin typeface="Aptos"/>
              </a:rPr>
              <a:t>PROJECT FALCON • FULLBRIGHT COLLEGE</a:t>
            </a:r>
            <a:endParaRPr b="0" lang="en-US" sz="800" spc="-1" strike="noStrike">
              <a:solidFill>
                <a:srgbClr val="ffffff"/>
              </a:solidFill>
              <a:latin typeface="Arial"/>
            </a:endParaRPr>
          </a:p>
        </p:txBody>
      </p:sp>
      <p:sp>
        <p:nvSpPr>
          <p:cNvPr id="199" name="TextBox 22"/>
          <p:cNvSpPr/>
          <p:nvPr/>
        </p:nvSpPr>
        <p:spPr>
          <a:xfrm>
            <a:off x="9144000" y="6537960"/>
            <a:ext cx="2514240" cy="194760"/>
          </a:xfrm>
          <a:prstGeom prst="rect">
            <a:avLst/>
          </a:prstGeom>
          <a:noFill/>
          <a:ln w="0">
            <a:noFill/>
          </a:ln>
        </p:spPr>
        <p:style>
          <a:lnRef idx="0"/>
          <a:fillRef idx="0"/>
          <a:effectRef idx="0"/>
          <a:fontRef idx="minor"/>
        </p:style>
        <p:txBody>
          <a:bodyPr lIns="36720" rIns="36720" tIns="36720" bIns="36720" anchor="t">
            <a:spAutoFit/>
          </a:bodyPr>
          <a:p>
            <a:pPr algn="r" defTabSz="457200">
              <a:lnSpc>
                <a:spcPct val="100000"/>
              </a:lnSpc>
            </a:pPr>
            <a:r>
              <a:rPr b="1" lang="en-US" sz="800" spc="-1" strike="noStrike">
                <a:solidFill>
                  <a:srgbClr val="a6c2c6"/>
                </a:solidFill>
                <a:latin typeface="Aptos"/>
              </a:rPr>
              <a:t>DOST IDEA PRESENTATION</a:t>
            </a:r>
            <a:endParaRPr b="0" lang="en-US" sz="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51922"/>
        </a:solidFill>
      </p:bgPr>
    </p:bg>
    <p:spTree>
      <p:nvGrpSpPr>
        <p:cNvPr id="1" name=""/>
        <p:cNvGrpSpPr/>
        <p:nvPr/>
      </p:nvGrpSpPr>
      <p:grpSpPr>
        <a:xfrm>
          <a:off x="0" y="0"/>
          <a:ext cx="0" cy="0"/>
          <a:chOff x="0" y="0"/>
          <a:chExt cx="0" cy="0"/>
        </a:xfrm>
      </p:grpSpPr>
      <p:sp>
        <p:nvSpPr>
          <p:cNvPr id="200" name="Rectangle 1"/>
          <p:cNvSpPr/>
          <p:nvPr/>
        </p:nvSpPr>
        <p:spPr>
          <a:xfrm>
            <a:off x="0" y="0"/>
            <a:ext cx="12191400" cy="72720"/>
          </a:xfrm>
          <a:prstGeom prst="rect">
            <a:avLst/>
          </a:prstGeom>
          <a:solidFill>
            <a:srgbClr val="58bec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457200">
              <a:lnSpc>
                <a:spcPct val="100000"/>
              </a:lnSpc>
            </a:pPr>
            <a:endParaRPr b="0" lang="en-US" sz="1800" spc="-1" strike="noStrike">
              <a:solidFill>
                <a:schemeClr val="lt1"/>
              </a:solidFill>
              <a:latin typeface="Calibri"/>
            </a:endParaRPr>
          </a:p>
        </p:txBody>
      </p:sp>
      <p:sp>
        <p:nvSpPr>
          <p:cNvPr id="201" name="TextBox 2"/>
          <p:cNvSpPr/>
          <p:nvPr/>
        </p:nvSpPr>
        <p:spPr>
          <a:xfrm>
            <a:off x="502920" y="292680"/>
            <a:ext cx="8229240" cy="22572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b="1" lang="en-US" sz="1000" spc="-1" strike="noStrike">
                <a:solidFill>
                  <a:srgbClr val="58bec2"/>
                </a:solidFill>
                <a:latin typeface="Aptos"/>
              </a:rPr>
              <a:t>BENEFICIARIES</a:t>
            </a:r>
            <a:endParaRPr b="0" lang="en-US" sz="1000" spc="-1" strike="noStrike">
              <a:solidFill>
                <a:srgbClr val="ffffff"/>
              </a:solidFill>
              <a:latin typeface="Arial"/>
            </a:endParaRPr>
          </a:p>
        </p:txBody>
      </p:sp>
      <p:sp>
        <p:nvSpPr>
          <p:cNvPr id="202" name="TextBox 3"/>
          <p:cNvSpPr/>
          <p:nvPr/>
        </p:nvSpPr>
        <p:spPr>
          <a:xfrm>
            <a:off x="502920" y="603360"/>
            <a:ext cx="10698120" cy="48492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b="1" lang="en-US" sz="2700" spc="-1" strike="noStrike">
                <a:solidFill>
                  <a:srgbClr val="eff7f7"/>
                </a:solidFill>
                <a:latin typeface="Aptos"/>
              </a:rPr>
              <a:t>Start with one verified user and one pilot site</a:t>
            </a:r>
            <a:endParaRPr b="0" lang="en-US" sz="2700" spc="-1" strike="noStrike">
              <a:solidFill>
                <a:srgbClr val="ffffff"/>
              </a:solidFill>
              <a:latin typeface="Arial"/>
            </a:endParaRPr>
          </a:p>
        </p:txBody>
      </p:sp>
      <p:sp>
        <p:nvSpPr>
          <p:cNvPr id="203" name="TextBox 4"/>
          <p:cNvSpPr/>
          <p:nvPr/>
        </p:nvSpPr>
        <p:spPr>
          <a:xfrm>
            <a:off x="11201400" y="347400"/>
            <a:ext cx="456840" cy="240840"/>
          </a:xfrm>
          <a:prstGeom prst="rect">
            <a:avLst/>
          </a:prstGeom>
          <a:noFill/>
          <a:ln w="0">
            <a:noFill/>
          </a:ln>
        </p:spPr>
        <p:style>
          <a:lnRef idx="0"/>
          <a:fillRef idx="0"/>
          <a:effectRef idx="0"/>
          <a:fontRef idx="minor"/>
        </p:style>
        <p:txBody>
          <a:bodyPr lIns="36720" rIns="36720" tIns="36720" bIns="36720" anchor="t">
            <a:spAutoFit/>
          </a:bodyPr>
          <a:p>
            <a:pPr algn="r" defTabSz="457200">
              <a:lnSpc>
                <a:spcPct val="100000"/>
              </a:lnSpc>
            </a:pPr>
            <a:r>
              <a:rPr b="1" lang="en-US" sz="1100" spc="-1" strike="noStrike">
                <a:solidFill>
                  <a:srgbClr val="a6c2c6"/>
                </a:solidFill>
                <a:latin typeface="Aptos"/>
              </a:rPr>
              <a:t>10</a:t>
            </a:r>
            <a:endParaRPr b="0" lang="en-US" sz="1100" spc="-1" strike="noStrike">
              <a:solidFill>
                <a:srgbClr val="ffffff"/>
              </a:solidFill>
              <a:latin typeface="Arial"/>
            </a:endParaRPr>
          </a:p>
        </p:txBody>
      </p:sp>
      <p:sp>
        <p:nvSpPr>
          <p:cNvPr id="204" name="Rectangle 5"/>
          <p:cNvSpPr/>
          <p:nvPr/>
        </p:nvSpPr>
        <p:spPr>
          <a:xfrm>
            <a:off x="502920" y="1188720"/>
            <a:ext cx="11155320" cy="13320"/>
          </a:xfrm>
          <a:prstGeom prst="rect">
            <a:avLst/>
          </a:prstGeom>
          <a:solidFill>
            <a:srgbClr val="29515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1320" bIns="-31320" anchor="ctr">
            <a:noAutofit/>
          </a:bodyPr>
          <a:p>
            <a:pPr algn="ctr" defTabSz="457200">
              <a:lnSpc>
                <a:spcPct val="100000"/>
              </a:lnSpc>
            </a:pPr>
            <a:endParaRPr b="0" lang="en-US" sz="1800" spc="-1" strike="noStrike">
              <a:solidFill>
                <a:schemeClr val="lt1"/>
              </a:solidFill>
              <a:latin typeface="Calibri"/>
            </a:endParaRPr>
          </a:p>
        </p:txBody>
      </p:sp>
      <p:sp>
        <p:nvSpPr>
          <p:cNvPr id="205" name="Rounded Rectangle 6"/>
          <p:cNvSpPr/>
          <p:nvPr/>
        </p:nvSpPr>
        <p:spPr>
          <a:xfrm>
            <a:off x="594360" y="1508760"/>
            <a:ext cx="5284800" cy="1535760"/>
          </a:xfrm>
          <a:prstGeom prst="roundRect">
            <a:avLst>
              <a:gd name="adj" fmla="val 12000"/>
            </a:avLst>
          </a:prstGeom>
          <a:solidFill>
            <a:srgbClr val="0c2a34"/>
          </a:solidFill>
          <a:ln>
            <a:solidFill>
              <a:srgbClr val="2a5963"/>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06" name="TextBox 7"/>
          <p:cNvSpPr/>
          <p:nvPr/>
        </p:nvSpPr>
        <p:spPr>
          <a:xfrm>
            <a:off x="795600" y="1653840"/>
            <a:ext cx="411120" cy="423000"/>
          </a:xfrm>
          <a:prstGeom prst="rect">
            <a:avLst/>
          </a:prstGeom>
          <a:noFill/>
          <a:ln w="0">
            <a:noFill/>
          </a:ln>
        </p:spPr>
        <p:style>
          <a:lnRef idx="0"/>
          <a:fillRef idx="0"/>
          <a:effectRef idx="0"/>
          <a:fontRef idx="minor"/>
        </p:style>
        <p:txBody>
          <a:bodyPr lIns="36720" rIns="36720" tIns="36720" bIns="36720" anchor="ctr">
            <a:spAutoFit/>
          </a:bodyPr>
          <a:p>
            <a:pPr algn="ctr" defTabSz="457200">
              <a:lnSpc>
                <a:spcPct val="100000"/>
              </a:lnSpc>
            </a:pPr>
            <a:r>
              <a:rPr b="1" lang="en-US" sz="2300" spc="-1" strike="noStrike">
                <a:solidFill>
                  <a:srgbClr val="58bec2"/>
                </a:solidFill>
                <a:latin typeface="Aptos"/>
              </a:rPr>
              <a:t>⚓</a:t>
            </a:r>
            <a:endParaRPr b="0" lang="en-US" sz="2300" spc="-1" strike="noStrike">
              <a:solidFill>
                <a:srgbClr val="ffffff"/>
              </a:solidFill>
              <a:latin typeface="Arial"/>
            </a:endParaRPr>
          </a:p>
        </p:txBody>
      </p:sp>
      <p:sp>
        <p:nvSpPr>
          <p:cNvPr id="207" name="TextBox 8"/>
          <p:cNvSpPr/>
          <p:nvPr/>
        </p:nvSpPr>
        <p:spPr>
          <a:xfrm>
            <a:off x="1280160" y="1691640"/>
            <a:ext cx="4416120" cy="30168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b="1" lang="en-US" sz="1500" spc="-1" strike="noStrike">
                <a:solidFill>
                  <a:srgbClr val="eff7f7"/>
                </a:solidFill>
                <a:latin typeface="Aptos"/>
              </a:rPr>
              <a:t>Coastal LGU / DRRM</a:t>
            </a:r>
            <a:endParaRPr b="0" lang="en-US" sz="1500" spc="-1" strike="noStrike">
              <a:solidFill>
                <a:srgbClr val="ffffff"/>
              </a:solidFill>
              <a:latin typeface="Arial"/>
            </a:endParaRPr>
          </a:p>
        </p:txBody>
      </p:sp>
      <p:sp>
        <p:nvSpPr>
          <p:cNvPr id="208" name="TextBox 9"/>
          <p:cNvSpPr/>
          <p:nvPr/>
        </p:nvSpPr>
        <p:spPr>
          <a:xfrm>
            <a:off x="822960" y="2167200"/>
            <a:ext cx="4827600" cy="24084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b="0" lang="en-US" sz="1100" spc="-1" strike="noStrike">
                <a:solidFill>
                  <a:srgbClr val="a6c2c6"/>
                </a:solidFill>
                <a:latin typeface="Aptos"/>
              </a:rPr>
              <a:t>Localized observation history and equipment-status awareness.</a:t>
            </a:r>
            <a:endParaRPr b="0" lang="en-US" sz="1100" spc="-1" strike="noStrike">
              <a:solidFill>
                <a:srgbClr val="ffffff"/>
              </a:solidFill>
              <a:latin typeface="Arial"/>
            </a:endParaRPr>
          </a:p>
        </p:txBody>
      </p:sp>
      <p:sp>
        <p:nvSpPr>
          <p:cNvPr id="209" name="Rounded Rectangle 10"/>
          <p:cNvSpPr/>
          <p:nvPr/>
        </p:nvSpPr>
        <p:spPr>
          <a:xfrm>
            <a:off x="6217920" y="1508760"/>
            <a:ext cx="5284800" cy="1535760"/>
          </a:xfrm>
          <a:prstGeom prst="roundRect">
            <a:avLst>
              <a:gd name="adj" fmla="val 12000"/>
            </a:avLst>
          </a:prstGeom>
          <a:solidFill>
            <a:srgbClr val="0c2a34"/>
          </a:solidFill>
          <a:ln>
            <a:solidFill>
              <a:srgbClr val="2a5963"/>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10" name="TextBox 11"/>
          <p:cNvSpPr/>
          <p:nvPr/>
        </p:nvSpPr>
        <p:spPr>
          <a:xfrm>
            <a:off x="6419160" y="1653840"/>
            <a:ext cx="411120" cy="423000"/>
          </a:xfrm>
          <a:prstGeom prst="rect">
            <a:avLst/>
          </a:prstGeom>
          <a:noFill/>
          <a:ln w="0">
            <a:noFill/>
          </a:ln>
        </p:spPr>
        <p:style>
          <a:lnRef idx="0"/>
          <a:fillRef idx="0"/>
          <a:effectRef idx="0"/>
          <a:fontRef idx="minor"/>
        </p:style>
        <p:txBody>
          <a:bodyPr lIns="36720" rIns="36720" tIns="36720" bIns="36720" anchor="ctr">
            <a:spAutoFit/>
          </a:bodyPr>
          <a:p>
            <a:pPr algn="ctr" defTabSz="457200">
              <a:lnSpc>
                <a:spcPct val="100000"/>
              </a:lnSpc>
            </a:pPr>
            <a:r>
              <a:rPr b="1" lang="en-US" sz="2300" spc="-1" strike="noStrike">
                <a:solidFill>
                  <a:srgbClr val="70cbd3"/>
                </a:solidFill>
                <a:latin typeface="Aptos"/>
              </a:rPr>
              <a:t>◒</a:t>
            </a:r>
            <a:endParaRPr b="0" lang="en-US" sz="2300" spc="-1" strike="noStrike">
              <a:solidFill>
                <a:srgbClr val="ffffff"/>
              </a:solidFill>
              <a:latin typeface="Arial"/>
            </a:endParaRPr>
          </a:p>
        </p:txBody>
      </p:sp>
      <p:sp>
        <p:nvSpPr>
          <p:cNvPr id="211" name="TextBox 12"/>
          <p:cNvSpPr/>
          <p:nvPr/>
        </p:nvSpPr>
        <p:spPr>
          <a:xfrm>
            <a:off x="6903720" y="1691640"/>
            <a:ext cx="4416120" cy="30168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b="1" lang="en-US" sz="1500" spc="-1" strike="noStrike">
                <a:solidFill>
                  <a:srgbClr val="eff7f7"/>
                </a:solidFill>
                <a:latin typeface="Aptos"/>
              </a:rPr>
              <a:t>Fisherfolk / small craft</a:t>
            </a:r>
            <a:endParaRPr b="0" lang="en-US" sz="1500" spc="-1" strike="noStrike">
              <a:solidFill>
                <a:srgbClr val="ffffff"/>
              </a:solidFill>
              <a:latin typeface="Arial"/>
            </a:endParaRPr>
          </a:p>
        </p:txBody>
      </p:sp>
      <p:sp>
        <p:nvSpPr>
          <p:cNvPr id="212" name="TextBox 13"/>
          <p:cNvSpPr/>
          <p:nvPr/>
        </p:nvSpPr>
        <p:spPr>
          <a:xfrm>
            <a:off x="6446520" y="2167200"/>
            <a:ext cx="4827600" cy="24084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b="0" lang="en-US" sz="1100" spc="-1" strike="noStrike">
                <a:solidFill>
                  <a:srgbClr val="a6c2c6"/>
                </a:solidFill>
                <a:latin typeface="Aptos"/>
              </a:rPr>
              <a:t>Accessible near-shore information for a defined use case.</a:t>
            </a:r>
            <a:endParaRPr b="0" lang="en-US" sz="1100" spc="-1" strike="noStrike">
              <a:solidFill>
                <a:srgbClr val="ffffff"/>
              </a:solidFill>
              <a:latin typeface="Arial"/>
            </a:endParaRPr>
          </a:p>
        </p:txBody>
      </p:sp>
      <p:sp>
        <p:nvSpPr>
          <p:cNvPr id="213" name="Rounded Rectangle 14"/>
          <p:cNvSpPr/>
          <p:nvPr/>
        </p:nvSpPr>
        <p:spPr>
          <a:xfrm>
            <a:off x="594360" y="3383280"/>
            <a:ext cx="5284800" cy="1535760"/>
          </a:xfrm>
          <a:prstGeom prst="roundRect">
            <a:avLst>
              <a:gd name="adj" fmla="val 12000"/>
            </a:avLst>
          </a:prstGeom>
          <a:solidFill>
            <a:srgbClr val="0c2a34"/>
          </a:solidFill>
          <a:ln>
            <a:solidFill>
              <a:srgbClr val="2a5963"/>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14" name="TextBox 15"/>
          <p:cNvSpPr/>
          <p:nvPr/>
        </p:nvSpPr>
        <p:spPr>
          <a:xfrm>
            <a:off x="795600" y="3528360"/>
            <a:ext cx="411120" cy="423000"/>
          </a:xfrm>
          <a:prstGeom prst="rect">
            <a:avLst/>
          </a:prstGeom>
          <a:noFill/>
          <a:ln w="0">
            <a:noFill/>
          </a:ln>
        </p:spPr>
        <p:style>
          <a:lnRef idx="0"/>
          <a:fillRef idx="0"/>
          <a:effectRef idx="0"/>
          <a:fontRef idx="minor"/>
        </p:style>
        <p:txBody>
          <a:bodyPr lIns="36720" rIns="36720" tIns="36720" bIns="36720" anchor="ctr">
            <a:spAutoFit/>
          </a:bodyPr>
          <a:p>
            <a:pPr algn="ctr" defTabSz="457200">
              <a:lnSpc>
                <a:spcPct val="100000"/>
              </a:lnSpc>
            </a:pPr>
            <a:r>
              <a:rPr b="1" lang="en-US" sz="2300" spc="-1" strike="noStrike">
                <a:solidFill>
                  <a:srgbClr val="66be91"/>
                </a:solidFill>
                <a:latin typeface="Aptos"/>
              </a:rPr>
              <a:t>⌬</a:t>
            </a:r>
            <a:endParaRPr b="0" lang="en-US" sz="2300" spc="-1" strike="noStrike">
              <a:solidFill>
                <a:srgbClr val="ffffff"/>
              </a:solidFill>
              <a:latin typeface="Arial"/>
            </a:endParaRPr>
          </a:p>
        </p:txBody>
      </p:sp>
      <p:sp>
        <p:nvSpPr>
          <p:cNvPr id="215" name="TextBox 16"/>
          <p:cNvSpPr/>
          <p:nvPr/>
        </p:nvSpPr>
        <p:spPr>
          <a:xfrm>
            <a:off x="1280160" y="3566160"/>
            <a:ext cx="4416120" cy="30168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b="1" lang="en-US" sz="1500" spc="-1" strike="noStrike">
                <a:solidFill>
                  <a:srgbClr val="eff7f7"/>
                </a:solidFill>
                <a:latin typeface="Aptos"/>
              </a:rPr>
              <a:t>Schools / researchers</a:t>
            </a:r>
            <a:endParaRPr b="0" lang="en-US" sz="1500" spc="-1" strike="noStrike">
              <a:solidFill>
                <a:srgbClr val="ffffff"/>
              </a:solidFill>
              <a:latin typeface="Arial"/>
            </a:endParaRPr>
          </a:p>
        </p:txBody>
      </p:sp>
      <p:sp>
        <p:nvSpPr>
          <p:cNvPr id="216" name="TextBox 17"/>
          <p:cNvSpPr/>
          <p:nvPr/>
        </p:nvSpPr>
        <p:spPr>
          <a:xfrm>
            <a:off x="822960" y="4041720"/>
            <a:ext cx="4827600" cy="24084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b="0" lang="en-US" sz="1100" spc="-1" strike="noStrike">
                <a:solidFill>
                  <a:srgbClr val="a6c2c6"/>
                </a:solidFill>
                <a:latin typeface="Aptos"/>
              </a:rPr>
              <a:t>A reproducible platform and local dataset for future studies.</a:t>
            </a:r>
            <a:endParaRPr b="0" lang="en-US" sz="1100" spc="-1" strike="noStrike">
              <a:solidFill>
                <a:srgbClr val="ffffff"/>
              </a:solidFill>
              <a:latin typeface="Arial"/>
            </a:endParaRPr>
          </a:p>
        </p:txBody>
      </p:sp>
      <p:sp>
        <p:nvSpPr>
          <p:cNvPr id="217" name="Rounded Rectangle 18"/>
          <p:cNvSpPr/>
          <p:nvPr/>
        </p:nvSpPr>
        <p:spPr>
          <a:xfrm>
            <a:off x="6217920" y="3383280"/>
            <a:ext cx="5284800" cy="1535760"/>
          </a:xfrm>
          <a:prstGeom prst="roundRect">
            <a:avLst>
              <a:gd name="adj" fmla="val 12000"/>
            </a:avLst>
          </a:prstGeom>
          <a:solidFill>
            <a:srgbClr val="0c2a34"/>
          </a:solidFill>
          <a:ln>
            <a:solidFill>
              <a:srgbClr val="2a5963"/>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18" name="TextBox 19"/>
          <p:cNvSpPr/>
          <p:nvPr/>
        </p:nvSpPr>
        <p:spPr>
          <a:xfrm>
            <a:off x="6419160" y="3528360"/>
            <a:ext cx="411120" cy="423000"/>
          </a:xfrm>
          <a:prstGeom prst="rect">
            <a:avLst/>
          </a:prstGeom>
          <a:noFill/>
          <a:ln w="0">
            <a:noFill/>
          </a:ln>
        </p:spPr>
        <p:style>
          <a:lnRef idx="0"/>
          <a:fillRef idx="0"/>
          <a:effectRef idx="0"/>
          <a:fontRef idx="minor"/>
        </p:style>
        <p:txBody>
          <a:bodyPr lIns="36720" rIns="36720" tIns="36720" bIns="36720" anchor="ctr">
            <a:spAutoFit/>
          </a:bodyPr>
          <a:p>
            <a:pPr algn="ctr" defTabSz="457200">
              <a:lnSpc>
                <a:spcPct val="100000"/>
              </a:lnSpc>
            </a:pPr>
            <a:r>
              <a:rPr b="1" lang="en-US" sz="2300" spc="-1" strike="noStrike">
                <a:solidFill>
                  <a:srgbClr val="d39d4c"/>
                </a:solidFill>
                <a:latin typeface="Aptos"/>
              </a:rPr>
              <a:t>◎</a:t>
            </a:r>
            <a:endParaRPr b="0" lang="en-US" sz="2300" spc="-1" strike="noStrike">
              <a:solidFill>
                <a:srgbClr val="ffffff"/>
              </a:solidFill>
              <a:latin typeface="Arial"/>
            </a:endParaRPr>
          </a:p>
        </p:txBody>
      </p:sp>
      <p:sp>
        <p:nvSpPr>
          <p:cNvPr id="219" name="TextBox 20"/>
          <p:cNvSpPr/>
          <p:nvPr/>
        </p:nvSpPr>
        <p:spPr>
          <a:xfrm>
            <a:off x="6903720" y="3566160"/>
            <a:ext cx="4416120" cy="30168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b="1" lang="en-US" sz="1500" spc="-1" strike="noStrike">
                <a:solidFill>
                  <a:srgbClr val="eff7f7"/>
                </a:solidFill>
                <a:latin typeface="Aptos"/>
              </a:rPr>
              <a:t>Ports / tourism / NGOs</a:t>
            </a:r>
            <a:endParaRPr b="0" lang="en-US" sz="1500" spc="-1" strike="noStrike">
              <a:solidFill>
                <a:srgbClr val="ffffff"/>
              </a:solidFill>
              <a:latin typeface="Arial"/>
            </a:endParaRPr>
          </a:p>
        </p:txBody>
      </p:sp>
      <p:sp>
        <p:nvSpPr>
          <p:cNvPr id="220" name="TextBox 21"/>
          <p:cNvSpPr/>
          <p:nvPr/>
        </p:nvSpPr>
        <p:spPr>
          <a:xfrm>
            <a:off x="6446520" y="4041720"/>
            <a:ext cx="4827600" cy="40860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b="0" lang="en-US" sz="1100" spc="-1" strike="noStrike">
                <a:solidFill>
                  <a:srgbClr val="a6c2c6"/>
                </a:solidFill>
                <a:latin typeface="Aptos"/>
              </a:rPr>
              <a:t>Potential monitoring support after validation and stakeholder confirmation.</a:t>
            </a:r>
            <a:endParaRPr b="0" lang="en-US" sz="1100" spc="-1" strike="noStrike">
              <a:solidFill>
                <a:srgbClr val="ffffff"/>
              </a:solidFill>
              <a:latin typeface="Arial"/>
            </a:endParaRPr>
          </a:p>
        </p:txBody>
      </p:sp>
      <p:sp>
        <p:nvSpPr>
          <p:cNvPr id="221" name="Rounded Rectangle 22"/>
          <p:cNvSpPr/>
          <p:nvPr/>
        </p:nvSpPr>
        <p:spPr>
          <a:xfrm>
            <a:off x="1234440" y="5413320"/>
            <a:ext cx="9738000" cy="502560"/>
          </a:xfrm>
          <a:prstGeom prst="roundRect">
            <a:avLst>
              <a:gd name="adj" fmla="val 12000"/>
            </a:avLst>
          </a:prstGeom>
          <a:solidFill>
            <a:srgbClr val="103a43"/>
          </a:solidFill>
          <a:ln>
            <a:solidFill>
              <a:srgbClr val="58bec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22" name="TextBox 23"/>
          <p:cNvSpPr/>
          <p:nvPr/>
        </p:nvSpPr>
        <p:spPr>
          <a:xfrm>
            <a:off x="1554480" y="5577840"/>
            <a:ext cx="9097920" cy="225720"/>
          </a:xfrm>
          <a:prstGeom prst="rect">
            <a:avLst/>
          </a:prstGeom>
          <a:noFill/>
          <a:ln w="0">
            <a:noFill/>
          </a:ln>
        </p:spPr>
        <p:style>
          <a:lnRef idx="0"/>
          <a:fillRef idx="0"/>
          <a:effectRef idx="0"/>
          <a:fontRef idx="minor"/>
        </p:style>
        <p:txBody>
          <a:bodyPr lIns="36720" rIns="36720" tIns="36720" bIns="36720" anchor="t">
            <a:spAutoFit/>
          </a:bodyPr>
          <a:p>
            <a:pPr algn="ctr" defTabSz="457200">
              <a:lnSpc>
                <a:spcPct val="100000"/>
              </a:lnSpc>
            </a:pPr>
            <a:r>
              <a:rPr b="1" lang="en-US" sz="1000" spc="-1" strike="noStrike">
                <a:solidFill>
                  <a:srgbClr val="eff7f7"/>
                </a:solidFill>
                <a:latin typeface="Aptos"/>
              </a:rPr>
              <a:t>PILOT PRINCIPLE: prove value for one stakeholder before expanding scope.</a:t>
            </a:r>
            <a:endParaRPr b="0" lang="en-US" sz="1000" spc="-1" strike="noStrike">
              <a:solidFill>
                <a:srgbClr val="ffffff"/>
              </a:solidFill>
              <a:latin typeface="Arial"/>
            </a:endParaRPr>
          </a:p>
        </p:txBody>
      </p:sp>
      <p:sp>
        <p:nvSpPr>
          <p:cNvPr id="223" name="TextBox 24"/>
          <p:cNvSpPr/>
          <p:nvPr/>
        </p:nvSpPr>
        <p:spPr>
          <a:xfrm>
            <a:off x="502920" y="6537960"/>
            <a:ext cx="6400440" cy="19476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b="1" lang="en-US" sz="800" spc="-1" strike="noStrike">
                <a:solidFill>
                  <a:srgbClr val="a6c2c6"/>
                </a:solidFill>
                <a:latin typeface="Aptos"/>
              </a:rPr>
              <a:t>PROJECT FALCON • FULLBRIGHT COLLEGE</a:t>
            </a:r>
            <a:endParaRPr b="0" lang="en-US" sz="800" spc="-1" strike="noStrike">
              <a:solidFill>
                <a:srgbClr val="ffffff"/>
              </a:solidFill>
              <a:latin typeface="Arial"/>
            </a:endParaRPr>
          </a:p>
        </p:txBody>
      </p:sp>
      <p:sp>
        <p:nvSpPr>
          <p:cNvPr id="224" name="TextBox 25"/>
          <p:cNvSpPr/>
          <p:nvPr/>
        </p:nvSpPr>
        <p:spPr>
          <a:xfrm>
            <a:off x="9144000" y="6537960"/>
            <a:ext cx="2514240" cy="194760"/>
          </a:xfrm>
          <a:prstGeom prst="rect">
            <a:avLst/>
          </a:prstGeom>
          <a:noFill/>
          <a:ln w="0">
            <a:noFill/>
          </a:ln>
        </p:spPr>
        <p:style>
          <a:lnRef idx="0"/>
          <a:fillRef idx="0"/>
          <a:effectRef idx="0"/>
          <a:fontRef idx="minor"/>
        </p:style>
        <p:txBody>
          <a:bodyPr lIns="36720" rIns="36720" tIns="36720" bIns="36720" anchor="t">
            <a:spAutoFit/>
          </a:bodyPr>
          <a:p>
            <a:pPr algn="r" defTabSz="457200">
              <a:lnSpc>
                <a:spcPct val="100000"/>
              </a:lnSpc>
            </a:pPr>
            <a:r>
              <a:rPr b="1" lang="en-US" sz="800" spc="-1" strike="noStrike">
                <a:solidFill>
                  <a:srgbClr val="a6c2c6"/>
                </a:solidFill>
                <a:latin typeface="Aptos"/>
              </a:rPr>
              <a:t>DOST IDEA PRESENTATION</a:t>
            </a:r>
            <a:endParaRPr b="0" lang="en-US" sz="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51922"/>
        </a:solidFill>
      </p:bgPr>
    </p:bg>
    <p:spTree>
      <p:nvGrpSpPr>
        <p:cNvPr id="1" name=""/>
        <p:cNvGrpSpPr/>
        <p:nvPr/>
      </p:nvGrpSpPr>
      <p:grpSpPr>
        <a:xfrm>
          <a:off x="0" y="0"/>
          <a:ext cx="0" cy="0"/>
          <a:chOff x="0" y="0"/>
          <a:chExt cx="0" cy="0"/>
        </a:xfrm>
      </p:grpSpPr>
      <p:sp>
        <p:nvSpPr>
          <p:cNvPr id="225" name="Rectangle 1"/>
          <p:cNvSpPr/>
          <p:nvPr/>
        </p:nvSpPr>
        <p:spPr>
          <a:xfrm>
            <a:off x="0" y="0"/>
            <a:ext cx="12191400" cy="72720"/>
          </a:xfrm>
          <a:prstGeom prst="rect">
            <a:avLst/>
          </a:prstGeom>
          <a:solidFill>
            <a:srgbClr val="58bec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457200">
              <a:lnSpc>
                <a:spcPct val="100000"/>
              </a:lnSpc>
            </a:pPr>
            <a:endParaRPr b="0" lang="en-US" sz="1800" spc="-1" strike="noStrike">
              <a:solidFill>
                <a:schemeClr val="lt1"/>
              </a:solidFill>
              <a:latin typeface="Calibri"/>
            </a:endParaRPr>
          </a:p>
        </p:txBody>
      </p:sp>
      <p:sp>
        <p:nvSpPr>
          <p:cNvPr id="226" name="TextBox 2"/>
          <p:cNvSpPr/>
          <p:nvPr/>
        </p:nvSpPr>
        <p:spPr>
          <a:xfrm>
            <a:off x="502920" y="292680"/>
            <a:ext cx="8229240" cy="22572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b="1" lang="en-US" sz="1000" spc="-1" strike="noStrike">
                <a:solidFill>
                  <a:srgbClr val="58bec2"/>
                </a:solidFill>
                <a:latin typeface="Aptos"/>
              </a:rPr>
              <a:t>DEVELOPMENT PLAN</a:t>
            </a:r>
            <a:endParaRPr b="0" lang="en-US" sz="1000" spc="-1" strike="noStrike">
              <a:solidFill>
                <a:srgbClr val="ffffff"/>
              </a:solidFill>
              <a:latin typeface="Arial"/>
            </a:endParaRPr>
          </a:p>
        </p:txBody>
      </p:sp>
      <p:sp>
        <p:nvSpPr>
          <p:cNvPr id="227" name="TextBox 3"/>
          <p:cNvSpPr/>
          <p:nvPr/>
        </p:nvSpPr>
        <p:spPr>
          <a:xfrm>
            <a:off x="502920" y="603360"/>
            <a:ext cx="10698120" cy="48492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b="1" lang="en-US" sz="2700" spc="-1" strike="noStrike">
                <a:solidFill>
                  <a:srgbClr val="eff7f7"/>
                </a:solidFill>
                <a:latin typeface="Aptos"/>
              </a:rPr>
              <a:t>Build safely, collect evidence, then evaluate</a:t>
            </a:r>
            <a:endParaRPr b="0" lang="en-US" sz="2700" spc="-1" strike="noStrike">
              <a:solidFill>
                <a:srgbClr val="ffffff"/>
              </a:solidFill>
              <a:latin typeface="Arial"/>
            </a:endParaRPr>
          </a:p>
        </p:txBody>
      </p:sp>
      <p:sp>
        <p:nvSpPr>
          <p:cNvPr id="228" name="TextBox 4"/>
          <p:cNvSpPr/>
          <p:nvPr/>
        </p:nvSpPr>
        <p:spPr>
          <a:xfrm>
            <a:off x="11201400" y="347400"/>
            <a:ext cx="456840" cy="240840"/>
          </a:xfrm>
          <a:prstGeom prst="rect">
            <a:avLst/>
          </a:prstGeom>
          <a:noFill/>
          <a:ln w="0">
            <a:noFill/>
          </a:ln>
        </p:spPr>
        <p:style>
          <a:lnRef idx="0"/>
          <a:fillRef idx="0"/>
          <a:effectRef idx="0"/>
          <a:fontRef idx="minor"/>
        </p:style>
        <p:txBody>
          <a:bodyPr lIns="36720" rIns="36720" tIns="36720" bIns="36720" anchor="t">
            <a:spAutoFit/>
          </a:bodyPr>
          <a:p>
            <a:pPr algn="r" defTabSz="457200">
              <a:lnSpc>
                <a:spcPct val="100000"/>
              </a:lnSpc>
            </a:pPr>
            <a:r>
              <a:rPr b="1" lang="en-US" sz="1100" spc="-1" strike="noStrike">
                <a:solidFill>
                  <a:srgbClr val="a6c2c6"/>
                </a:solidFill>
                <a:latin typeface="Aptos"/>
              </a:rPr>
              <a:t>11</a:t>
            </a:r>
            <a:endParaRPr b="0" lang="en-US" sz="1100" spc="-1" strike="noStrike">
              <a:solidFill>
                <a:srgbClr val="ffffff"/>
              </a:solidFill>
              <a:latin typeface="Arial"/>
            </a:endParaRPr>
          </a:p>
        </p:txBody>
      </p:sp>
      <p:sp>
        <p:nvSpPr>
          <p:cNvPr id="229" name="Rectangle 5"/>
          <p:cNvSpPr/>
          <p:nvPr/>
        </p:nvSpPr>
        <p:spPr>
          <a:xfrm>
            <a:off x="502920" y="1188720"/>
            <a:ext cx="11155320" cy="13320"/>
          </a:xfrm>
          <a:prstGeom prst="rect">
            <a:avLst/>
          </a:prstGeom>
          <a:solidFill>
            <a:srgbClr val="29515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1320" bIns="-31320" anchor="ctr">
            <a:noAutofit/>
          </a:bodyPr>
          <a:p>
            <a:pPr algn="ctr" defTabSz="457200">
              <a:lnSpc>
                <a:spcPct val="100000"/>
              </a:lnSpc>
            </a:pPr>
            <a:endParaRPr b="0" lang="en-US" sz="1800" spc="-1" strike="noStrike">
              <a:solidFill>
                <a:schemeClr val="lt1"/>
              </a:solidFill>
              <a:latin typeface="Calibri"/>
            </a:endParaRPr>
          </a:p>
        </p:txBody>
      </p:sp>
      <p:pic>
        <p:nvPicPr>
          <p:cNvPr id="230" name="Picture 6" descr="development-roadmap.png"/>
          <p:cNvPicPr/>
          <p:nvPr/>
        </p:nvPicPr>
        <p:blipFill>
          <a:blip r:embed="rId1"/>
          <a:srcRect l="0" t="6781" r="0" b="6781"/>
          <a:stretch/>
        </p:blipFill>
        <p:spPr>
          <a:xfrm>
            <a:off x="502920" y="1417320"/>
            <a:ext cx="11155320" cy="4480200"/>
          </a:xfrm>
          <a:prstGeom prst="rect">
            <a:avLst/>
          </a:prstGeom>
          <a:ln w="0">
            <a:noFill/>
          </a:ln>
        </p:spPr>
      </p:pic>
      <p:sp>
        <p:nvSpPr>
          <p:cNvPr id="231" name="Rounded Rectangle 7"/>
          <p:cNvSpPr/>
          <p:nvPr/>
        </p:nvSpPr>
        <p:spPr>
          <a:xfrm>
            <a:off x="3749040" y="5870520"/>
            <a:ext cx="4708800" cy="438480"/>
          </a:xfrm>
          <a:prstGeom prst="roundRect">
            <a:avLst>
              <a:gd name="adj" fmla="val 12000"/>
            </a:avLst>
          </a:prstGeom>
          <a:solidFill>
            <a:srgbClr val="143e47"/>
          </a:solidFill>
          <a:ln>
            <a:solidFill>
              <a:srgbClr val="58bec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32" name="TextBox 8"/>
          <p:cNvSpPr/>
          <p:nvPr/>
        </p:nvSpPr>
        <p:spPr>
          <a:xfrm>
            <a:off x="3950280" y="6007680"/>
            <a:ext cx="4297320" cy="225720"/>
          </a:xfrm>
          <a:prstGeom prst="rect">
            <a:avLst/>
          </a:prstGeom>
          <a:noFill/>
          <a:ln w="0">
            <a:noFill/>
          </a:ln>
        </p:spPr>
        <p:style>
          <a:lnRef idx="0"/>
          <a:fillRef idx="0"/>
          <a:effectRef idx="0"/>
          <a:fontRef idx="minor"/>
        </p:style>
        <p:txBody>
          <a:bodyPr lIns="36720" rIns="36720" tIns="36720" bIns="36720" anchor="t">
            <a:spAutoFit/>
          </a:bodyPr>
          <a:p>
            <a:pPr algn="ctr" defTabSz="457200">
              <a:lnSpc>
                <a:spcPct val="100000"/>
              </a:lnSpc>
            </a:pPr>
            <a:r>
              <a:rPr b="1" lang="en-US" sz="1000" spc="-1" strike="noStrike">
                <a:solidFill>
                  <a:srgbClr val="eff7f7"/>
                </a:solidFill>
                <a:latin typeface="Aptos"/>
              </a:rPr>
              <a:t>ESTIMATED DEVELOPMENT: 8–12 MONTHS</a:t>
            </a:r>
            <a:endParaRPr b="0" lang="en-US" sz="1000" spc="-1" strike="noStrike">
              <a:solidFill>
                <a:srgbClr val="ffffff"/>
              </a:solidFill>
              <a:latin typeface="Arial"/>
            </a:endParaRPr>
          </a:p>
        </p:txBody>
      </p:sp>
      <p:sp>
        <p:nvSpPr>
          <p:cNvPr id="233" name="TextBox 9"/>
          <p:cNvSpPr/>
          <p:nvPr/>
        </p:nvSpPr>
        <p:spPr>
          <a:xfrm>
            <a:off x="502920" y="6537960"/>
            <a:ext cx="6400440" cy="19476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b="1" lang="en-US" sz="800" spc="-1" strike="noStrike">
                <a:solidFill>
                  <a:srgbClr val="a6c2c6"/>
                </a:solidFill>
                <a:latin typeface="Aptos"/>
              </a:rPr>
              <a:t>PROJECT FALCON • FULLBRIGHT COLLEGE</a:t>
            </a:r>
            <a:endParaRPr b="0" lang="en-US" sz="800" spc="-1" strike="noStrike">
              <a:solidFill>
                <a:srgbClr val="ffffff"/>
              </a:solidFill>
              <a:latin typeface="Arial"/>
            </a:endParaRPr>
          </a:p>
        </p:txBody>
      </p:sp>
      <p:sp>
        <p:nvSpPr>
          <p:cNvPr id="234" name="TextBox 10"/>
          <p:cNvSpPr/>
          <p:nvPr/>
        </p:nvSpPr>
        <p:spPr>
          <a:xfrm>
            <a:off x="9144000" y="6537960"/>
            <a:ext cx="2514240" cy="194760"/>
          </a:xfrm>
          <a:prstGeom prst="rect">
            <a:avLst/>
          </a:prstGeom>
          <a:noFill/>
          <a:ln w="0">
            <a:noFill/>
          </a:ln>
        </p:spPr>
        <p:style>
          <a:lnRef idx="0"/>
          <a:fillRef idx="0"/>
          <a:effectRef idx="0"/>
          <a:fontRef idx="minor"/>
        </p:style>
        <p:txBody>
          <a:bodyPr lIns="36720" rIns="36720" tIns="36720" bIns="36720" anchor="t">
            <a:spAutoFit/>
          </a:bodyPr>
          <a:p>
            <a:pPr algn="r" defTabSz="457200">
              <a:lnSpc>
                <a:spcPct val="100000"/>
              </a:lnSpc>
            </a:pPr>
            <a:r>
              <a:rPr b="1" lang="en-US" sz="800" spc="-1" strike="noStrike">
                <a:solidFill>
                  <a:srgbClr val="a6c2c6"/>
                </a:solidFill>
                <a:latin typeface="Aptos"/>
              </a:rPr>
              <a:t>DOST IDEA PRESENTATION</a:t>
            </a:r>
            <a:endParaRPr b="0" lang="en-US" sz="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51922"/>
        </a:solidFill>
      </p:bgPr>
    </p:bg>
    <p:spTree>
      <p:nvGrpSpPr>
        <p:cNvPr id="1" name=""/>
        <p:cNvGrpSpPr/>
        <p:nvPr/>
      </p:nvGrpSpPr>
      <p:grpSpPr>
        <a:xfrm>
          <a:off x="0" y="0"/>
          <a:ext cx="0" cy="0"/>
          <a:chOff x="0" y="0"/>
          <a:chExt cx="0" cy="0"/>
        </a:xfrm>
      </p:grpSpPr>
      <p:sp>
        <p:nvSpPr>
          <p:cNvPr id="235" name="Rectangle 1"/>
          <p:cNvSpPr/>
          <p:nvPr/>
        </p:nvSpPr>
        <p:spPr>
          <a:xfrm>
            <a:off x="0" y="0"/>
            <a:ext cx="12191400" cy="72720"/>
          </a:xfrm>
          <a:prstGeom prst="rect">
            <a:avLst/>
          </a:prstGeom>
          <a:solidFill>
            <a:srgbClr val="58bec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457200">
              <a:lnSpc>
                <a:spcPct val="100000"/>
              </a:lnSpc>
            </a:pPr>
            <a:endParaRPr b="0" lang="en-US" sz="1800" spc="-1" strike="noStrike">
              <a:solidFill>
                <a:schemeClr val="lt1"/>
              </a:solidFill>
              <a:latin typeface="Calibri"/>
            </a:endParaRPr>
          </a:p>
        </p:txBody>
      </p:sp>
      <p:sp>
        <p:nvSpPr>
          <p:cNvPr id="236" name="TextBox 2"/>
          <p:cNvSpPr/>
          <p:nvPr/>
        </p:nvSpPr>
        <p:spPr>
          <a:xfrm>
            <a:off x="502920" y="292680"/>
            <a:ext cx="8229240" cy="22572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b="1" lang="en-US" sz="1000" spc="-1" strike="noStrike">
                <a:solidFill>
                  <a:srgbClr val="58bec2"/>
                </a:solidFill>
                <a:latin typeface="Aptos"/>
              </a:rPr>
              <a:t>PRELIMINARY BUDGET</a:t>
            </a:r>
            <a:endParaRPr b="0" lang="en-US" sz="1000" spc="-1" strike="noStrike">
              <a:solidFill>
                <a:srgbClr val="ffffff"/>
              </a:solidFill>
              <a:latin typeface="Arial"/>
            </a:endParaRPr>
          </a:p>
        </p:txBody>
      </p:sp>
      <p:sp>
        <p:nvSpPr>
          <p:cNvPr id="237" name="TextBox 3"/>
          <p:cNvSpPr/>
          <p:nvPr/>
        </p:nvSpPr>
        <p:spPr>
          <a:xfrm>
            <a:off x="502920" y="603360"/>
            <a:ext cx="10698120" cy="48492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b="1" lang="en-US" sz="2700" spc="-1" strike="noStrike">
                <a:solidFill>
                  <a:srgbClr val="eff7f7"/>
                </a:solidFill>
                <a:latin typeface="Aptos"/>
              </a:rPr>
              <a:t>Funding supports the complete development process</a:t>
            </a:r>
            <a:endParaRPr b="0" lang="en-US" sz="2700" spc="-1" strike="noStrike">
              <a:solidFill>
                <a:srgbClr val="ffffff"/>
              </a:solidFill>
              <a:latin typeface="Arial"/>
            </a:endParaRPr>
          </a:p>
        </p:txBody>
      </p:sp>
      <p:sp>
        <p:nvSpPr>
          <p:cNvPr id="238" name="TextBox 4"/>
          <p:cNvSpPr/>
          <p:nvPr/>
        </p:nvSpPr>
        <p:spPr>
          <a:xfrm>
            <a:off x="11201400" y="347400"/>
            <a:ext cx="456840" cy="240840"/>
          </a:xfrm>
          <a:prstGeom prst="rect">
            <a:avLst/>
          </a:prstGeom>
          <a:noFill/>
          <a:ln w="0">
            <a:noFill/>
          </a:ln>
        </p:spPr>
        <p:style>
          <a:lnRef idx="0"/>
          <a:fillRef idx="0"/>
          <a:effectRef idx="0"/>
          <a:fontRef idx="minor"/>
        </p:style>
        <p:txBody>
          <a:bodyPr lIns="36720" rIns="36720" tIns="36720" bIns="36720" anchor="t">
            <a:spAutoFit/>
          </a:bodyPr>
          <a:p>
            <a:pPr algn="r" defTabSz="457200">
              <a:lnSpc>
                <a:spcPct val="100000"/>
              </a:lnSpc>
            </a:pPr>
            <a:r>
              <a:rPr b="1" lang="en-US" sz="1100" spc="-1" strike="noStrike">
                <a:solidFill>
                  <a:srgbClr val="a6c2c6"/>
                </a:solidFill>
                <a:latin typeface="Aptos"/>
              </a:rPr>
              <a:t>12</a:t>
            </a:r>
            <a:endParaRPr b="0" lang="en-US" sz="1100" spc="-1" strike="noStrike">
              <a:solidFill>
                <a:srgbClr val="ffffff"/>
              </a:solidFill>
              <a:latin typeface="Arial"/>
            </a:endParaRPr>
          </a:p>
        </p:txBody>
      </p:sp>
      <p:sp>
        <p:nvSpPr>
          <p:cNvPr id="239" name="Rectangle 5"/>
          <p:cNvSpPr/>
          <p:nvPr/>
        </p:nvSpPr>
        <p:spPr>
          <a:xfrm>
            <a:off x="502920" y="1188720"/>
            <a:ext cx="11155320" cy="13320"/>
          </a:xfrm>
          <a:prstGeom prst="rect">
            <a:avLst/>
          </a:prstGeom>
          <a:solidFill>
            <a:srgbClr val="29515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1320" bIns="-31320" anchor="ctr">
            <a:noAutofit/>
          </a:bodyPr>
          <a:p>
            <a:pPr algn="ctr" defTabSz="457200">
              <a:lnSpc>
                <a:spcPct val="100000"/>
              </a:lnSpc>
            </a:pPr>
            <a:endParaRPr b="0" lang="en-US" sz="1800" spc="-1" strike="noStrike">
              <a:solidFill>
                <a:schemeClr val="lt1"/>
              </a:solidFill>
              <a:latin typeface="Calibri"/>
            </a:endParaRPr>
          </a:p>
        </p:txBody>
      </p:sp>
      <p:pic>
        <p:nvPicPr>
          <p:cNvPr id="240" name="Picture 6" descr="funding-breakdown.png"/>
          <p:cNvPicPr/>
          <p:nvPr/>
        </p:nvPicPr>
        <p:blipFill>
          <a:blip r:embed="rId1"/>
          <a:srcRect l="0" t="7391" r="0" b="7391"/>
          <a:stretch/>
        </p:blipFill>
        <p:spPr>
          <a:xfrm>
            <a:off x="502920" y="1371600"/>
            <a:ext cx="11155320" cy="4891680"/>
          </a:xfrm>
          <a:prstGeom prst="rect">
            <a:avLst/>
          </a:prstGeom>
          <a:ln w="0">
            <a:noFill/>
          </a:ln>
        </p:spPr>
      </p:pic>
      <p:sp>
        <p:nvSpPr>
          <p:cNvPr id="241" name="TextBox 7"/>
          <p:cNvSpPr/>
          <p:nvPr/>
        </p:nvSpPr>
        <p:spPr>
          <a:xfrm>
            <a:off x="502920" y="6537960"/>
            <a:ext cx="6400440" cy="19476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b="1" lang="en-US" sz="800" spc="-1" strike="noStrike">
                <a:solidFill>
                  <a:srgbClr val="a6c2c6"/>
                </a:solidFill>
                <a:latin typeface="Aptos"/>
              </a:rPr>
              <a:t>PROJECT FALCON • FULLBRIGHT COLLEGE</a:t>
            </a:r>
            <a:endParaRPr b="0" lang="en-US" sz="800" spc="-1" strike="noStrike">
              <a:solidFill>
                <a:srgbClr val="ffffff"/>
              </a:solidFill>
              <a:latin typeface="Arial"/>
            </a:endParaRPr>
          </a:p>
        </p:txBody>
      </p:sp>
      <p:sp>
        <p:nvSpPr>
          <p:cNvPr id="242" name="TextBox 8"/>
          <p:cNvSpPr/>
          <p:nvPr/>
        </p:nvSpPr>
        <p:spPr>
          <a:xfrm>
            <a:off x="9144000" y="6537960"/>
            <a:ext cx="2514240" cy="194760"/>
          </a:xfrm>
          <a:prstGeom prst="rect">
            <a:avLst/>
          </a:prstGeom>
          <a:noFill/>
          <a:ln w="0">
            <a:noFill/>
          </a:ln>
        </p:spPr>
        <p:style>
          <a:lnRef idx="0"/>
          <a:fillRef idx="0"/>
          <a:effectRef idx="0"/>
          <a:fontRef idx="minor"/>
        </p:style>
        <p:txBody>
          <a:bodyPr lIns="36720" rIns="36720" tIns="36720" bIns="36720" anchor="t">
            <a:spAutoFit/>
          </a:bodyPr>
          <a:p>
            <a:pPr algn="r" defTabSz="457200">
              <a:lnSpc>
                <a:spcPct val="100000"/>
              </a:lnSpc>
            </a:pPr>
            <a:r>
              <a:rPr b="1" lang="en-US" sz="800" spc="-1" strike="noStrike">
                <a:solidFill>
                  <a:srgbClr val="a6c2c6"/>
                </a:solidFill>
                <a:latin typeface="Aptos"/>
              </a:rPr>
              <a:t>DOST IDEA PRESENTATION</a:t>
            </a:r>
            <a:endParaRPr b="0" lang="en-US" sz="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51922"/>
        </a:solidFill>
      </p:bgPr>
    </p:bg>
    <p:spTree>
      <p:nvGrpSpPr>
        <p:cNvPr id="1" name=""/>
        <p:cNvGrpSpPr/>
        <p:nvPr/>
      </p:nvGrpSpPr>
      <p:grpSpPr>
        <a:xfrm>
          <a:off x="0" y="0"/>
          <a:ext cx="0" cy="0"/>
          <a:chOff x="0" y="0"/>
          <a:chExt cx="0" cy="0"/>
        </a:xfrm>
      </p:grpSpPr>
      <p:sp>
        <p:nvSpPr>
          <p:cNvPr id="243" name="Rectangle 1"/>
          <p:cNvSpPr/>
          <p:nvPr/>
        </p:nvSpPr>
        <p:spPr>
          <a:xfrm>
            <a:off x="0" y="0"/>
            <a:ext cx="12191400" cy="72720"/>
          </a:xfrm>
          <a:prstGeom prst="rect">
            <a:avLst/>
          </a:prstGeom>
          <a:solidFill>
            <a:srgbClr val="58bec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457200">
              <a:lnSpc>
                <a:spcPct val="100000"/>
              </a:lnSpc>
            </a:pPr>
            <a:endParaRPr b="0" lang="en-US" sz="1800" spc="-1" strike="noStrike">
              <a:solidFill>
                <a:schemeClr val="lt1"/>
              </a:solidFill>
              <a:latin typeface="Calibri"/>
            </a:endParaRPr>
          </a:p>
        </p:txBody>
      </p:sp>
      <p:sp>
        <p:nvSpPr>
          <p:cNvPr id="244" name="TextBox 2"/>
          <p:cNvSpPr/>
          <p:nvPr/>
        </p:nvSpPr>
        <p:spPr>
          <a:xfrm>
            <a:off x="502920" y="292680"/>
            <a:ext cx="8229240" cy="22572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b="1" lang="en-US" sz="1000" spc="-1" strike="noStrike">
                <a:solidFill>
                  <a:srgbClr val="58bec2"/>
                </a:solidFill>
                <a:latin typeface="Aptos"/>
              </a:rPr>
              <a:t>EXPECTED RESULT + REQUEST</a:t>
            </a:r>
            <a:endParaRPr b="0" lang="en-US" sz="1000" spc="-1" strike="noStrike">
              <a:solidFill>
                <a:srgbClr val="ffffff"/>
              </a:solidFill>
              <a:latin typeface="Arial"/>
            </a:endParaRPr>
          </a:p>
        </p:txBody>
      </p:sp>
      <p:sp>
        <p:nvSpPr>
          <p:cNvPr id="245" name="TextBox 3"/>
          <p:cNvSpPr/>
          <p:nvPr/>
        </p:nvSpPr>
        <p:spPr>
          <a:xfrm>
            <a:off x="502920" y="603360"/>
            <a:ext cx="10698120" cy="48492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b="1" lang="en-US" sz="2700" spc="-1" strike="noStrike">
                <a:solidFill>
                  <a:srgbClr val="eff7f7"/>
                </a:solidFill>
                <a:latin typeface="Aptos"/>
              </a:rPr>
              <a:t>Turn the working concept into a validated physical prototype</a:t>
            </a:r>
            <a:endParaRPr b="0" lang="en-US" sz="2700" spc="-1" strike="noStrike">
              <a:solidFill>
                <a:srgbClr val="ffffff"/>
              </a:solidFill>
              <a:latin typeface="Arial"/>
            </a:endParaRPr>
          </a:p>
        </p:txBody>
      </p:sp>
      <p:sp>
        <p:nvSpPr>
          <p:cNvPr id="246" name="TextBox 4"/>
          <p:cNvSpPr/>
          <p:nvPr/>
        </p:nvSpPr>
        <p:spPr>
          <a:xfrm>
            <a:off x="11201400" y="347400"/>
            <a:ext cx="456840" cy="240840"/>
          </a:xfrm>
          <a:prstGeom prst="rect">
            <a:avLst/>
          </a:prstGeom>
          <a:noFill/>
          <a:ln w="0">
            <a:noFill/>
          </a:ln>
        </p:spPr>
        <p:style>
          <a:lnRef idx="0"/>
          <a:fillRef idx="0"/>
          <a:effectRef idx="0"/>
          <a:fontRef idx="minor"/>
        </p:style>
        <p:txBody>
          <a:bodyPr lIns="36720" rIns="36720" tIns="36720" bIns="36720" anchor="t">
            <a:spAutoFit/>
          </a:bodyPr>
          <a:p>
            <a:pPr algn="r" defTabSz="457200">
              <a:lnSpc>
                <a:spcPct val="100000"/>
              </a:lnSpc>
            </a:pPr>
            <a:r>
              <a:rPr b="1" lang="en-US" sz="1100" spc="-1" strike="noStrike">
                <a:solidFill>
                  <a:srgbClr val="a6c2c6"/>
                </a:solidFill>
                <a:latin typeface="Aptos"/>
              </a:rPr>
              <a:t>13</a:t>
            </a:r>
            <a:endParaRPr b="0" lang="en-US" sz="1100" spc="-1" strike="noStrike">
              <a:solidFill>
                <a:srgbClr val="ffffff"/>
              </a:solidFill>
              <a:latin typeface="Arial"/>
            </a:endParaRPr>
          </a:p>
        </p:txBody>
      </p:sp>
      <p:sp>
        <p:nvSpPr>
          <p:cNvPr id="247" name="Rectangle 5"/>
          <p:cNvSpPr/>
          <p:nvPr/>
        </p:nvSpPr>
        <p:spPr>
          <a:xfrm>
            <a:off x="502920" y="1188720"/>
            <a:ext cx="11155320" cy="13320"/>
          </a:xfrm>
          <a:prstGeom prst="rect">
            <a:avLst/>
          </a:prstGeom>
          <a:solidFill>
            <a:srgbClr val="29515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31320" bIns="-31320" anchor="ctr">
            <a:noAutofit/>
          </a:bodyPr>
          <a:p>
            <a:pPr algn="ctr" defTabSz="457200">
              <a:lnSpc>
                <a:spcPct val="100000"/>
              </a:lnSpc>
            </a:pPr>
            <a:endParaRPr b="0" lang="en-US" sz="1800" spc="-1" strike="noStrike">
              <a:solidFill>
                <a:schemeClr val="lt1"/>
              </a:solidFill>
              <a:latin typeface="Calibri"/>
            </a:endParaRPr>
          </a:p>
        </p:txBody>
      </p:sp>
      <p:pic>
        <p:nvPicPr>
          <p:cNvPr id="248" name="Picture 6" descr="falcon-concept-visualization.png"/>
          <p:cNvPicPr/>
          <p:nvPr/>
        </p:nvPicPr>
        <p:blipFill>
          <a:blip r:embed="rId1"/>
          <a:srcRect l="20896" t="0" r="20896" b="0"/>
          <a:stretch/>
        </p:blipFill>
        <p:spPr>
          <a:xfrm>
            <a:off x="502920" y="1389960"/>
            <a:ext cx="4708800" cy="4553280"/>
          </a:xfrm>
          <a:prstGeom prst="rect">
            <a:avLst/>
          </a:prstGeom>
          <a:ln w="0">
            <a:noFill/>
          </a:ln>
        </p:spPr>
      </p:pic>
      <p:sp>
        <p:nvSpPr>
          <p:cNvPr id="249" name="TextBox 7"/>
          <p:cNvSpPr/>
          <p:nvPr/>
        </p:nvSpPr>
        <p:spPr>
          <a:xfrm>
            <a:off x="676800" y="5696640"/>
            <a:ext cx="2194200" cy="19476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b="1" lang="en-US" sz="800" spc="-1" strike="noStrike">
                <a:solidFill>
                  <a:srgbClr val="eff7f7"/>
                </a:solidFill>
                <a:latin typeface="Aptos"/>
              </a:rPr>
              <a:t>CONCEPT VISUALIZATION</a:t>
            </a:r>
            <a:endParaRPr b="0" lang="en-US" sz="800" spc="-1" strike="noStrike">
              <a:solidFill>
                <a:srgbClr val="ffffff"/>
              </a:solidFill>
              <a:latin typeface="Arial"/>
            </a:endParaRPr>
          </a:p>
        </p:txBody>
      </p:sp>
      <p:sp>
        <p:nvSpPr>
          <p:cNvPr id="250" name="Rounded Rectangle 8"/>
          <p:cNvSpPr/>
          <p:nvPr/>
        </p:nvSpPr>
        <p:spPr>
          <a:xfrm>
            <a:off x="5532120" y="1389960"/>
            <a:ext cx="6126120" cy="2541600"/>
          </a:xfrm>
          <a:prstGeom prst="roundRect">
            <a:avLst>
              <a:gd name="adj" fmla="val 12000"/>
            </a:avLst>
          </a:prstGeom>
          <a:solidFill>
            <a:srgbClr val="0c2a34"/>
          </a:solidFill>
          <a:ln>
            <a:solidFill>
              <a:srgbClr val="2a5963"/>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51" name="TextBox 9"/>
          <p:cNvSpPr/>
          <p:nvPr/>
        </p:nvSpPr>
        <p:spPr>
          <a:xfrm>
            <a:off x="5733360" y="1535040"/>
            <a:ext cx="411120" cy="423000"/>
          </a:xfrm>
          <a:prstGeom prst="rect">
            <a:avLst/>
          </a:prstGeom>
          <a:noFill/>
          <a:ln w="0">
            <a:noFill/>
          </a:ln>
        </p:spPr>
        <p:style>
          <a:lnRef idx="0"/>
          <a:fillRef idx="0"/>
          <a:effectRef idx="0"/>
          <a:fontRef idx="minor"/>
        </p:style>
        <p:txBody>
          <a:bodyPr lIns="36720" rIns="36720" tIns="36720" bIns="36720" anchor="ctr">
            <a:spAutoFit/>
          </a:bodyPr>
          <a:p>
            <a:pPr algn="ctr" defTabSz="457200">
              <a:lnSpc>
                <a:spcPct val="100000"/>
              </a:lnSpc>
            </a:pPr>
            <a:r>
              <a:rPr b="1" lang="en-US" sz="2300" spc="-1" strike="noStrike">
                <a:solidFill>
                  <a:srgbClr val="58bec2"/>
                </a:solidFill>
                <a:latin typeface="Aptos"/>
              </a:rPr>
              <a:t>✓</a:t>
            </a:r>
            <a:endParaRPr b="0" lang="en-US" sz="2300" spc="-1" strike="noStrike">
              <a:solidFill>
                <a:srgbClr val="ffffff"/>
              </a:solidFill>
              <a:latin typeface="Arial"/>
            </a:endParaRPr>
          </a:p>
        </p:txBody>
      </p:sp>
      <p:sp>
        <p:nvSpPr>
          <p:cNvPr id="252" name="TextBox 10"/>
          <p:cNvSpPr/>
          <p:nvPr/>
        </p:nvSpPr>
        <p:spPr>
          <a:xfrm>
            <a:off x="6217920" y="1572840"/>
            <a:ext cx="5257440" cy="30168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b="1" lang="en-US" sz="1500" spc="-1" strike="noStrike">
                <a:solidFill>
                  <a:srgbClr val="eff7f7"/>
                </a:solidFill>
                <a:latin typeface="Aptos"/>
              </a:rPr>
              <a:t>Deliverables</a:t>
            </a:r>
            <a:endParaRPr b="0" lang="en-US" sz="1500" spc="-1" strike="noStrike">
              <a:solidFill>
                <a:srgbClr val="ffffff"/>
              </a:solidFill>
              <a:latin typeface="Arial"/>
            </a:endParaRPr>
          </a:p>
        </p:txBody>
      </p:sp>
      <p:sp>
        <p:nvSpPr>
          <p:cNvPr id="253" name="TextBox 11"/>
          <p:cNvSpPr/>
          <p:nvPr/>
        </p:nvSpPr>
        <p:spPr>
          <a:xfrm>
            <a:off x="5760720" y="2048400"/>
            <a:ext cx="5668920" cy="107964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b="0" lang="en-US" sz="1100" spc="-1" strike="noStrike">
                <a:solidFill>
                  <a:srgbClr val="a6c2c6"/>
                </a:solidFill>
                <a:latin typeface="Aptos"/>
              </a:rPr>
              <a:t>Integrated physical prototype</a:t>
            </a:r>
            <a:br>
              <a:rPr sz="1100"/>
            </a:br>
            <a:r>
              <a:rPr b="0" lang="en-US" sz="1100" spc="-1" strike="noStrike">
                <a:solidFill>
                  <a:srgbClr val="a6c2c6"/>
                </a:solidFill>
                <a:latin typeface="Aptos"/>
              </a:rPr>
              <a:t>Calibrated sensing and power</a:t>
            </a:r>
            <a:br>
              <a:rPr sz="1100"/>
            </a:br>
            <a:r>
              <a:rPr b="0" lang="en-US" sz="1100" spc="-1" strike="noStrike">
                <a:solidFill>
                  <a:srgbClr val="a6c2c6"/>
                </a:solidFill>
                <a:latin typeface="Aptos"/>
              </a:rPr>
              <a:t>Local dashboard and data archive</a:t>
            </a:r>
            <a:br>
              <a:rPr sz="1100"/>
            </a:br>
            <a:r>
              <a:rPr b="0" lang="en-US" sz="1100" spc="-1" strike="noStrike">
                <a:solidFill>
                  <a:srgbClr val="a6c2c6"/>
                </a:solidFill>
                <a:latin typeface="Aptos"/>
              </a:rPr>
              <a:t>Controlled + supervised coastal results</a:t>
            </a:r>
            <a:br>
              <a:rPr sz="1100"/>
            </a:br>
            <a:r>
              <a:rPr b="0" lang="en-US" sz="1100" spc="-1" strike="noStrike">
                <a:solidFill>
                  <a:srgbClr val="a6c2c6"/>
                </a:solidFill>
                <a:latin typeface="Aptos"/>
              </a:rPr>
              <a:t>Model-versus-baseline evaluation</a:t>
            </a:r>
            <a:br>
              <a:rPr sz="1100"/>
            </a:br>
            <a:r>
              <a:rPr b="0" lang="en-US" sz="1100" spc="-1" strike="noStrike">
                <a:solidFill>
                  <a:srgbClr val="a6c2c6"/>
                </a:solidFill>
                <a:latin typeface="Aptos"/>
              </a:rPr>
              <a:t>Reproducible technical documentation</a:t>
            </a:r>
            <a:endParaRPr b="0" lang="en-US" sz="1100" spc="-1" strike="noStrike">
              <a:solidFill>
                <a:srgbClr val="ffffff"/>
              </a:solidFill>
              <a:latin typeface="Arial"/>
            </a:endParaRPr>
          </a:p>
        </p:txBody>
      </p:sp>
      <p:sp>
        <p:nvSpPr>
          <p:cNvPr id="254" name="Rounded Rectangle 12"/>
          <p:cNvSpPr/>
          <p:nvPr/>
        </p:nvSpPr>
        <p:spPr>
          <a:xfrm>
            <a:off x="5532120" y="4133160"/>
            <a:ext cx="6126120" cy="1142640"/>
          </a:xfrm>
          <a:prstGeom prst="roundRect">
            <a:avLst>
              <a:gd name="adj" fmla="val 12000"/>
            </a:avLst>
          </a:prstGeom>
          <a:solidFill>
            <a:srgbClr val="0c2a34"/>
          </a:solidFill>
          <a:ln>
            <a:solidFill>
              <a:srgbClr val="2a5963"/>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457200">
              <a:lnSpc>
                <a:spcPct val="100000"/>
              </a:lnSpc>
            </a:pPr>
            <a:endParaRPr b="0" lang="en-US" sz="1800" spc="-1" strike="noStrike">
              <a:solidFill>
                <a:schemeClr val="lt1"/>
              </a:solidFill>
              <a:latin typeface="Calibri"/>
            </a:endParaRPr>
          </a:p>
        </p:txBody>
      </p:sp>
      <p:sp>
        <p:nvSpPr>
          <p:cNvPr id="255" name="TextBox 13"/>
          <p:cNvSpPr/>
          <p:nvPr/>
        </p:nvSpPr>
        <p:spPr>
          <a:xfrm>
            <a:off x="5733360" y="4278240"/>
            <a:ext cx="411120" cy="423000"/>
          </a:xfrm>
          <a:prstGeom prst="rect">
            <a:avLst/>
          </a:prstGeom>
          <a:noFill/>
          <a:ln w="0">
            <a:noFill/>
          </a:ln>
        </p:spPr>
        <p:style>
          <a:lnRef idx="0"/>
          <a:fillRef idx="0"/>
          <a:effectRef idx="0"/>
          <a:fontRef idx="minor"/>
        </p:style>
        <p:txBody>
          <a:bodyPr lIns="36720" rIns="36720" tIns="36720" bIns="36720" anchor="ctr">
            <a:spAutoFit/>
          </a:bodyPr>
          <a:p>
            <a:pPr algn="ctr" defTabSz="457200">
              <a:lnSpc>
                <a:spcPct val="100000"/>
              </a:lnSpc>
            </a:pPr>
            <a:r>
              <a:rPr b="1" lang="en-US" sz="2300" spc="-1" strike="noStrike">
                <a:solidFill>
                  <a:srgbClr val="d39d4c"/>
                </a:solidFill>
                <a:latin typeface="Aptos"/>
              </a:rPr>
              <a:t>→</a:t>
            </a:r>
            <a:endParaRPr b="0" lang="en-US" sz="2300" spc="-1" strike="noStrike">
              <a:solidFill>
                <a:srgbClr val="ffffff"/>
              </a:solidFill>
              <a:latin typeface="Arial"/>
            </a:endParaRPr>
          </a:p>
        </p:txBody>
      </p:sp>
      <p:sp>
        <p:nvSpPr>
          <p:cNvPr id="256" name="TextBox 14"/>
          <p:cNvSpPr/>
          <p:nvPr/>
        </p:nvSpPr>
        <p:spPr>
          <a:xfrm>
            <a:off x="6217920" y="4316040"/>
            <a:ext cx="5257440" cy="30168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b="1" lang="en-US" sz="1500" spc="-1" strike="noStrike">
                <a:solidFill>
                  <a:srgbClr val="eff7f7"/>
                </a:solidFill>
                <a:latin typeface="Aptos"/>
              </a:rPr>
              <a:t>Support requested</a:t>
            </a:r>
            <a:endParaRPr b="0" lang="en-US" sz="1500" spc="-1" strike="noStrike">
              <a:solidFill>
                <a:srgbClr val="ffffff"/>
              </a:solidFill>
              <a:latin typeface="Arial"/>
            </a:endParaRPr>
          </a:p>
        </p:txBody>
      </p:sp>
      <p:sp>
        <p:nvSpPr>
          <p:cNvPr id="257" name="TextBox 15"/>
          <p:cNvSpPr/>
          <p:nvPr/>
        </p:nvSpPr>
        <p:spPr>
          <a:xfrm>
            <a:off x="5760720" y="4791600"/>
            <a:ext cx="5668920" cy="40860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b="0" lang="en-US" sz="1100" spc="-1" strike="noStrike">
                <a:solidFill>
                  <a:srgbClr val="a6c2c6"/>
                </a:solidFill>
                <a:latin typeface="Aptos"/>
              </a:rPr>
              <a:t>Component procurement • fabrication • calibration access • supervised field testing • technical mentorship</a:t>
            </a:r>
            <a:endParaRPr b="0" lang="en-US" sz="1100" spc="-1" strike="noStrike">
              <a:solidFill>
                <a:srgbClr val="ffffff"/>
              </a:solidFill>
              <a:latin typeface="Arial"/>
            </a:endParaRPr>
          </a:p>
        </p:txBody>
      </p:sp>
      <p:sp>
        <p:nvSpPr>
          <p:cNvPr id="258" name="TextBox 16"/>
          <p:cNvSpPr/>
          <p:nvPr/>
        </p:nvSpPr>
        <p:spPr>
          <a:xfrm>
            <a:off x="5715000" y="5468040"/>
            <a:ext cx="5714640" cy="850680"/>
          </a:xfrm>
          <a:prstGeom prst="rect">
            <a:avLst/>
          </a:prstGeom>
          <a:noFill/>
          <a:ln w="0">
            <a:noFill/>
          </a:ln>
        </p:spPr>
        <p:style>
          <a:lnRef idx="0"/>
          <a:fillRef idx="0"/>
          <a:effectRef idx="0"/>
          <a:fontRef idx="minor"/>
        </p:style>
        <p:txBody>
          <a:bodyPr lIns="36720" rIns="36720" tIns="36720" bIns="36720" anchor="t">
            <a:spAutoFit/>
          </a:bodyPr>
          <a:p>
            <a:pPr algn="ctr" defTabSz="457200">
              <a:lnSpc>
                <a:spcPct val="100000"/>
              </a:lnSpc>
            </a:pPr>
            <a:r>
              <a:rPr b="1" lang="en-US" sz="1700" spc="-1" strike="noStrike">
                <a:solidFill>
                  <a:srgbClr val="eff7f7"/>
                </a:solidFill>
                <a:latin typeface="Aptos"/>
              </a:rPr>
              <a:t>We are asking for the opportunity to generate local evidence—not acceptance of an untested operational forecast.</a:t>
            </a:r>
            <a:endParaRPr b="0" lang="en-US" sz="1700" spc="-1" strike="noStrike">
              <a:solidFill>
                <a:srgbClr val="ffffff"/>
              </a:solidFill>
              <a:latin typeface="Arial"/>
            </a:endParaRPr>
          </a:p>
        </p:txBody>
      </p:sp>
      <p:sp>
        <p:nvSpPr>
          <p:cNvPr id="259" name="TextBox 17"/>
          <p:cNvSpPr/>
          <p:nvPr/>
        </p:nvSpPr>
        <p:spPr>
          <a:xfrm>
            <a:off x="502920" y="6537960"/>
            <a:ext cx="6400440" cy="194760"/>
          </a:xfrm>
          <a:prstGeom prst="rect">
            <a:avLst/>
          </a:prstGeom>
          <a:noFill/>
          <a:ln w="0">
            <a:noFill/>
          </a:ln>
        </p:spPr>
        <p:style>
          <a:lnRef idx="0"/>
          <a:fillRef idx="0"/>
          <a:effectRef idx="0"/>
          <a:fontRef idx="minor"/>
        </p:style>
        <p:txBody>
          <a:bodyPr lIns="36720" rIns="36720" tIns="36720" bIns="36720" anchor="t">
            <a:spAutoFit/>
          </a:bodyPr>
          <a:p>
            <a:pPr defTabSz="457200">
              <a:lnSpc>
                <a:spcPct val="100000"/>
              </a:lnSpc>
            </a:pPr>
            <a:r>
              <a:rPr b="1" lang="en-US" sz="800" spc="-1" strike="noStrike">
                <a:solidFill>
                  <a:srgbClr val="a6c2c6"/>
                </a:solidFill>
                <a:latin typeface="Aptos"/>
              </a:rPr>
              <a:t>PROJECT FALCON • FULLBRIGHT COLLEGE</a:t>
            </a:r>
            <a:endParaRPr b="0" lang="en-US" sz="800" spc="-1" strike="noStrike">
              <a:solidFill>
                <a:srgbClr val="ffffff"/>
              </a:solidFill>
              <a:latin typeface="Arial"/>
            </a:endParaRPr>
          </a:p>
        </p:txBody>
      </p:sp>
      <p:sp>
        <p:nvSpPr>
          <p:cNvPr id="260" name="TextBox 18"/>
          <p:cNvSpPr/>
          <p:nvPr/>
        </p:nvSpPr>
        <p:spPr>
          <a:xfrm>
            <a:off x="9144000" y="6537960"/>
            <a:ext cx="2514240" cy="194760"/>
          </a:xfrm>
          <a:prstGeom prst="rect">
            <a:avLst/>
          </a:prstGeom>
          <a:noFill/>
          <a:ln w="0">
            <a:noFill/>
          </a:ln>
        </p:spPr>
        <p:style>
          <a:lnRef idx="0"/>
          <a:fillRef idx="0"/>
          <a:effectRef idx="0"/>
          <a:fontRef idx="minor"/>
        </p:style>
        <p:txBody>
          <a:bodyPr lIns="36720" rIns="36720" tIns="36720" bIns="36720" anchor="t">
            <a:spAutoFit/>
          </a:bodyPr>
          <a:p>
            <a:pPr algn="r" defTabSz="457200">
              <a:lnSpc>
                <a:spcPct val="100000"/>
              </a:lnSpc>
            </a:pPr>
            <a:r>
              <a:rPr b="1" lang="en-US" sz="800" spc="-1" strike="noStrike">
                <a:solidFill>
                  <a:srgbClr val="a6c2c6"/>
                </a:solidFill>
                <a:latin typeface="Aptos"/>
              </a:rPr>
              <a:t>DOST IDEA PRESENTATION</a:t>
            </a:r>
            <a:endParaRPr b="0" lang="en-US" sz="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TotalTime>
  <Application>LibreOffice/24.2.7.2$Linux_X86_64 LibreOffice_project/420$Build-2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Project FALCON Research Group — Fullbright College</dc:creator>
  <dc:description>Concept visuals are illustrative. Dashboard values are simulated until physical validation.</dc:description>
  <dc:language>en-US</dc:language>
  <cp:lastModifiedBy/>
  <dcterms:modified xsi:type="dcterms:W3CDTF">2026-08-16T01:18:17Z</dcterms:modified>
  <cp:revision>2</cp:revision>
  <dc:subject>Funding proposal for a solar-powered smart coastal observation buoy</dc:subject>
  <dc:title>Project FALCON — DOST Idea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