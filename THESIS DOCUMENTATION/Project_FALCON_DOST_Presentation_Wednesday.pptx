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jpeg" ContentType="image/jpeg"/>
  <Override PartName="/ppt/media/image4.png" ContentType="image/png"/>
  <Override PartName="/ppt/media/image3.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8"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9"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70"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1"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127A57BE-AA54-457F-AD48-9E68D0C3857A}"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sldImg"/>
          </p:nvPr>
        </p:nvSpPr>
        <p:spPr>
          <a:xfrm>
            <a:off x="1143000" y="685800"/>
            <a:ext cx="4571640" cy="3428640"/>
          </a:xfrm>
          <a:prstGeom prst="rect">
            <a:avLst/>
          </a:prstGeom>
          <a:ln w="0">
            <a:noFill/>
          </a:ln>
        </p:spPr>
      </p:sp>
      <p:sp>
        <p:nvSpPr>
          <p:cNvPr id="26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Good day, everyone. We are the Project FALCON Research Group from Fullbright College. FALCON means an AI-powered Live Coastal Observation Network. It is our proposed affordable and solar-powered smart buoy for collecting localized coastal information. Today, we will show the problem we want to address, how the system is designed, what we have already developed, and what support we need to build and validate the physical prototype.</a:t>
            </a:r>
            <a:endParaRPr b="0" lang="en-US" sz="2000" spc="-1" strike="noStrike">
              <a:solidFill>
                <a:srgbClr val="000000"/>
              </a:solidFill>
              <a:latin typeface="Arial"/>
            </a:endParaRPr>
          </a:p>
        </p:txBody>
      </p:sp>
      <p:sp>
        <p:nvSpPr>
          <p:cNvPr id="263"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AD27FC-2E0C-4A7B-B376-3282C82CE5B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PlaceHolder 1"/>
          <p:cNvSpPr>
            <a:spLocks noGrp="1"/>
          </p:cNvSpPr>
          <p:nvPr>
            <p:ph type="sldImg"/>
          </p:nvPr>
        </p:nvSpPr>
        <p:spPr>
          <a:xfrm>
            <a:off x="1143000" y="685800"/>
            <a:ext cx="4571640" cy="3428640"/>
          </a:xfrm>
          <a:prstGeom prst="rect">
            <a:avLst/>
          </a:prstGeom>
          <a:ln w="0">
            <a:noFill/>
          </a:ln>
        </p:spPr>
      </p:sp>
      <p:sp>
        <p:nvSpPr>
          <p:cNvPr id="26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Official forecasts are important, and FALCON is not intended to replace them. The gap we are studying is affordable and site-specific observation. A wide-area forecast may not describe the exact condition at one near-shore research site, port, or small-boat launch area. Professional oceanographic equipment may also be difficult for a small school or local organization to purchase and maintain. Our research question is whether a modular and local-first buoy can provide useful observations at one defined Palawan pilot site at a manageable cost and complexity.</a:t>
            </a:r>
            <a:endParaRPr b="0" lang="en-US" sz="2000" spc="-1" strike="noStrike">
              <a:solidFill>
                <a:srgbClr val="000000"/>
              </a:solidFill>
              <a:latin typeface="Arial"/>
            </a:endParaRPr>
          </a:p>
        </p:txBody>
      </p:sp>
      <p:sp>
        <p:nvSpPr>
          <p:cNvPr id="266"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D700BD8-B4D8-4898-8E63-AC438FED08C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PlaceHolder 1"/>
          <p:cNvSpPr>
            <a:spLocks noGrp="1"/>
          </p:cNvSpPr>
          <p:nvPr>
            <p:ph type="sldImg"/>
          </p:nvPr>
        </p:nvSpPr>
        <p:spPr>
          <a:xfrm>
            <a:off x="1143000" y="685800"/>
            <a:ext cx="4571640" cy="3428640"/>
          </a:xfrm>
          <a:prstGeom prst="rect">
            <a:avLst/>
          </a:prstGeom>
          <a:ln w="0">
            <a:noFill/>
          </a:ln>
        </p:spPr>
      </p:sp>
      <p:sp>
        <p:nvSpPr>
          <p:cNvPr id="26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FALCON works in four simple stages. First, its sensors measure buoy motion, water pressure, wind, GPS position, temperature, battery, and solar condition. Second, the ESP32 repeatedly reads the sensors, while the Orange Pi stores and processes the information and hosts the local dashboard. Third, users can view current readings, history, equipment health, and abnormal-displacement alerts. Finally, after enough real field data are collected, we will train and evaluate a short-horizon wave-height model. The prediction shown today is a research feature and simulated demonstration, not yet a validated forecast.</a:t>
            </a:r>
            <a:endParaRPr b="0" lang="en-US" sz="2000" spc="-1" strike="noStrike">
              <a:solidFill>
                <a:srgbClr val="000000"/>
              </a:solidFill>
              <a:latin typeface="Arial"/>
            </a:endParaRPr>
          </a:p>
        </p:txBody>
      </p:sp>
      <p:sp>
        <p:nvSpPr>
          <p:cNvPr id="269"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2F762F6-C93D-4239-B204-45E89B636C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sldImg"/>
          </p:nvPr>
        </p:nvSpPr>
        <p:spPr>
          <a:xfrm>
            <a:off x="1143000" y="685800"/>
            <a:ext cx="4571640" cy="3428640"/>
          </a:xfrm>
          <a:prstGeom prst="rect">
            <a:avLst/>
          </a:prstGeom>
          <a:ln w="0">
            <a:noFill/>
          </a:ln>
        </p:spPr>
      </p:sp>
      <p:sp>
        <p:nvSpPr>
          <p:cNvPr id="27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This image focuses on the above-water assembly. At the top, the wind sensor, GPS, and antennas need clear exposure. Below them, the solar panels are attached to a cross-braced tower, with cables routed through protected paths. The large upper electronics pod is the dry service area for the Orange Pi, ESP32, storage, interface boards, and power monitors. The BNO085 motion sensor should be fixed to the rigid central structure so its movement represents the buoy and not a loose panel. At the bottom is the cylindrical main float, whose waterline and freeboard still need to be verified through physical testing.</a:t>
            </a:r>
            <a:endParaRPr b="0" lang="en-US" sz="2000" spc="-1" strike="noStrike">
              <a:solidFill>
                <a:srgbClr val="000000"/>
              </a:solidFill>
              <a:latin typeface="Arial"/>
            </a:endParaRPr>
          </a:p>
        </p:txBody>
      </p:sp>
      <p:sp>
        <p:nvSpPr>
          <p:cNvPr id="272"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C36469F-6FA6-4C6B-BC8C-47277EB367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Img"/>
          </p:nvPr>
        </p:nvSpPr>
        <p:spPr>
          <a:xfrm>
            <a:off x="1143000" y="685800"/>
            <a:ext cx="4571640" cy="3428640"/>
          </a:xfrm>
          <a:prstGeom prst="rect">
            <a:avLst/>
          </a:prstGeom>
          <a:ln w="0">
            <a:noFill/>
          </a:ln>
        </p:spPr>
      </p:sp>
      <p:sp>
        <p:nvSpPr>
          <p:cNvPr id="27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Each component has a specific responsibility. The BNO085 measures orientation and motion, while the Bar02 measures water pressure that may assist wave estimation after calibration. GPS provides position, the weather sensor measures wind, two INA260 boards monitor battery and solar branches, MCP9808 measures enclosure temperature, and ADS1115 reads wind direction. The ESP32 gathers these sensor readings and sends telemetry to the Orange Pi, which handles storage, processing, the API, and dashboard. The lower part shows the proposed protected path from solar charging to the battery and separate regulated supplies. This diagram is a design guide; final wiring will follow the purchased-board datasheets, measurements, fusing calculations, and approved pinout.</a:t>
            </a:r>
            <a:endParaRPr b="0" lang="en-US" sz="2000" spc="-1" strike="noStrike">
              <a:solidFill>
                <a:srgbClr val="000000"/>
              </a:solidFill>
              <a:latin typeface="Arial"/>
            </a:endParaRPr>
          </a:p>
        </p:txBody>
      </p:sp>
      <p:sp>
        <p:nvSpPr>
          <p:cNvPr id="275"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982E0D0-BFA4-4519-81F1-9D868F80304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sldImg"/>
          </p:nvPr>
        </p:nvSpPr>
        <p:spPr>
          <a:xfrm>
            <a:off x="1143000" y="685800"/>
            <a:ext cx="4571640" cy="3428640"/>
          </a:xfrm>
          <a:prstGeom prst="rect">
            <a:avLst/>
          </a:prstGeom>
          <a:ln w="0">
            <a:noFill/>
          </a:ln>
        </p:spPr>
      </p:sp>
      <p:sp>
        <p:nvSpPr>
          <p:cNvPr id="27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upper box is designed as a serviceable electronics pod. A removable tray separates the Orange Pi computing area from the ESP32 and sensor-control area. Terminal blocks organize the regulated power, ground, and signal connections so technicians do not need to trace loose wires. Every external cable should pass through a labeled locking gland, include strain relief, and carry the same identifier at both ends. Power and signal wiring are separated to reduce interference. The final arrangement still requires heat, waterproofing, electromagnetic-compatibility, and maintenance-clearance tests.</a:t>
            </a:r>
            <a:endParaRPr b="0" lang="en-US" sz="2000" spc="-1" strike="noStrike">
              <a:solidFill>
                <a:srgbClr val="000000"/>
              </a:solidFill>
              <a:latin typeface="Arial"/>
            </a:endParaRPr>
          </a:p>
        </p:txBody>
      </p:sp>
      <p:sp>
        <p:nvSpPr>
          <p:cNvPr id="278"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2F1CB8E-28A8-41DA-A23E-846C3406C88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sldImg"/>
          </p:nvPr>
        </p:nvSpPr>
        <p:spPr>
          <a:xfrm>
            <a:off x="1143000" y="685800"/>
            <a:ext cx="4571640" cy="3428640"/>
          </a:xfrm>
          <a:prstGeom prst="rect">
            <a:avLst/>
          </a:prstGeom>
          <a:ln w="0">
            <a:noFill/>
          </a:ln>
        </p:spPr>
      </p:sp>
      <p:sp>
        <p:nvSpPr>
          <p:cNvPr id="28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workflow is straightforward. Sensors take measurements, and the ESP32 checks and packages them into a consistent telemetry format. A USB or validated UART connection sends the data to the Orange Pi. The Orange Pi stores the records locally, performs signal processing, evaluates alerts, serves the API, and later runs the validated prediction model. The dashboard converts these records into understandable values, graphs, history, and system-health information. Because the main workflow is local, continuous cloud access is not required.</a:t>
            </a:r>
            <a:endParaRPr b="0" lang="en-US" sz="2000" spc="-1" strike="noStrike">
              <a:solidFill>
                <a:srgbClr val="000000"/>
              </a:solidFill>
              <a:latin typeface="Arial"/>
            </a:endParaRPr>
          </a:p>
        </p:txBody>
      </p:sp>
      <p:sp>
        <p:nvSpPr>
          <p:cNvPr id="281"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E07551-5151-4F8D-A316-5D66B4706E7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sldImg"/>
          </p:nvPr>
        </p:nvSpPr>
        <p:spPr>
          <a:xfrm>
            <a:off x="1143000" y="685800"/>
            <a:ext cx="4571640" cy="3428640"/>
          </a:xfrm>
          <a:prstGeom prst="rect">
            <a:avLst/>
          </a:prstGeom>
          <a:ln w="0">
            <a:noFill/>
          </a:ln>
        </p:spPr>
      </p:sp>
      <p:sp>
        <p:nvSpPr>
          <p:cNvPr id="28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FALCON is more than an illustration. We already have a responsive dashboard, ESP32 firmware foundation, telemetry specification, sensor and fault simulator, Python edge service, local database, alert logic, wiring plan, bill of materials, and technical documentation. The firmware, backend tests, and dashboard build have been checked in software. However, the values on the dashboard are simulated and are not field measurements. Physical sensor integration, calibration, marine testing, and field-trained AI remain the next development stage.</a:t>
            </a:r>
            <a:endParaRPr b="0" lang="en-US" sz="2000" spc="-1" strike="noStrike">
              <a:solidFill>
                <a:srgbClr val="000000"/>
              </a:solidFill>
              <a:latin typeface="Arial"/>
            </a:endParaRPr>
          </a:p>
        </p:txBody>
      </p:sp>
      <p:sp>
        <p:nvSpPr>
          <p:cNvPr id="284"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AF64A04-0D84-43AE-A88C-2EC08A1BCB5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1143000" y="685800"/>
            <a:ext cx="4571640" cy="3428640"/>
          </a:xfrm>
          <a:prstGeom prst="rect">
            <a:avLst/>
          </a:prstGeom>
          <a:ln w="0">
            <a:noFill/>
          </a:ln>
        </p:spPr>
      </p:sp>
      <p:sp>
        <p:nvSpPr>
          <p:cNvPr id="28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Our innovation claim is responsible system integration, not the invention of every component. FALCON combines affordable and replaceable hardware, local data collection, edge computing, solar-energy monitoring, a human-readable dashboard, and a prediction research workflow. It is local-first, so essential monitoring and storage are not dependent on a cloud connection. The interface also separates measured, simulated, estimated, and predicted information so users are not misled. The research contribution will be the documented and validated integration of these parts for one defined local coastal use case.</a:t>
            </a:r>
            <a:endParaRPr b="0" lang="en-US" sz="2000" spc="-1" strike="noStrike">
              <a:solidFill>
                <a:srgbClr val="000000"/>
              </a:solidFill>
              <a:latin typeface="Arial"/>
            </a:endParaRPr>
          </a:p>
        </p:txBody>
      </p:sp>
      <p:sp>
        <p:nvSpPr>
          <p:cNvPr id="287"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75D2910-C4C9-41FE-B020-6AF8C497097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1143000" y="685800"/>
            <a:ext cx="4571640" cy="3428640"/>
          </a:xfrm>
          <a:prstGeom prst="rect">
            <a:avLst/>
          </a:prstGeom>
          <a:ln w="0">
            <a:noFill/>
          </a:ln>
        </p:spPr>
      </p:sp>
      <p:sp>
        <p:nvSpPr>
          <p:cNvPr id="28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Possible beneficiaries include a coastal LGU or DRRM office, fisherfolk and small-craft users, schools and researchers, and later ports, tourism groups, or environmental organizations. But we will not claim that one prototype immediately serves all of them. Our first step is to confirm one primary partner, one accessible Palawan pilot site, and one realistic information need. This keeps the research measurable and prevents the project from becoming too broad. If the first pilot demonstrates value, the system can later be adapted or expanded.</a:t>
            </a:r>
            <a:endParaRPr b="0" lang="en-US" sz="2000" spc="-1" strike="noStrike">
              <a:solidFill>
                <a:srgbClr val="000000"/>
              </a:solidFill>
              <a:latin typeface="Arial"/>
            </a:endParaRPr>
          </a:p>
        </p:txBody>
      </p:sp>
      <p:sp>
        <p:nvSpPr>
          <p:cNvPr id="290"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0F0B584-FA9F-4862-B43C-FDAAC25ED31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sldImg"/>
          </p:nvPr>
        </p:nvSpPr>
        <p:spPr>
          <a:xfrm>
            <a:off x="1143000" y="685800"/>
            <a:ext cx="4571640" cy="3428640"/>
          </a:xfrm>
          <a:prstGeom prst="rect">
            <a:avLst/>
          </a:prstGeom>
          <a:ln w="0">
            <a:noFill/>
          </a:ln>
        </p:spPr>
      </p:sp>
      <p:sp>
        <p:nvSpPr>
          <p:cNvPr id="29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We estimate eight to twelve months for development. We will first finalize component choices, mechanical details, safety requirements, and procurement. Next, we will integrate the electronics, fabricate and seal the buoy, and calibrate every sensor under controlled conditions. Only after passing those checks will we conduct a supervised near-shore pilot. The collected data will then be used to compare simple prediction baselines with a lightweight model. The final stage is evaluation and documentation, including limitations and recommendations.</a:t>
            </a:r>
            <a:endParaRPr b="0" lang="en-US" sz="2000" spc="-1" strike="noStrike">
              <a:solidFill>
                <a:srgbClr val="000000"/>
              </a:solidFill>
              <a:latin typeface="Arial"/>
            </a:endParaRPr>
          </a:p>
        </p:txBody>
      </p:sp>
      <p:sp>
        <p:nvSpPr>
          <p:cNvPr id="293"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1749570-B17F-49C0-B651-84EE74C25B5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sldImg"/>
          </p:nvPr>
        </p:nvSpPr>
        <p:spPr>
          <a:xfrm>
            <a:off x="1143000" y="685800"/>
            <a:ext cx="4571640" cy="3428640"/>
          </a:xfrm>
          <a:prstGeom prst="rect">
            <a:avLst/>
          </a:prstGeom>
          <a:ln w="0">
            <a:noFill/>
          </a:ln>
        </p:spPr>
      </p:sp>
      <p:sp>
        <p:nvSpPr>
          <p:cNvPr id="29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Our preliminary development estimate ranges from seventy-two thousand to one hundred twenty-seven thousand pesos. This covers sensors and controllers, the Orange Pi, solar and battery power, the marine structure and enclosure, mooring and safety materials, calibration, supervised field work, spare parts, transport, and contingency. The range represents the complete prototype-development process, not only the visible electronics. It is still a planning estimate and will be replaced by current supplier quotations and approved specifications before procurement. Any final spending will be documented through a bill of materials and test records.</a:t>
            </a:r>
            <a:endParaRPr b="0" lang="en-US" sz="2000" spc="-1" strike="noStrike">
              <a:solidFill>
                <a:srgbClr val="000000"/>
              </a:solidFill>
              <a:latin typeface="Arial"/>
            </a:endParaRPr>
          </a:p>
        </p:txBody>
      </p:sp>
      <p:sp>
        <p:nvSpPr>
          <p:cNvPr id="296"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41E7AEC-4780-42D4-8EE2-2C32B474EF8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1143000" y="685800"/>
            <a:ext cx="4571640" cy="3428640"/>
          </a:xfrm>
          <a:prstGeom prst="rect">
            <a:avLst/>
          </a:prstGeom>
          <a:ln w="0">
            <a:noFill/>
          </a:ln>
        </p:spPr>
      </p:sp>
      <p:sp>
        <p:nvSpPr>
          <p:cNvPr id="29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At the end of funded development, we aim to deliver one integrated physical prototype, calibrated sensors and power system, a working local dashboard and data archive, supervised coastal-test results, and a comparison between the prediction model and a simple baseline. We will also provide reproducible technical documentation so the design, results, and limitations can be reviewed. We are requesting support for component procurement, fabrication, calibration access, supervised field testing, and technical mentorship. We are not asking you to accept an untested forecast. We are asking for the opportunity to build the prototype and generate credible local evidence. Thank you, and we are ready for your questions.</a:t>
            </a:r>
            <a:endParaRPr b="0" lang="en-US" sz="2000" spc="-1" strike="noStrike">
              <a:solidFill>
                <a:srgbClr val="000000"/>
              </a:solidFill>
              <a:latin typeface="Arial"/>
            </a:endParaRPr>
          </a:p>
        </p:txBody>
      </p:sp>
      <p:sp>
        <p:nvSpPr>
          <p:cNvPr id="299" name="PlaceHolder 3"/>
          <p:cNvSpPr>
            <a:spLocks noGrp="1"/>
          </p:cNvSpPr>
          <p:nvPr>
            <p:ph type="sldNum" idx="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D75F06D-DD66-4E07-83DB-3E29BDEDFE3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385DFB8-05F9-4F2C-BCD6-1DF092FAFA96}"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96067253-459C-4C73-8CEC-83FEF0806B1C}"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159B4EB-0564-4F92-A07C-F5D7F99E892C}"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1540B0D1-3809-446B-98F8-D55E8203CF1C}"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3919FB5A-06CD-4E30-8CF9-A5B767A469D0}"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0C9E9921-DBA7-48F2-A7F6-CF6C9CA72C70}"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ABECE5F0-F5F1-4DF2-8687-DE0A9ADC34B0}"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92686B7-9194-4A1B-9845-DE204CDC3EB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87BB2CB2-5B6C-4A0F-AFBB-2B110F082190}"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89A0EC87-4DFC-4B96-8CA3-F22BBE53CDA6}"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BD77B87-8E27-4436-A432-3D0E4F3EF5E5}"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FA3E0C0-CA56-496A-B82D-66C50DD1242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a:t>
            </a:r>
            <a:r>
              <a:rPr b="0" lang="en-US" sz="4400" spc="-1" strike="noStrike">
                <a:solidFill>
                  <a:schemeClr val="dk1"/>
                </a:solidFill>
                <a:latin typeface="Calibri"/>
              </a:rPr>
              <a:t>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7D5E4066-17D7-489E-AAD9-4663C51FD50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a:t>
            </a:r>
            <a:r>
              <a:rPr b="0" lang="en-US" sz="4400" spc="-1" strike="noStrike">
                <a:solidFill>
                  <a:schemeClr val="dk1"/>
                </a:solidFill>
                <a:latin typeface="Calibri"/>
              </a:rPr>
              <a:t>i</a:t>
            </a:r>
            <a:r>
              <a:rPr b="0" lang="en-US" sz="4400" spc="-1" strike="noStrike">
                <a:solidFill>
                  <a:schemeClr val="dk1"/>
                </a:solidFill>
                <a:latin typeface="Calibri"/>
              </a:rPr>
              <a:t>c</a:t>
            </a:r>
            <a:r>
              <a:rPr b="0" lang="en-US" sz="4400" spc="-1" strike="noStrike">
                <a:solidFill>
                  <a:schemeClr val="dk1"/>
                </a:solidFill>
                <a:latin typeface="Calibri"/>
              </a:rPr>
              <a:t>k</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o</a:t>
            </a:r>
            <a:r>
              <a:rPr b="0" lang="en-US" sz="4400" spc="-1" strike="noStrike">
                <a:solidFill>
                  <a:schemeClr val="dk1"/>
                </a:solidFill>
                <a:latin typeface="Calibri"/>
              </a:rPr>
              <a:t>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a:t>
            </a:r>
            <a:r>
              <a:rPr b="0" lang="en-US" sz="4400" spc="-1" strike="noStrike">
                <a:solidFill>
                  <a:schemeClr val="dk1"/>
                </a:solidFill>
                <a:latin typeface="Calibri"/>
              </a:rPr>
              <a:t>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30D39F4-AE3B-4AC5-AEE1-11D69AC3873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a:t>
            </a:r>
            <a:r>
              <a:rPr b="0" lang="en-US" sz="4400" spc="-1" strike="noStrike">
                <a:solidFill>
                  <a:schemeClr val="dk1"/>
                </a:solidFill>
                <a:latin typeface="Calibri"/>
              </a:rPr>
              <a:t>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F9AED38-C98F-4419-9794-3ADCED0C49D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3D2703E-9FE6-40DE-86CD-CA709593D01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6D0EA8E-DCFC-4C80-863B-3BE0D72E78F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AD88D65-49B7-4567-9869-70CEC3AD8D7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33EADCB-EF96-4076-8B3D-2E7E376BF08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79EDF1A-75B5-429C-9365-041D98F653F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042419F-1C22-43F6-95C8-EE712212592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04EA640-8142-48E0-87F6-9545CBBE5F3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9.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7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74" name="Picture 2" descr="falcon-concept-visualization.png"/>
          <p:cNvPicPr/>
          <p:nvPr/>
        </p:nvPicPr>
        <p:blipFill>
          <a:blip r:embed="rId1"/>
          <a:srcRect l="0" t="24" r="0" b="24"/>
          <a:stretch/>
        </p:blipFill>
        <p:spPr>
          <a:xfrm>
            <a:off x="1753200" y="0"/>
            <a:ext cx="12191400" cy="6857640"/>
          </a:xfrm>
          <a:prstGeom prst="rect">
            <a:avLst/>
          </a:prstGeom>
          <a:ln w="0">
            <a:noFill/>
          </a:ln>
        </p:spPr>
      </p:pic>
      <p:sp>
        <p:nvSpPr>
          <p:cNvPr id="75" name="Rectangle 3"/>
          <p:cNvSpPr/>
          <p:nvPr/>
        </p:nvSpPr>
        <p:spPr>
          <a:xfrm>
            <a:off x="0" y="0"/>
            <a:ext cx="6766200" cy="6857640"/>
          </a:xfrm>
          <a:prstGeom prst="rect">
            <a:avLst/>
          </a:prstGeom>
          <a:solidFill>
            <a:srgbClr val="0519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76" name="Picture 4" descr="falcon-logo.jpg"/>
          <p:cNvPicPr/>
          <p:nvPr/>
        </p:nvPicPr>
        <p:blipFill>
          <a:blip r:embed="rId2"/>
          <a:stretch/>
        </p:blipFill>
        <p:spPr>
          <a:xfrm>
            <a:off x="640080" y="502920"/>
            <a:ext cx="749520" cy="749520"/>
          </a:xfrm>
          <a:prstGeom prst="rect">
            <a:avLst/>
          </a:prstGeom>
          <a:ln w="0">
            <a:noFill/>
          </a:ln>
        </p:spPr>
      </p:pic>
      <p:sp>
        <p:nvSpPr>
          <p:cNvPr id="77" name="TextBox 5"/>
          <p:cNvSpPr/>
          <p:nvPr/>
        </p:nvSpPr>
        <p:spPr>
          <a:xfrm>
            <a:off x="640080" y="1600200"/>
            <a:ext cx="5668920" cy="621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3600" spc="-1" strike="noStrike">
                <a:solidFill>
                  <a:srgbClr val="eff7f7"/>
                </a:solidFill>
                <a:latin typeface="Aptos"/>
              </a:rPr>
              <a:t>PROJECT FALCON</a:t>
            </a:r>
            <a:endParaRPr b="0" lang="en-US" sz="3600" spc="-1" strike="noStrike">
              <a:solidFill>
                <a:srgbClr val="ffffff"/>
              </a:solidFill>
              <a:latin typeface="Arial"/>
            </a:endParaRPr>
          </a:p>
        </p:txBody>
      </p:sp>
      <p:sp>
        <p:nvSpPr>
          <p:cNvPr id="78" name="TextBox 6"/>
          <p:cNvSpPr/>
          <p:nvPr/>
        </p:nvSpPr>
        <p:spPr>
          <a:xfrm>
            <a:off x="658440" y="2331720"/>
            <a:ext cx="5303160" cy="7131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100" spc="-1" strike="noStrike">
                <a:solidFill>
                  <a:srgbClr val="70cbd3"/>
                </a:solidFill>
                <a:latin typeface="Aptos"/>
              </a:rPr>
              <a:t>Fullbright College's AI-powered</a:t>
            </a:r>
            <a:br>
              <a:rPr sz="2100"/>
            </a:br>
            <a:r>
              <a:rPr b="1" lang="en-US" sz="2100" spc="-1" strike="noStrike">
                <a:solidFill>
                  <a:srgbClr val="70cbd3"/>
                </a:solidFill>
                <a:latin typeface="Aptos"/>
              </a:rPr>
              <a:t>Live Coastal Observation Network</a:t>
            </a:r>
            <a:endParaRPr b="0" lang="en-US" sz="2100" spc="-1" strike="noStrike">
              <a:solidFill>
                <a:srgbClr val="ffffff"/>
              </a:solidFill>
              <a:latin typeface="Arial"/>
            </a:endParaRPr>
          </a:p>
        </p:txBody>
      </p:sp>
      <p:sp>
        <p:nvSpPr>
          <p:cNvPr id="79" name="TextBox 7"/>
          <p:cNvSpPr/>
          <p:nvPr/>
        </p:nvSpPr>
        <p:spPr>
          <a:xfrm>
            <a:off x="658440" y="3566160"/>
            <a:ext cx="5257440" cy="8042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600" spc="-1" strike="noStrike">
                <a:solidFill>
                  <a:srgbClr val="eff7f7"/>
                </a:solidFill>
                <a:latin typeface="Aptos"/>
              </a:rPr>
              <a:t>An affordable solar-powered smart buoy for localized coastal monitoring, edge processing, and responsible short-horizon prediction research.</a:t>
            </a:r>
            <a:endParaRPr b="0" lang="en-US" sz="1600" spc="-1" strike="noStrike">
              <a:solidFill>
                <a:srgbClr val="ffffff"/>
              </a:solidFill>
              <a:latin typeface="Arial"/>
            </a:endParaRPr>
          </a:p>
        </p:txBody>
      </p:sp>
      <p:sp>
        <p:nvSpPr>
          <p:cNvPr id="80" name="Rounded Rectangle 8"/>
          <p:cNvSpPr/>
          <p:nvPr/>
        </p:nvSpPr>
        <p:spPr>
          <a:xfrm>
            <a:off x="658440" y="5074920"/>
            <a:ext cx="3931560" cy="502560"/>
          </a:xfrm>
          <a:prstGeom prst="roundRect">
            <a:avLst>
              <a:gd name="adj" fmla="val 12000"/>
            </a:avLst>
          </a:prstGeom>
          <a:solidFill>
            <a:srgbClr val="12434c"/>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1" name="TextBox 9"/>
          <p:cNvSpPr/>
          <p:nvPr/>
        </p:nvSpPr>
        <p:spPr>
          <a:xfrm>
            <a:off x="822960" y="5230440"/>
            <a:ext cx="3611520" cy="210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900" spc="-1" strike="noStrike">
                <a:solidFill>
                  <a:srgbClr val="eff7f7"/>
                </a:solidFill>
                <a:latin typeface="Aptos"/>
              </a:rPr>
              <a:t>IDEA • SOFTWARE PROTOTYPE • FUNDING PROPOSAL</a:t>
            </a:r>
            <a:endParaRPr b="0" lang="en-US" sz="900" spc="-1" strike="noStrike">
              <a:solidFill>
                <a:srgbClr val="ffffff"/>
              </a:solidFill>
              <a:latin typeface="Arial"/>
            </a:endParaRPr>
          </a:p>
        </p:txBody>
      </p:sp>
      <p:sp>
        <p:nvSpPr>
          <p:cNvPr id="82" name="TextBox 10"/>
          <p:cNvSpPr/>
          <p:nvPr/>
        </p:nvSpPr>
        <p:spPr>
          <a:xfrm>
            <a:off x="9509760" y="6236280"/>
            <a:ext cx="21484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8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84"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WHY THIS MATTERS</a:t>
            </a:r>
            <a:endParaRPr b="0" lang="en-US" sz="1000" spc="-1" strike="noStrike">
              <a:solidFill>
                <a:srgbClr val="ffffff"/>
              </a:solidFill>
              <a:latin typeface="Arial"/>
            </a:endParaRPr>
          </a:p>
        </p:txBody>
      </p:sp>
      <p:sp>
        <p:nvSpPr>
          <p:cNvPr id="85"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gap is affordable, site-specific coastal observation</a:t>
            </a:r>
            <a:endParaRPr b="0" lang="en-US" sz="2700" spc="-1" strike="noStrike">
              <a:solidFill>
                <a:srgbClr val="ffffff"/>
              </a:solidFill>
              <a:latin typeface="Arial"/>
            </a:endParaRPr>
          </a:p>
        </p:txBody>
      </p:sp>
      <p:sp>
        <p:nvSpPr>
          <p:cNvPr id="86"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02</a:t>
            </a:r>
            <a:endParaRPr b="0" lang="en-US" sz="1100" spc="-1" strike="noStrike">
              <a:solidFill>
                <a:srgbClr val="ffffff"/>
              </a:solidFill>
              <a:latin typeface="Arial"/>
            </a:endParaRPr>
          </a:p>
        </p:txBody>
      </p:sp>
      <p:sp>
        <p:nvSpPr>
          <p:cNvPr id="87"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88" name="Rounded Rectangle 6"/>
          <p:cNvSpPr/>
          <p:nvPr/>
        </p:nvSpPr>
        <p:spPr>
          <a:xfrm>
            <a:off x="50292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 name="TextBox 7"/>
          <p:cNvSpPr/>
          <p:nvPr/>
        </p:nvSpPr>
        <p:spPr>
          <a:xfrm>
            <a:off x="70416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90" name="TextBox 8"/>
          <p:cNvSpPr/>
          <p:nvPr/>
        </p:nvSpPr>
        <p:spPr>
          <a:xfrm>
            <a:off x="118872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Localized conditions</a:t>
            </a:r>
            <a:endParaRPr b="0" lang="en-US" sz="1500" spc="-1" strike="noStrike">
              <a:solidFill>
                <a:srgbClr val="ffffff"/>
              </a:solidFill>
              <a:latin typeface="Arial"/>
            </a:endParaRPr>
          </a:p>
        </p:txBody>
      </p:sp>
      <p:sp>
        <p:nvSpPr>
          <p:cNvPr id="91" name="TextBox 9"/>
          <p:cNvSpPr/>
          <p:nvPr/>
        </p:nvSpPr>
        <p:spPr>
          <a:xfrm>
            <a:off x="731520" y="2167200"/>
            <a:ext cx="30628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wide-area forecast may not describe the exact near-shore research or launch site.</a:t>
            </a:r>
            <a:endParaRPr b="0" lang="en-US" sz="1100" spc="-1" strike="noStrike">
              <a:solidFill>
                <a:srgbClr val="ffffff"/>
              </a:solidFill>
              <a:latin typeface="Arial"/>
            </a:endParaRPr>
          </a:p>
        </p:txBody>
      </p:sp>
      <p:sp>
        <p:nvSpPr>
          <p:cNvPr id="92" name="Rounded Rectangle 10"/>
          <p:cNvSpPr/>
          <p:nvPr/>
        </p:nvSpPr>
        <p:spPr>
          <a:xfrm>
            <a:off x="432504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 name="TextBox 11"/>
          <p:cNvSpPr/>
          <p:nvPr/>
        </p:nvSpPr>
        <p:spPr>
          <a:xfrm>
            <a:off x="452628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94" name="TextBox 12"/>
          <p:cNvSpPr/>
          <p:nvPr/>
        </p:nvSpPr>
        <p:spPr>
          <a:xfrm>
            <a:off x="501084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Access and cost</a:t>
            </a:r>
            <a:endParaRPr b="0" lang="en-US" sz="1500" spc="-1" strike="noStrike">
              <a:solidFill>
                <a:srgbClr val="ffffff"/>
              </a:solidFill>
              <a:latin typeface="Arial"/>
            </a:endParaRPr>
          </a:p>
        </p:txBody>
      </p:sp>
      <p:sp>
        <p:nvSpPr>
          <p:cNvPr id="95" name="TextBox 13"/>
          <p:cNvSpPr/>
          <p:nvPr/>
        </p:nvSpPr>
        <p:spPr>
          <a:xfrm>
            <a:off x="4553640" y="2167200"/>
            <a:ext cx="306288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Professional oceanographic systems can be difficult for small institutions to acquire and maintain.</a:t>
            </a:r>
            <a:endParaRPr b="0" lang="en-US" sz="1100" spc="-1" strike="noStrike">
              <a:solidFill>
                <a:srgbClr val="ffffff"/>
              </a:solidFill>
              <a:latin typeface="Arial"/>
            </a:endParaRPr>
          </a:p>
        </p:txBody>
      </p:sp>
      <p:sp>
        <p:nvSpPr>
          <p:cNvPr id="96" name="Rounded Rectangle 14"/>
          <p:cNvSpPr/>
          <p:nvPr/>
        </p:nvSpPr>
        <p:spPr>
          <a:xfrm>
            <a:off x="813816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 name="TextBox 15"/>
          <p:cNvSpPr/>
          <p:nvPr/>
        </p:nvSpPr>
        <p:spPr>
          <a:xfrm>
            <a:off x="833940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98" name="TextBox 16"/>
          <p:cNvSpPr/>
          <p:nvPr/>
        </p:nvSpPr>
        <p:spPr>
          <a:xfrm>
            <a:off x="882396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Operational limits</a:t>
            </a:r>
            <a:endParaRPr b="0" lang="en-US" sz="1500" spc="-1" strike="noStrike">
              <a:solidFill>
                <a:srgbClr val="ffffff"/>
              </a:solidFill>
              <a:latin typeface="Arial"/>
            </a:endParaRPr>
          </a:p>
        </p:txBody>
      </p:sp>
      <p:sp>
        <p:nvSpPr>
          <p:cNvPr id="99" name="TextBox 17"/>
          <p:cNvSpPr/>
          <p:nvPr/>
        </p:nvSpPr>
        <p:spPr>
          <a:xfrm>
            <a:off x="8366760" y="2167200"/>
            <a:ext cx="306288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Connectivity, power, maintenance, and equipment displacement complicate continuous monitoring.</a:t>
            </a:r>
            <a:endParaRPr b="0" lang="en-US" sz="1100" spc="-1" strike="noStrike">
              <a:solidFill>
                <a:srgbClr val="ffffff"/>
              </a:solidFill>
              <a:latin typeface="Arial"/>
            </a:endParaRPr>
          </a:p>
        </p:txBody>
      </p:sp>
      <p:sp>
        <p:nvSpPr>
          <p:cNvPr id="100" name="Rounded Rectangle 18"/>
          <p:cNvSpPr/>
          <p:nvPr/>
        </p:nvSpPr>
        <p:spPr>
          <a:xfrm>
            <a:off x="502920" y="3794760"/>
            <a:ext cx="11155320" cy="1572480"/>
          </a:xfrm>
          <a:prstGeom prst="roundRect">
            <a:avLst>
              <a:gd name="adj" fmla="val 12000"/>
            </a:avLst>
          </a:prstGeom>
          <a:solidFill>
            <a:srgbClr val="0a252f"/>
          </a:solidFill>
          <a:ln>
            <a:solidFill>
              <a:srgbClr val="36646d"/>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 name="TextBox 19"/>
          <p:cNvSpPr/>
          <p:nvPr/>
        </p:nvSpPr>
        <p:spPr>
          <a:xfrm>
            <a:off x="822960" y="4114800"/>
            <a:ext cx="201132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100" spc="-1" strike="noStrike">
                <a:solidFill>
                  <a:srgbClr val="58bec2"/>
                </a:solidFill>
                <a:latin typeface="Aptos"/>
              </a:rPr>
              <a:t>THE RESEARCH QUESTION</a:t>
            </a:r>
            <a:endParaRPr b="0" lang="en-US" sz="1100" spc="-1" strike="noStrike">
              <a:solidFill>
                <a:srgbClr val="ffffff"/>
              </a:solidFill>
              <a:latin typeface="Arial"/>
            </a:endParaRPr>
          </a:p>
        </p:txBody>
      </p:sp>
      <p:sp>
        <p:nvSpPr>
          <p:cNvPr id="102" name="TextBox 20"/>
          <p:cNvSpPr/>
          <p:nvPr/>
        </p:nvSpPr>
        <p:spPr>
          <a:xfrm>
            <a:off x="822960" y="4275360"/>
            <a:ext cx="10149480" cy="112356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eff7f7"/>
                </a:solidFill>
                <a:latin typeface="Aptos"/>
              </a:rPr>
              <a:t>Can a modular, local-first buoy provide useful coastal observations at a defined Palawan pilot site—at a cost and complexity a small institution can manage?</a:t>
            </a:r>
            <a:endParaRPr b="0" lang="en-US" sz="2300" spc="-1" strike="noStrike">
              <a:solidFill>
                <a:srgbClr val="ffffff"/>
              </a:solidFill>
              <a:latin typeface="Arial"/>
            </a:endParaRPr>
          </a:p>
        </p:txBody>
      </p:sp>
      <p:sp>
        <p:nvSpPr>
          <p:cNvPr id="103" name="TextBox 21"/>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04" name="TextBox 22"/>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0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0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PROPOSED SOLUTION</a:t>
            </a:r>
            <a:endParaRPr b="0" lang="en-US" sz="1000" spc="-1" strike="noStrike">
              <a:solidFill>
                <a:srgbClr val="ffffff"/>
              </a:solidFill>
              <a:latin typeface="Arial"/>
            </a:endParaRPr>
          </a:p>
        </p:txBody>
      </p:sp>
      <p:sp>
        <p:nvSpPr>
          <p:cNvPr id="10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local-first smart coastal observation buoy</a:t>
            </a:r>
            <a:endParaRPr b="0" lang="en-US" sz="2700" spc="-1" strike="noStrike">
              <a:solidFill>
                <a:srgbClr val="ffffff"/>
              </a:solidFill>
              <a:latin typeface="Arial"/>
            </a:endParaRPr>
          </a:p>
        </p:txBody>
      </p:sp>
      <p:sp>
        <p:nvSpPr>
          <p:cNvPr id="10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03</a:t>
            </a:r>
            <a:endParaRPr b="0" lang="en-US" sz="1100" spc="-1" strike="noStrike">
              <a:solidFill>
                <a:srgbClr val="ffffff"/>
              </a:solidFill>
              <a:latin typeface="Arial"/>
            </a:endParaRPr>
          </a:p>
        </p:txBody>
      </p:sp>
      <p:sp>
        <p:nvSpPr>
          <p:cNvPr id="10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10" name="Picture 6" descr="falcon-concept-visualization.png"/>
          <p:cNvPicPr/>
          <p:nvPr/>
        </p:nvPicPr>
        <p:blipFill>
          <a:blip r:embed="rId1"/>
          <a:srcRect l="13735" t="0" r="13735" b="0"/>
          <a:stretch/>
        </p:blipFill>
        <p:spPr>
          <a:xfrm>
            <a:off x="502920" y="1417320"/>
            <a:ext cx="5714640" cy="4434480"/>
          </a:xfrm>
          <a:prstGeom prst="rect">
            <a:avLst/>
          </a:prstGeom>
          <a:ln w="0">
            <a:noFill/>
          </a:ln>
        </p:spPr>
      </p:pic>
      <p:sp>
        <p:nvSpPr>
          <p:cNvPr id="111" name="TextBox 7"/>
          <p:cNvSpPr/>
          <p:nvPr/>
        </p:nvSpPr>
        <p:spPr>
          <a:xfrm>
            <a:off x="658440" y="5596200"/>
            <a:ext cx="219420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112" name="TextBox 8"/>
          <p:cNvSpPr/>
          <p:nvPr/>
        </p:nvSpPr>
        <p:spPr>
          <a:xfrm>
            <a:off x="2880360" y="5596200"/>
            <a:ext cx="315432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Actual interactive model available: FALCON-01.glb</a:t>
            </a:r>
            <a:endParaRPr b="0" lang="en-US" sz="800" spc="-1" strike="noStrike">
              <a:solidFill>
                <a:srgbClr val="ffffff"/>
              </a:solidFill>
              <a:latin typeface="Arial"/>
            </a:endParaRPr>
          </a:p>
        </p:txBody>
      </p:sp>
      <p:sp>
        <p:nvSpPr>
          <p:cNvPr id="113" name="Rounded Rectangle 9"/>
          <p:cNvSpPr/>
          <p:nvPr/>
        </p:nvSpPr>
        <p:spPr>
          <a:xfrm>
            <a:off x="3246120" y="4316040"/>
            <a:ext cx="2486880" cy="383760"/>
          </a:xfrm>
          <a:prstGeom prst="roundRect">
            <a:avLst>
              <a:gd name="adj" fmla="val 12000"/>
            </a:avLst>
          </a:prstGeom>
          <a:solidFill>
            <a:srgbClr val="0a2a33"/>
          </a:solidFill>
          <a:ln>
            <a:solidFill>
              <a:srgbClr val="70cbd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 name="TextBox 10"/>
          <p:cNvSpPr/>
          <p:nvPr/>
        </p:nvSpPr>
        <p:spPr>
          <a:xfrm>
            <a:off x="3401640" y="4434840"/>
            <a:ext cx="2175840" cy="21060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900" spc="-1" strike="noStrike">
                <a:solidFill>
                  <a:srgbClr val="eff7f7"/>
                </a:solidFill>
                <a:latin typeface="Aptos"/>
              </a:rPr>
              <a:t>UPPER ELECTRONICS POD</a:t>
            </a:r>
            <a:endParaRPr b="0" lang="en-US" sz="900" spc="-1" strike="noStrike">
              <a:solidFill>
                <a:srgbClr val="ffffff"/>
              </a:solidFill>
              <a:latin typeface="Arial"/>
            </a:endParaRPr>
          </a:p>
        </p:txBody>
      </p:sp>
      <p:sp>
        <p:nvSpPr>
          <p:cNvPr id="115" name="Rounded Rectangle 11"/>
          <p:cNvSpPr/>
          <p:nvPr/>
        </p:nvSpPr>
        <p:spPr>
          <a:xfrm>
            <a:off x="6537960" y="1417320"/>
            <a:ext cx="5120280" cy="959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6" name="TextBox 12"/>
          <p:cNvSpPr/>
          <p:nvPr/>
        </p:nvSpPr>
        <p:spPr>
          <a:xfrm>
            <a:off x="6739200" y="15624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17" name="TextBox 13"/>
          <p:cNvSpPr/>
          <p:nvPr/>
        </p:nvSpPr>
        <p:spPr>
          <a:xfrm>
            <a:off x="7223760" y="160020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Measure</a:t>
            </a:r>
            <a:endParaRPr b="0" lang="en-US" sz="1500" spc="-1" strike="noStrike">
              <a:solidFill>
                <a:srgbClr val="ffffff"/>
              </a:solidFill>
              <a:latin typeface="Arial"/>
            </a:endParaRPr>
          </a:p>
        </p:txBody>
      </p:sp>
      <p:sp>
        <p:nvSpPr>
          <p:cNvPr id="118" name="TextBox 14"/>
          <p:cNvSpPr/>
          <p:nvPr/>
        </p:nvSpPr>
        <p:spPr>
          <a:xfrm>
            <a:off x="6766560" y="2075760"/>
            <a:ext cx="466308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Motion, water pressure, wind, GPS, temperature, battery and solar.</a:t>
            </a:r>
            <a:endParaRPr b="0" lang="en-US" sz="1100" spc="-1" strike="noStrike">
              <a:solidFill>
                <a:srgbClr val="ffffff"/>
              </a:solidFill>
              <a:latin typeface="Arial"/>
            </a:endParaRPr>
          </a:p>
        </p:txBody>
      </p:sp>
      <p:sp>
        <p:nvSpPr>
          <p:cNvPr id="119" name="Rounded Rectangle 15"/>
          <p:cNvSpPr/>
          <p:nvPr/>
        </p:nvSpPr>
        <p:spPr>
          <a:xfrm>
            <a:off x="6537960" y="2541960"/>
            <a:ext cx="5120280" cy="1115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 name="TextBox 16"/>
          <p:cNvSpPr/>
          <p:nvPr/>
        </p:nvSpPr>
        <p:spPr>
          <a:xfrm>
            <a:off x="6739200" y="2687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21" name="TextBox 17"/>
          <p:cNvSpPr/>
          <p:nvPr/>
        </p:nvSpPr>
        <p:spPr>
          <a:xfrm>
            <a:off x="7223760" y="272484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Process locally</a:t>
            </a:r>
            <a:endParaRPr b="0" lang="en-US" sz="1500" spc="-1" strike="noStrike">
              <a:solidFill>
                <a:srgbClr val="ffffff"/>
              </a:solidFill>
              <a:latin typeface="Arial"/>
            </a:endParaRPr>
          </a:p>
        </p:txBody>
      </p:sp>
      <p:sp>
        <p:nvSpPr>
          <p:cNvPr id="122" name="TextBox 18"/>
          <p:cNvSpPr/>
          <p:nvPr/>
        </p:nvSpPr>
        <p:spPr>
          <a:xfrm>
            <a:off x="6766560" y="320040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ESP32 reads sensors; Orange Pi stores, processes, serves the API, and hosts the dashboard.</a:t>
            </a:r>
            <a:endParaRPr b="0" lang="en-US" sz="1100" spc="-1" strike="noStrike">
              <a:solidFill>
                <a:srgbClr val="ffffff"/>
              </a:solidFill>
              <a:latin typeface="Arial"/>
            </a:endParaRPr>
          </a:p>
        </p:txBody>
      </p:sp>
      <p:sp>
        <p:nvSpPr>
          <p:cNvPr id="123" name="Rounded Rectangle 19"/>
          <p:cNvSpPr/>
          <p:nvPr/>
        </p:nvSpPr>
        <p:spPr>
          <a:xfrm>
            <a:off x="6537960" y="3822120"/>
            <a:ext cx="5120280" cy="1115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 name="TextBox 20"/>
          <p:cNvSpPr/>
          <p:nvPr/>
        </p:nvSpPr>
        <p:spPr>
          <a:xfrm>
            <a:off x="6739200" y="39672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25" name="TextBox 21"/>
          <p:cNvSpPr/>
          <p:nvPr/>
        </p:nvSpPr>
        <p:spPr>
          <a:xfrm>
            <a:off x="7223760" y="400500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Display and alert</a:t>
            </a:r>
            <a:endParaRPr b="0" lang="en-US" sz="1500" spc="-1" strike="noStrike">
              <a:solidFill>
                <a:srgbClr val="ffffff"/>
              </a:solidFill>
              <a:latin typeface="Arial"/>
            </a:endParaRPr>
          </a:p>
        </p:txBody>
      </p:sp>
      <p:sp>
        <p:nvSpPr>
          <p:cNvPr id="126" name="TextBox 22"/>
          <p:cNvSpPr/>
          <p:nvPr/>
        </p:nvSpPr>
        <p:spPr>
          <a:xfrm>
            <a:off x="6766560" y="448056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 presents live values, history, system health, and abnormal displacement alerts.</a:t>
            </a:r>
            <a:endParaRPr b="0" lang="en-US" sz="1100" spc="-1" strike="noStrike">
              <a:solidFill>
                <a:srgbClr val="ffffff"/>
              </a:solidFill>
              <a:latin typeface="Arial"/>
            </a:endParaRPr>
          </a:p>
        </p:txBody>
      </p:sp>
      <p:sp>
        <p:nvSpPr>
          <p:cNvPr id="127" name="Rounded Rectangle 23"/>
          <p:cNvSpPr/>
          <p:nvPr/>
        </p:nvSpPr>
        <p:spPr>
          <a:xfrm>
            <a:off x="6537960" y="5102280"/>
            <a:ext cx="5120280" cy="959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 name="TextBox 24"/>
          <p:cNvSpPr/>
          <p:nvPr/>
        </p:nvSpPr>
        <p:spPr>
          <a:xfrm>
            <a:off x="6739200" y="5247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29" name="TextBox 25"/>
          <p:cNvSpPr/>
          <p:nvPr/>
        </p:nvSpPr>
        <p:spPr>
          <a:xfrm>
            <a:off x="7223760" y="528516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Research prediction</a:t>
            </a:r>
            <a:endParaRPr b="0" lang="en-US" sz="1500" spc="-1" strike="noStrike">
              <a:solidFill>
                <a:srgbClr val="ffffff"/>
              </a:solidFill>
              <a:latin typeface="Arial"/>
            </a:endParaRPr>
          </a:p>
        </p:txBody>
      </p:sp>
      <p:sp>
        <p:nvSpPr>
          <p:cNvPr id="130" name="TextBox 26"/>
          <p:cNvSpPr/>
          <p:nvPr/>
        </p:nvSpPr>
        <p:spPr>
          <a:xfrm>
            <a:off x="6766560" y="576072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Field data will be collected before the model is trained, compared with a baseline, and validated.</a:t>
            </a:r>
            <a:endParaRPr b="0" lang="en-US" sz="1100" spc="-1" strike="noStrike">
              <a:solidFill>
                <a:srgbClr val="ffffff"/>
              </a:solidFill>
              <a:latin typeface="Arial"/>
            </a:endParaRPr>
          </a:p>
        </p:txBody>
      </p:sp>
      <p:sp>
        <p:nvSpPr>
          <p:cNvPr id="131" name="TextBox 2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32" name="TextBox 2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3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134" name="Picture 2" descr="falcon-upper-sensor-levels.png"/>
          <p:cNvPicPr/>
          <p:nvPr/>
        </p:nvPicPr>
        <p:blipFill>
          <a:blip r:embed="rId1"/>
          <a:stretch/>
        </p:blipFill>
        <p:spPr>
          <a:xfrm>
            <a:off x="0" y="0"/>
            <a:ext cx="12191400" cy="68576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3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3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HARDWARE CONCEPT</a:t>
            </a:r>
            <a:endParaRPr b="0" lang="en-US" sz="1000" spc="-1" strike="noStrike">
              <a:solidFill>
                <a:srgbClr val="ffffff"/>
              </a:solidFill>
              <a:latin typeface="Arial"/>
            </a:endParaRPr>
          </a:p>
        </p:txBody>
      </p:sp>
      <p:sp>
        <p:nvSpPr>
          <p:cNvPr id="13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Selected sensors, controllers, and protected power flow</a:t>
            </a:r>
            <a:endParaRPr b="0" lang="en-US" sz="2700" spc="-1" strike="noStrike">
              <a:solidFill>
                <a:srgbClr val="ffffff"/>
              </a:solidFill>
              <a:latin typeface="Arial"/>
            </a:endParaRPr>
          </a:p>
        </p:txBody>
      </p:sp>
      <p:sp>
        <p:nvSpPr>
          <p:cNvPr id="13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05</a:t>
            </a:r>
            <a:endParaRPr b="0" lang="en-US" sz="1100" spc="-1" strike="noStrike">
              <a:solidFill>
                <a:srgbClr val="ffffff"/>
              </a:solidFill>
              <a:latin typeface="Arial"/>
            </a:endParaRPr>
          </a:p>
        </p:txBody>
      </p:sp>
      <p:sp>
        <p:nvSpPr>
          <p:cNvPr id="13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0" name="Picture 6" descr="electronics-wiring.png"/>
          <p:cNvPicPr/>
          <p:nvPr/>
        </p:nvPicPr>
        <p:blipFill>
          <a:blip r:embed="rId1"/>
          <a:srcRect l="0" t="0" r="0" b="0"/>
          <a:stretch/>
        </p:blipFill>
        <p:spPr>
          <a:xfrm>
            <a:off x="2414016" y="1307592"/>
            <a:ext cx="7365492" cy="4910328"/>
          </a:xfrm>
          <a:prstGeom prst="rect">
            <a:avLst/>
          </a:prstGeom>
          <a:ln w="0">
            <a:noFill/>
          </a:ln>
        </p:spPr>
      </p:pic>
      <p:sp>
        <p:nvSpPr>
          <p:cNvPr id="141" name="TextBox 7"/>
          <p:cNvSpPr/>
          <p:nvPr/>
        </p:nvSpPr>
        <p:spPr>
          <a:xfrm>
            <a:off x="567000" y="6236280"/>
            <a:ext cx="987516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800" spc="-1" strike="noStrike">
                <a:solidFill>
                  <a:srgbClr val="a6c2c6"/>
                </a:solidFill>
                <a:latin typeface="Aptos"/>
              </a:rPr>
              <a:t>Visual overview only • final wiring follows purchased-board datasheets and the approved pinout.</a:t>
            </a:r>
            <a:endParaRPr b="0" lang="en-US" sz="800" spc="-1" strike="noStrike">
              <a:solidFill>
                <a:srgbClr val="ffffff"/>
              </a:solidFill>
              <a:latin typeface="Arial"/>
            </a:endParaRPr>
          </a:p>
        </p:txBody>
      </p:sp>
      <p:sp>
        <p:nvSpPr>
          <p:cNvPr id="142" name="TextBox 8"/>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43" name="TextBox 9"/>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44"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45"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MAINTAINABLE ENCLOSURE</a:t>
            </a:r>
            <a:endParaRPr b="0" lang="en-US" sz="1000" spc="-1" strike="noStrike">
              <a:solidFill>
                <a:srgbClr val="ffffff"/>
              </a:solidFill>
              <a:latin typeface="Arial"/>
            </a:endParaRPr>
          </a:p>
        </p:txBody>
      </p:sp>
      <p:sp>
        <p:nvSpPr>
          <p:cNvPr id="146"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upper pod organizes electronics and labeled cables</a:t>
            </a:r>
            <a:endParaRPr b="0" lang="en-US" sz="2700" spc="-1" strike="noStrike">
              <a:solidFill>
                <a:srgbClr val="ffffff"/>
              </a:solidFill>
              <a:latin typeface="Arial"/>
            </a:endParaRPr>
          </a:p>
        </p:txBody>
      </p:sp>
      <p:sp>
        <p:nvSpPr>
          <p:cNvPr id="147"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06</a:t>
            </a:r>
            <a:endParaRPr b="0" lang="en-US" sz="1100" spc="-1" strike="noStrike">
              <a:solidFill>
                <a:srgbClr val="ffffff"/>
              </a:solidFill>
              <a:latin typeface="Arial"/>
            </a:endParaRPr>
          </a:p>
        </p:txBody>
      </p:sp>
      <p:sp>
        <p:nvSpPr>
          <p:cNvPr id="148"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9" name="Picture 6" descr="upper-electronics-maintenance.png"/>
          <p:cNvPicPr/>
          <p:nvPr/>
        </p:nvPicPr>
        <p:blipFill>
          <a:blip r:embed="rId1"/>
          <a:stretch/>
        </p:blipFill>
        <p:spPr>
          <a:xfrm>
            <a:off x="1600200" y="1307520"/>
            <a:ext cx="8979120" cy="5047200"/>
          </a:xfrm>
          <a:prstGeom prst="rect">
            <a:avLst/>
          </a:prstGeom>
          <a:ln w="0">
            <a:noFill/>
          </a:ln>
        </p:spPr>
      </p:pic>
      <p:sp>
        <p:nvSpPr>
          <p:cNvPr id="150"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51"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52"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53"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SYSTEM WORKFLOW</a:t>
            </a:r>
            <a:endParaRPr b="0" lang="en-US" sz="1000" spc="-1" strike="noStrike">
              <a:solidFill>
                <a:srgbClr val="ffffff"/>
              </a:solidFill>
              <a:latin typeface="Arial"/>
            </a:endParaRPr>
          </a:p>
        </p:txBody>
      </p:sp>
      <p:sp>
        <p:nvSpPr>
          <p:cNvPr id="154"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Sensors measure; ESP32 collects; Orange Pi explains</a:t>
            </a:r>
            <a:endParaRPr b="0" lang="en-US" sz="2700" spc="-1" strike="noStrike">
              <a:solidFill>
                <a:srgbClr val="ffffff"/>
              </a:solidFill>
              <a:latin typeface="Arial"/>
            </a:endParaRPr>
          </a:p>
        </p:txBody>
      </p:sp>
      <p:sp>
        <p:nvSpPr>
          <p:cNvPr id="155"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07</a:t>
            </a:r>
            <a:endParaRPr b="0" lang="en-US" sz="1100" spc="-1" strike="noStrike">
              <a:solidFill>
                <a:srgbClr val="ffffff"/>
              </a:solidFill>
              <a:latin typeface="Arial"/>
            </a:endParaRPr>
          </a:p>
        </p:txBody>
      </p:sp>
      <p:sp>
        <p:nvSpPr>
          <p:cNvPr id="156"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57" name="Picture 6" descr="system-architecture.png"/>
          <p:cNvPicPr/>
          <p:nvPr/>
        </p:nvPicPr>
        <p:blipFill>
          <a:blip r:embed="rId1"/>
          <a:srcRect l="0" t="7391" r="0" b="7391"/>
          <a:stretch/>
        </p:blipFill>
        <p:spPr>
          <a:xfrm>
            <a:off x="502920" y="1371600"/>
            <a:ext cx="11155320" cy="4891680"/>
          </a:xfrm>
          <a:prstGeom prst="rect">
            <a:avLst/>
          </a:prstGeom>
          <a:ln w="0">
            <a:noFill/>
          </a:ln>
        </p:spPr>
      </p:pic>
      <p:sp>
        <p:nvSpPr>
          <p:cNvPr id="158"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59"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60"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61"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CURRENT PROGRESS</a:t>
            </a:r>
            <a:endParaRPr b="0" lang="en-US" sz="1000" spc="-1" strike="noStrike">
              <a:solidFill>
                <a:srgbClr val="ffffff"/>
              </a:solidFill>
              <a:latin typeface="Arial"/>
            </a:endParaRPr>
          </a:p>
        </p:txBody>
      </p:sp>
      <p:sp>
        <p:nvSpPr>
          <p:cNvPr id="162"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working software concept—not yet a field-validated buoy</a:t>
            </a:r>
            <a:endParaRPr b="0" lang="en-US" sz="2700" spc="-1" strike="noStrike">
              <a:solidFill>
                <a:srgbClr val="ffffff"/>
              </a:solidFill>
              <a:latin typeface="Arial"/>
            </a:endParaRPr>
          </a:p>
        </p:txBody>
      </p:sp>
      <p:sp>
        <p:nvSpPr>
          <p:cNvPr id="163"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08</a:t>
            </a:r>
            <a:endParaRPr b="0" lang="en-US" sz="1100" spc="-1" strike="noStrike">
              <a:solidFill>
                <a:srgbClr val="ffffff"/>
              </a:solidFill>
              <a:latin typeface="Arial"/>
            </a:endParaRPr>
          </a:p>
        </p:txBody>
      </p:sp>
      <p:sp>
        <p:nvSpPr>
          <p:cNvPr id="164"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65" name="Picture 6" descr="dashboard-overview.png"/>
          <p:cNvPicPr/>
          <p:nvPr/>
        </p:nvPicPr>
        <p:blipFill>
          <a:blip r:embed="rId1"/>
          <a:srcRect l="0" t="9621" r="0" b="9621"/>
          <a:stretch/>
        </p:blipFill>
        <p:spPr>
          <a:xfrm>
            <a:off x="502920" y="1389960"/>
            <a:ext cx="7040520" cy="4343040"/>
          </a:xfrm>
          <a:prstGeom prst="rect">
            <a:avLst/>
          </a:prstGeom>
          <a:ln w="0">
            <a:noFill/>
          </a:ln>
        </p:spPr>
      </p:pic>
      <p:sp>
        <p:nvSpPr>
          <p:cNvPr id="166" name="Rounded Rectangle 7"/>
          <p:cNvSpPr/>
          <p:nvPr/>
        </p:nvSpPr>
        <p:spPr>
          <a:xfrm>
            <a:off x="7818120" y="1389960"/>
            <a:ext cx="3840120" cy="2267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 name="TextBox 8"/>
          <p:cNvSpPr/>
          <p:nvPr/>
        </p:nvSpPr>
        <p:spPr>
          <a:xfrm>
            <a:off x="8019360" y="1535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68" name="TextBox 9"/>
          <p:cNvSpPr/>
          <p:nvPr/>
        </p:nvSpPr>
        <p:spPr>
          <a:xfrm>
            <a:off x="8503920" y="1572840"/>
            <a:ext cx="2971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Already working</a:t>
            </a:r>
            <a:endParaRPr b="0" lang="en-US" sz="1500" spc="-1" strike="noStrike">
              <a:solidFill>
                <a:srgbClr val="ffffff"/>
              </a:solidFill>
              <a:latin typeface="Arial"/>
            </a:endParaRPr>
          </a:p>
        </p:txBody>
      </p:sp>
      <p:sp>
        <p:nvSpPr>
          <p:cNvPr id="169" name="TextBox 10"/>
          <p:cNvSpPr/>
          <p:nvPr/>
        </p:nvSpPr>
        <p:spPr>
          <a:xfrm>
            <a:off x="8046720" y="2048400"/>
            <a:ext cx="3382920" cy="9118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a:t>
            </a:r>
            <a:br>
              <a:rPr sz="1100"/>
            </a:br>
            <a:r>
              <a:rPr b="0" lang="en-US" sz="1100" spc="-1" strike="noStrike">
                <a:solidFill>
                  <a:srgbClr val="a6c2c6"/>
                </a:solidFill>
                <a:latin typeface="Aptos"/>
              </a:rPr>
              <a:t>ESP32 firmware foundation</a:t>
            </a:r>
            <a:br>
              <a:rPr sz="1100"/>
            </a:br>
            <a:r>
              <a:rPr b="0" lang="en-US" sz="1100" spc="-1" strike="noStrike">
                <a:solidFill>
                  <a:srgbClr val="a6c2c6"/>
                </a:solidFill>
                <a:latin typeface="Aptos"/>
              </a:rPr>
              <a:t>Telemetry contract + simulator</a:t>
            </a:r>
            <a:br>
              <a:rPr sz="1100"/>
            </a:br>
            <a:r>
              <a:rPr b="0" lang="en-US" sz="1100" spc="-1" strike="noStrike">
                <a:solidFill>
                  <a:srgbClr val="a6c2c6"/>
                </a:solidFill>
                <a:latin typeface="Aptos"/>
              </a:rPr>
              <a:t>Python edge API + local database</a:t>
            </a:r>
            <a:br>
              <a:rPr sz="1100"/>
            </a:br>
            <a:r>
              <a:rPr b="0" lang="en-US" sz="1100" spc="-1" strike="noStrike">
                <a:solidFill>
                  <a:srgbClr val="a6c2c6"/>
                </a:solidFill>
                <a:latin typeface="Aptos"/>
              </a:rPr>
              <a:t>Alerts and documentation</a:t>
            </a:r>
            <a:endParaRPr b="0" lang="en-US" sz="1100" spc="-1" strike="noStrike">
              <a:solidFill>
                <a:srgbClr val="ffffff"/>
              </a:solidFill>
              <a:latin typeface="Arial"/>
            </a:endParaRPr>
          </a:p>
        </p:txBody>
      </p:sp>
      <p:sp>
        <p:nvSpPr>
          <p:cNvPr id="170" name="Rounded Rectangle 11"/>
          <p:cNvSpPr/>
          <p:nvPr/>
        </p:nvSpPr>
        <p:spPr>
          <a:xfrm>
            <a:off x="7818120" y="3822120"/>
            <a:ext cx="384012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 name="TextBox 12"/>
          <p:cNvSpPr/>
          <p:nvPr/>
        </p:nvSpPr>
        <p:spPr>
          <a:xfrm>
            <a:off x="8019360" y="39672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72" name="TextBox 13"/>
          <p:cNvSpPr/>
          <p:nvPr/>
        </p:nvSpPr>
        <p:spPr>
          <a:xfrm>
            <a:off x="8503920" y="4005000"/>
            <a:ext cx="2971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Verified in software</a:t>
            </a:r>
            <a:endParaRPr b="0" lang="en-US" sz="1500" spc="-1" strike="noStrike">
              <a:solidFill>
                <a:srgbClr val="ffffff"/>
              </a:solidFill>
              <a:latin typeface="Arial"/>
            </a:endParaRPr>
          </a:p>
        </p:txBody>
      </p:sp>
      <p:sp>
        <p:nvSpPr>
          <p:cNvPr id="173" name="TextBox 14"/>
          <p:cNvSpPr/>
          <p:nvPr/>
        </p:nvSpPr>
        <p:spPr>
          <a:xfrm>
            <a:off x="8046720" y="4480560"/>
            <a:ext cx="338292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Firmware builds successfully</a:t>
            </a:r>
            <a:br>
              <a:rPr sz="1100"/>
            </a:br>
            <a:r>
              <a:rPr b="0" lang="en-US" sz="1100" spc="-1" strike="noStrike">
                <a:solidFill>
                  <a:srgbClr val="a6c2c6"/>
                </a:solidFill>
                <a:latin typeface="Aptos"/>
              </a:rPr>
              <a:t>18 edge-service tests pass</a:t>
            </a:r>
            <a:br>
              <a:rPr sz="1100"/>
            </a:br>
            <a:r>
              <a:rPr b="0" lang="en-US" sz="1100" spc="-1" strike="noStrike">
                <a:solidFill>
                  <a:srgbClr val="a6c2c6"/>
                </a:solidFill>
                <a:latin typeface="Aptos"/>
              </a:rPr>
              <a:t>Dashboard production build passes</a:t>
            </a:r>
            <a:endParaRPr b="0" lang="en-US" sz="1100" spc="-1" strike="noStrike">
              <a:solidFill>
                <a:srgbClr val="ffffff"/>
              </a:solidFill>
              <a:latin typeface="Arial"/>
            </a:endParaRPr>
          </a:p>
        </p:txBody>
      </p:sp>
      <p:sp>
        <p:nvSpPr>
          <p:cNvPr id="174" name="Rounded Rectangle 15"/>
          <p:cNvSpPr/>
          <p:nvPr/>
        </p:nvSpPr>
        <p:spPr>
          <a:xfrm>
            <a:off x="7818120" y="5413320"/>
            <a:ext cx="3840120" cy="502560"/>
          </a:xfrm>
          <a:prstGeom prst="roundRect">
            <a:avLst>
              <a:gd name="adj" fmla="val 12000"/>
            </a:avLst>
          </a:prstGeom>
          <a:solidFill>
            <a:srgbClr val="402d19"/>
          </a:solidFill>
          <a:ln>
            <a:solidFill>
              <a:srgbClr val="d39d4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 name="TextBox 16"/>
          <p:cNvSpPr/>
          <p:nvPr/>
        </p:nvSpPr>
        <p:spPr>
          <a:xfrm>
            <a:off x="8019360" y="5577840"/>
            <a:ext cx="3428640" cy="19476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800" spc="-1" strike="noStrike">
                <a:solidFill>
                  <a:srgbClr val="eff7f7"/>
                </a:solidFill>
                <a:latin typeface="Aptos"/>
              </a:rPr>
              <a:t>SIMULATED DATA • NOT FIELD MEASUREMENTS</a:t>
            </a:r>
            <a:endParaRPr b="0" lang="en-US" sz="800" spc="-1" strike="noStrike">
              <a:solidFill>
                <a:srgbClr val="ffffff"/>
              </a:solidFill>
              <a:latin typeface="Arial"/>
            </a:endParaRPr>
          </a:p>
        </p:txBody>
      </p:sp>
      <p:sp>
        <p:nvSpPr>
          <p:cNvPr id="176" name="TextBox 1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77" name="TextBox 1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78"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79"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INNOVATION</a:t>
            </a:r>
            <a:endParaRPr b="0" lang="en-US" sz="1000" spc="-1" strike="noStrike">
              <a:solidFill>
                <a:srgbClr val="ffffff"/>
              </a:solidFill>
              <a:latin typeface="Arial"/>
            </a:endParaRPr>
          </a:p>
        </p:txBody>
      </p:sp>
      <p:sp>
        <p:nvSpPr>
          <p:cNvPr id="180"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contribution is responsible system integration</a:t>
            </a:r>
            <a:endParaRPr b="0" lang="en-US" sz="2700" spc="-1" strike="noStrike">
              <a:solidFill>
                <a:srgbClr val="ffffff"/>
              </a:solidFill>
              <a:latin typeface="Arial"/>
            </a:endParaRPr>
          </a:p>
        </p:txBody>
      </p:sp>
      <p:sp>
        <p:nvSpPr>
          <p:cNvPr id="181"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09</a:t>
            </a:r>
            <a:endParaRPr b="0" lang="en-US" sz="1100" spc="-1" strike="noStrike">
              <a:solidFill>
                <a:srgbClr val="ffffff"/>
              </a:solidFill>
              <a:latin typeface="Arial"/>
            </a:endParaRPr>
          </a:p>
        </p:txBody>
      </p:sp>
      <p:sp>
        <p:nvSpPr>
          <p:cNvPr id="182"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183" name="TextBox 6"/>
          <p:cNvSpPr/>
          <p:nvPr/>
        </p:nvSpPr>
        <p:spPr>
          <a:xfrm>
            <a:off x="640080" y="1508760"/>
            <a:ext cx="10881000" cy="43884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2400" spc="-1" strike="noStrike">
                <a:solidFill>
                  <a:srgbClr val="eff7f7"/>
                </a:solidFill>
                <a:latin typeface="Aptos"/>
              </a:rPr>
              <a:t>FALCON does not claim to invent the buoy, sensor, or AI algorithm.</a:t>
            </a:r>
            <a:endParaRPr b="0" lang="en-US" sz="2400" spc="-1" strike="noStrike">
              <a:solidFill>
                <a:srgbClr val="ffffff"/>
              </a:solidFill>
              <a:latin typeface="Arial"/>
            </a:endParaRPr>
          </a:p>
        </p:txBody>
      </p:sp>
      <p:sp>
        <p:nvSpPr>
          <p:cNvPr id="184" name="Rounded Rectangle 7"/>
          <p:cNvSpPr/>
          <p:nvPr/>
        </p:nvSpPr>
        <p:spPr>
          <a:xfrm>
            <a:off x="59436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5" name="TextBox 8"/>
          <p:cNvSpPr/>
          <p:nvPr/>
        </p:nvSpPr>
        <p:spPr>
          <a:xfrm>
            <a:off x="79560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86" name="TextBox 9"/>
          <p:cNvSpPr/>
          <p:nvPr/>
        </p:nvSpPr>
        <p:spPr>
          <a:xfrm>
            <a:off x="128016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Affordable + modular</a:t>
            </a:r>
            <a:endParaRPr b="0" lang="en-US" sz="1500" spc="-1" strike="noStrike">
              <a:solidFill>
                <a:srgbClr val="ffffff"/>
              </a:solidFill>
              <a:latin typeface="Arial"/>
            </a:endParaRPr>
          </a:p>
        </p:txBody>
      </p:sp>
      <p:sp>
        <p:nvSpPr>
          <p:cNvPr id="187" name="TextBox 10"/>
          <p:cNvSpPr/>
          <p:nvPr/>
        </p:nvSpPr>
        <p:spPr>
          <a:xfrm>
            <a:off x="82296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Student-scale architecture with replaceable, documented components.</a:t>
            </a:r>
            <a:endParaRPr b="0" lang="en-US" sz="1100" spc="-1" strike="noStrike">
              <a:solidFill>
                <a:srgbClr val="ffffff"/>
              </a:solidFill>
              <a:latin typeface="Arial"/>
            </a:endParaRPr>
          </a:p>
        </p:txBody>
      </p:sp>
      <p:sp>
        <p:nvSpPr>
          <p:cNvPr id="188" name="Rounded Rectangle 11"/>
          <p:cNvSpPr/>
          <p:nvPr/>
        </p:nvSpPr>
        <p:spPr>
          <a:xfrm>
            <a:off x="438912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 name="TextBox 12"/>
          <p:cNvSpPr/>
          <p:nvPr/>
        </p:nvSpPr>
        <p:spPr>
          <a:xfrm>
            <a:off x="459036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90" name="TextBox 13"/>
          <p:cNvSpPr/>
          <p:nvPr/>
        </p:nvSpPr>
        <p:spPr>
          <a:xfrm>
            <a:off x="507492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Local-first</a:t>
            </a:r>
            <a:endParaRPr b="0" lang="en-US" sz="1500" spc="-1" strike="noStrike">
              <a:solidFill>
                <a:srgbClr val="ffffff"/>
              </a:solidFill>
              <a:latin typeface="Arial"/>
            </a:endParaRPr>
          </a:p>
        </p:txBody>
      </p:sp>
      <p:sp>
        <p:nvSpPr>
          <p:cNvPr id="191" name="TextBox 14"/>
          <p:cNvSpPr/>
          <p:nvPr/>
        </p:nvSpPr>
        <p:spPr>
          <a:xfrm>
            <a:off x="461772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Monitoring and storage continue without mandatory cloud dependence.</a:t>
            </a:r>
            <a:endParaRPr b="0" lang="en-US" sz="1100" spc="-1" strike="noStrike">
              <a:solidFill>
                <a:srgbClr val="ffffff"/>
              </a:solidFill>
              <a:latin typeface="Arial"/>
            </a:endParaRPr>
          </a:p>
        </p:txBody>
      </p:sp>
      <p:sp>
        <p:nvSpPr>
          <p:cNvPr id="192" name="Rounded Rectangle 15"/>
          <p:cNvSpPr/>
          <p:nvPr/>
        </p:nvSpPr>
        <p:spPr>
          <a:xfrm>
            <a:off x="818388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 name="TextBox 16"/>
          <p:cNvSpPr/>
          <p:nvPr/>
        </p:nvSpPr>
        <p:spPr>
          <a:xfrm>
            <a:off x="838512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94" name="TextBox 17"/>
          <p:cNvSpPr/>
          <p:nvPr/>
        </p:nvSpPr>
        <p:spPr>
          <a:xfrm>
            <a:off x="886968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Transparent output</a:t>
            </a:r>
            <a:endParaRPr b="0" lang="en-US" sz="1500" spc="-1" strike="noStrike">
              <a:solidFill>
                <a:srgbClr val="ffffff"/>
              </a:solidFill>
              <a:latin typeface="Arial"/>
            </a:endParaRPr>
          </a:p>
        </p:txBody>
      </p:sp>
      <p:sp>
        <p:nvSpPr>
          <p:cNvPr id="195" name="TextBox 18"/>
          <p:cNvSpPr/>
          <p:nvPr/>
        </p:nvSpPr>
        <p:spPr>
          <a:xfrm>
            <a:off x="841248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Measured, simulated, estimated, and predicted values are clearly distinguished.</a:t>
            </a:r>
            <a:endParaRPr b="0" lang="en-US" sz="1100" spc="-1" strike="noStrike">
              <a:solidFill>
                <a:srgbClr val="ffffff"/>
              </a:solidFill>
              <a:latin typeface="Arial"/>
            </a:endParaRPr>
          </a:p>
        </p:txBody>
      </p:sp>
      <p:sp>
        <p:nvSpPr>
          <p:cNvPr id="196" name="Rounded Rectangle 19"/>
          <p:cNvSpPr/>
          <p:nvPr/>
        </p:nvSpPr>
        <p:spPr>
          <a:xfrm>
            <a:off x="1097280" y="4251960"/>
            <a:ext cx="10012320" cy="1234080"/>
          </a:xfrm>
          <a:prstGeom prst="roundRect">
            <a:avLst>
              <a:gd name="adj" fmla="val 12000"/>
            </a:avLst>
          </a:prstGeom>
          <a:solidFill>
            <a:srgbClr val="0f3640"/>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 name="TextBox 20"/>
          <p:cNvSpPr/>
          <p:nvPr/>
        </p:nvSpPr>
        <p:spPr>
          <a:xfrm>
            <a:off x="1417320" y="4348080"/>
            <a:ext cx="9372240" cy="103284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100" spc="-1" strike="noStrike">
                <a:solidFill>
                  <a:srgbClr val="eff7f7"/>
                </a:solidFill>
                <a:latin typeface="Aptos"/>
              </a:rPr>
              <a:t>FALCON's novelty is the validated integration and local adaptation of sensing, edge computing, energy, prediction, and protection subsystems.</a:t>
            </a:r>
            <a:endParaRPr b="0" lang="en-US" sz="2100" spc="-1" strike="noStrike">
              <a:solidFill>
                <a:srgbClr val="ffffff"/>
              </a:solidFill>
              <a:latin typeface="Arial"/>
            </a:endParaRPr>
          </a:p>
        </p:txBody>
      </p:sp>
      <p:sp>
        <p:nvSpPr>
          <p:cNvPr id="198" name="TextBox 21"/>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99" name="TextBox 22"/>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00"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01"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BENEFICIARIES</a:t>
            </a:r>
            <a:endParaRPr b="0" lang="en-US" sz="1000" spc="-1" strike="noStrike">
              <a:solidFill>
                <a:srgbClr val="ffffff"/>
              </a:solidFill>
              <a:latin typeface="Arial"/>
            </a:endParaRPr>
          </a:p>
        </p:txBody>
      </p:sp>
      <p:sp>
        <p:nvSpPr>
          <p:cNvPr id="202"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Start with one verified user and one pilot site</a:t>
            </a:r>
            <a:endParaRPr b="0" lang="en-US" sz="2700" spc="-1" strike="noStrike">
              <a:solidFill>
                <a:srgbClr val="ffffff"/>
              </a:solidFill>
              <a:latin typeface="Arial"/>
            </a:endParaRPr>
          </a:p>
        </p:txBody>
      </p:sp>
      <p:sp>
        <p:nvSpPr>
          <p:cNvPr id="203"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10</a:t>
            </a:r>
            <a:endParaRPr b="0" lang="en-US" sz="1100" spc="-1" strike="noStrike">
              <a:solidFill>
                <a:srgbClr val="ffffff"/>
              </a:solidFill>
              <a:latin typeface="Arial"/>
            </a:endParaRPr>
          </a:p>
        </p:txBody>
      </p:sp>
      <p:sp>
        <p:nvSpPr>
          <p:cNvPr id="204"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205" name="Rounded Rectangle 6"/>
          <p:cNvSpPr/>
          <p:nvPr/>
        </p:nvSpPr>
        <p:spPr>
          <a:xfrm>
            <a:off x="594360" y="150876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6" name="TextBox 7"/>
          <p:cNvSpPr/>
          <p:nvPr/>
        </p:nvSpPr>
        <p:spPr>
          <a:xfrm>
            <a:off x="79560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207" name="TextBox 8"/>
          <p:cNvSpPr/>
          <p:nvPr/>
        </p:nvSpPr>
        <p:spPr>
          <a:xfrm>
            <a:off x="1280160" y="169164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Coastal LGU / DRRM</a:t>
            </a:r>
            <a:endParaRPr b="0" lang="en-US" sz="1500" spc="-1" strike="noStrike">
              <a:solidFill>
                <a:srgbClr val="ffffff"/>
              </a:solidFill>
              <a:latin typeface="Arial"/>
            </a:endParaRPr>
          </a:p>
        </p:txBody>
      </p:sp>
      <p:sp>
        <p:nvSpPr>
          <p:cNvPr id="208" name="TextBox 9"/>
          <p:cNvSpPr/>
          <p:nvPr/>
        </p:nvSpPr>
        <p:spPr>
          <a:xfrm>
            <a:off x="822960" y="216720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Localized observation history and equipment-status awareness.</a:t>
            </a:r>
            <a:endParaRPr b="0" lang="en-US" sz="1100" spc="-1" strike="noStrike">
              <a:solidFill>
                <a:srgbClr val="ffffff"/>
              </a:solidFill>
              <a:latin typeface="Arial"/>
            </a:endParaRPr>
          </a:p>
        </p:txBody>
      </p:sp>
      <p:sp>
        <p:nvSpPr>
          <p:cNvPr id="209" name="Rounded Rectangle 10"/>
          <p:cNvSpPr/>
          <p:nvPr/>
        </p:nvSpPr>
        <p:spPr>
          <a:xfrm>
            <a:off x="6217920" y="150876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 name="TextBox 11"/>
          <p:cNvSpPr/>
          <p:nvPr/>
        </p:nvSpPr>
        <p:spPr>
          <a:xfrm>
            <a:off x="641916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211" name="TextBox 12"/>
          <p:cNvSpPr/>
          <p:nvPr/>
        </p:nvSpPr>
        <p:spPr>
          <a:xfrm>
            <a:off x="6903720" y="169164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Fisherfolk / small craft</a:t>
            </a:r>
            <a:endParaRPr b="0" lang="en-US" sz="1500" spc="-1" strike="noStrike">
              <a:solidFill>
                <a:srgbClr val="ffffff"/>
              </a:solidFill>
              <a:latin typeface="Arial"/>
            </a:endParaRPr>
          </a:p>
        </p:txBody>
      </p:sp>
      <p:sp>
        <p:nvSpPr>
          <p:cNvPr id="212" name="TextBox 13"/>
          <p:cNvSpPr/>
          <p:nvPr/>
        </p:nvSpPr>
        <p:spPr>
          <a:xfrm>
            <a:off x="6446520" y="216720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Accessible near-shore information for a defined use case.</a:t>
            </a:r>
            <a:endParaRPr b="0" lang="en-US" sz="1100" spc="-1" strike="noStrike">
              <a:solidFill>
                <a:srgbClr val="ffffff"/>
              </a:solidFill>
              <a:latin typeface="Arial"/>
            </a:endParaRPr>
          </a:p>
        </p:txBody>
      </p:sp>
      <p:sp>
        <p:nvSpPr>
          <p:cNvPr id="213" name="Rounded Rectangle 14"/>
          <p:cNvSpPr/>
          <p:nvPr/>
        </p:nvSpPr>
        <p:spPr>
          <a:xfrm>
            <a:off x="594360" y="338328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 name="TextBox 15"/>
          <p:cNvSpPr/>
          <p:nvPr/>
        </p:nvSpPr>
        <p:spPr>
          <a:xfrm>
            <a:off x="795600" y="3528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215" name="TextBox 16"/>
          <p:cNvSpPr/>
          <p:nvPr/>
        </p:nvSpPr>
        <p:spPr>
          <a:xfrm>
            <a:off x="1280160" y="356616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Schools / researchers</a:t>
            </a:r>
            <a:endParaRPr b="0" lang="en-US" sz="1500" spc="-1" strike="noStrike">
              <a:solidFill>
                <a:srgbClr val="ffffff"/>
              </a:solidFill>
              <a:latin typeface="Arial"/>
            </a:endParaRPr>
          </a:p>
        </p:txBody>
      </p:sp>
      <p:sp>
        <p:nvSpPr>
          <p:cNvPr id="216" name="TextBox 17"/>
          <p:cNvSpPr/>
          <p:nvPr/>
        </p:nvSpPr>
        <p:spPr>
          <a:xfrm>
            <a:off x="822960" y="404172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reproducible platform and local dataset for future studies.</a:t>
            </a:r>
            <a:endParaRPr b="0" lang="en-US" sz="1100" spc="-1" strike="noStrike">
              <a:solidFill>
                <a:srgbClr val="ffffff"/>
              </a:solidFill>
              <a:latin typeface="Arial"/>
            </a:endParaRPr>
          </a:p>
        </p:txBody>
      </p:sp>
      <p:sp>
        <p:nvSpPr>
          <p:cNvPr id="217" name="Rounded Rectangle 18"/>
          <p:cNvSpPr/>
          <p:nvPr/>
        </p:nvSpPr>
        <p:spPr>
          <a:xfrm>
            <a:off x="6217920" y="338328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 name="TextBox 19"/>
          <p:cNvSpPr/>
          <p:nvPr/>
        </p:nvSpPr>
        <p:spPr>
          <a:xfrm>
            <a:off x="6419160" y="3528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19" name="TextBox 20"/>
          <p:cNvSpPr/>
          <p:nvPr/>
        </p:nvSpPr>
        <p:spPr>
          <a:xfrm>
            <a:off x="6903720" y="356616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Ports / tourism / NGOs</a:t>
            </a:r>
            <a:endParaRPr b="0" lang="en-US" sz="1500" spc="-1" strike="noStrike">
              <a:solidFill>
                <a:srgbClr val="ffffff"/>
              </a:solidFill>
              <a:latin typeface="Arial"/>
            </a:endParaRPr>
          </a:p>
        </p:txBody>
      </p:sp>
      <p:sp>
        <p:nvSpPr>
          <p:cNvPr id="220" name="TextBox 21"/>
          <p:cNvSpPr/>
          <p:nvPr/>
        </p:nvSpPr>
        <p:spPr>
          <a:xfrm>
            <a:off x="6446520" y="4041720"/>
            <a:ext cx="482760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Potential monitoring support after validation and stakeholder confirmation.</a:t>
            </a:r>
            <a:endParaRPr b="0" lang="en-US" sz="1100" spc="-1" strike="noStrike">
              <a:solidFill>
                <a:srgbClr val="ffffff"/>
              </a:solidFill>
              <a:latin typeface="Arial"/>
            </a:endParaRPr>
          </a:p>
        </p:txBody>
      </p:sp>
      <p:sp>
        <p:nvSpPr>
          <p:cNvPr id="221" name="Rounded Rectangle 22"/>
          <p:cNvSpPr/>
          <p:nvPr/>
        </p:nvSpPr>
        <p:spPr>
          <a:xfrm>
            <a:off x="1234440" y="5413320"/>
            <a:ext cx="9738000" cy="502560"/>
          </a:xfrm>
          <a:prstGeom prst="roundRect">
            <a:avLst>
              <a:gd name="adj" fmla="val 12000"/>
            </a:avLst>
          </a:prstGeom>
          <a:solidFill>
            <a:srgbClr val="103a43"/>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2" name="TextBox 23"/>
          <p:cNvSpPr/>
          <p:nvPr/>
        </p:nvSpPr>
        <p:spPr>
          <a:xfrm>
            <a:off x="1554480" y="5577840"/>
            <a:ext cx="909792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PILOT PRINCIPLE: prove value for one stakeholder before expanding scope.</a:t>
            </a:r>
            <a:endParaRPr b="0" lang="en-US" sz="1000" spc="-1" strike="noStrike">
              <a:solidFill>
                <a:srgbClr val="ffffff"/>
              </a:solidFill>
              <a:latin typeface="Arial"/>
            </a:endParaRPr>
          </a:p>
        </p:txBody>
      </p:sp>
      <p:sp>
        <p:nvSpPr>
          <p:cNvPr id="223" name="TextBox 24"/>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24" name="TextBox 25"/>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2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2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DEVELOPMENT PLAN</a:t>
            </a:r>
            <a:endParaRPr b="0" lang="en-US" sz="1000" spc="-1" strike="noStrike">
              <a:solidFill>
                <a:srgbClr val="ffffff"/>
              </a:solidFill>
              <a:latin typeface="Arial"/>
            </a:endParaRPr>
          </a:p>
        </p:txBody>
      </p:sp>
      <p:sp>
        <p:nvSpPr>
          <p:cNvPr id="22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Build safely, collect evidence, then evaluate</a:t>
            </a:r>
            <a:endParaRPr b="0" lang="en-US" sz="2700" spc="-1" strike="noStrike">
              <a:solidFill>
                <a:srgbClr val="ffffff"/>
              </a:solidFill>
              <a:latin typeface="Arial"/>
            </a:endParaRPr>
          </a:p>
        </p:txBody>
      </p:sp>
      <p:sp>
        <p:nvSpPr>
          <p:cNvPr id="22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11</a:t>
            </a:r>
            <a:endParaRPr b="0" lang="en-US" sz="1100" spc="-1" strike="noStrike">
              <a:solidFill>
                <a:srgbClr val="ffffff"/>
              </a:solidFill>
              <a:latin typeface="Arial"/>
            </a:endParaRPr>
          </a:p>
        </p:txBody>
      </p:sp>
      <p:sp>
        <p:nvSpPr>
          <p:cNvPr id="22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30" name="Picture 6" descr="development-roadmap.png"/>
          <p:cNvPicPr/>
          <p:nvPr/>
        </p:nvPicPr>
        <p:blipFill>
          <a:blip r:embed="rId1"/>
          <a:srcRect l="0" t="6781" r="0" b="6781"/>
          <a:stretch/>
        </p:blipFill>
        <p:spPr>
          <a:xfrm>
            <a:off x="502920" y="1417320"/>
            <a:ext cx="11155320" cy="4480200"/>
          </a:xfrm>
          <a:prstGeom prst="rect">
            <a:avLst/>
          </a:prstGeom>
          <a:ln w="0">
            <a:noFill/>
          </a:ln>
        </p:spPr>
      </p:pic>
      <p:sp>
        <p:nvSpPr>
          <p:cNvPr id="231" name="Rounded Rectangle 7"/>
          <p:cNvSpPr/>
          <p:nvPr/>
        </p:nvSpPr>
        <p:spPr>
          <a:xfrm>
            <a:off x="3749040" y="5870520"/>
            <a:ext cx="4708800" cy="438480"/>
          </a:xfrm>
          <a:prstGeom prst="roundRect">
            <a:avLst>
              <a:gd name="adj" fmla="val 12000"/>
            </a:avLst>
          </a:prstGeom>
          <a:solidFill>
            <a:srgbClr val="143e47"/>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 name="TextBox 8"/>
          <p:cNvSpPr/>
          <p:nvPr/>
        </p:nvSpPr>
        <p:spPr>
          <a:xfrm>
            <a:off x="3950280" y="6007680"/>
            <a:ext cx="429732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ESTIMATED DEVELOPMENT: 8–12 MONTHS</a:t>
            </a:r>
            <a:endParaRPr b="0" lang="en-US" sz="1000" spc="-1" strike="noStrike">
              <a:solidFill>
                <a:srgbClr val="ffffff"/>
              </a:solidFill>
              <a:latin typeface="Arial"/>
            </a:endParaRPr>
          </a:p>
        </p:txBody>
      </p:sp>
      <p:sp>
        <p:nvSpPr>
          <p:cNvPr id="233" name="TextBox 9"/>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34" name="TextBox 10"/>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3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3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PRELIMINARY BUDGET</a:t>
            </a:r>
            <a:endParaRPr b="0" lang="en-US" sz="1000" spc="-1" strike="noStrike">
              <a:solidFill>
                <a:srgbClr val="ffffff"/>
              </a:solidFill>
              <a:latin typeface="Arial"/>
            </a:endParaRPr>
          </a:p>
        </p:txBody>
      </p:sp>
      <p:sp>
        <p:nvSpPr>
          <p:cNvPr id="23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Funding supports the complete development process</a:t>
            </a:r>
            <a:endParaRPr b="0" lang="en-US" sz="2700" spc="-1" strike="noStrike">
              <a:solidFill>
                <a:srgbClr val="ffffff"/>
              </a:solidFill>
              <a:latin typeface="Arial"/>
            </a:endParaRPr>
          </a:p>
        </p:txBody>
      </p:sp>
      <p:sp>
        <p:nvSpPr>
          <p:cNvPr id="23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12</a:t>
            </a:r>
            <a:endParaRPr b="0" lang="en-US" sz="1100" spc="-1" strike="noStrike">
              <a:solidFill>
                <a:srgbClr val="ffffff"/>
              </a:solidFill>
              <a:latin typeface="Arial"/>
            </a:endParaRPr>
          </a:p>
        </p:txBody>
      </p:sp>
      <p:sp>
        <p:nvSpPr>
          <p:cNvPr id="23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40" name="Picture 6" descr="funding-breakdown.png"/>
          <p:cNvPicPr/>
          <p:nvPr/>
        </p:nvPicPr>
        <p:blipFill>
          <a:blip r:embed="rId1"/>
          <a:srcRect l="0" t="7391" r="0" b="7391"/>
          <a:stretch/>
        </p:blipFill>
        <p:spPr>
          <a:xfrm>
            <a:off x="502920" y="1371600"/>
            <a:ext cx="11155320" cy="4891680"/>
          </a:xfrm>
          <a:prstGeom prst="rect">
            <a:avLst/>
          </a:prstGeom>
          <a:ln w="0">
            <a:noFill/>
          </a:ln>
        </p:spPr>
      </p:pic>
      <p:sp>
        <p:nvSpPr>
          <p:cNvPr id="241"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42"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4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44"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EXPECTED RESULT + REQUEST</a:t>
            </a:r>
            <a:endParaRPr b="0" lang="en-US" sz="1000" spc="-1" strike="noStrike">
              <a:solidFill>
                <a:srgbClr val="ffffff"/>
              </a:solidFill>
              <a:latin typeface="Arial"/>
            </a:endParaRPr>
          </a:p>
        </p:txBody>
      </p:sp>
      <p:sp>
        <p:nvSpPr>
          <p:cNvPr id="245"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Turn the working concept into a validated physical prototype</a:t>
            </a:r>
            <a:endParaRPr b="0" lang="en-US" sz="2700" spc="-1" strike="noStrike">
              <a:solidFill>
                <a:srgbClr val="ffffff"/>
              </a:solidFill>
              <a:latin typeface="Arial"/>
            </a:endParaRPr>
          </a:p>
        </p:txBody>
      </p:sp>
      <p:sp>
        <p:nvSpPr>
          <p:cNvPr id="246"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13</a:t>
            </a:r>
            <a:endParaRPr b="0" lang="en-US" sz="1100" spc="-1" strike="noStrike">
              <a:solidFill>
                <a:srgbClr val="ffffff"/>
              </a:solidFill>
              <a:latin typeface="Arial"/>
            </a:endParaRPr>
          </a:p>
        </p:txBody>
      </p:sp>
      <p:sp>
        <p:nvSpPr>
          <p:cNvPr id="247"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48" name="Picture 6" descr="falcon-concept-visualization.png"/>
          <p:cNvPicPr/>
          <p:nvPr/>
        </p:nvPicPr>
        <p:blipFill>
          <a:blip r:embed="rId1"/>
          <a:srcRect l="20896" t="0" r="20896" b="0"/>
          <a:stretch/>
        </p:blipFill>
        <p:spPr>
          <a:xfrm>
            <a:off x="502920" y="1389960"/>
            <a:ext cx="4708800" cy="4553280"/>
          </a:xfrm>
          <a:prstGeom prst="rect">
            <a:avLst/>
          </a:prstGeom>
          <a:ln w="0">
            <a:noFill/>
          </a:ln>
        </p:spPr>
      </p:pic>
      <p:sp>
        <p:nvSpPr>
          <p:cNvPr id="249" name="TextBox 7"/>
          <p:cNvSpPr/>
          <p:nvPr/>
        </p:nvSpPr>
        <p:spPr>
          <a:xfrm>
            <a:off x="676800" y="5696640"/>
            <a:ext cx="219420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250" name="Rounded Rectangle 8"/>
          <p:cNvSpPr/>
          <p:nvPr/>
        </p:nvSpPr>
        <p:spPr>
          <a:xfrm>
            <a:off x="5532120" y="1389960"/>
            <a:ext cx="6126120" cy="2541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 name="TextBox 9"/>
          <p:cNvSpPr/>
          <p:nvPr/>
        </p:nvSpPr>
        <p:spPr>
          <a:xfrm>
            <a:off x="5733360" y="1535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252" name="TextBox 10"/>
          <p:cNvSpPr/>
          <p:nvPr/>
        </p:nvSpPr>
        <p:spPr>
          <a:xfrm>
            <a:off x="6217920" y="1572840"/>
            <a:ext cx="5257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Deliverables</a:t>
            </a:r>
            <a:endParaRPr b="0" lang="en-US" sz="1500" spc="-1" strike="noStrike">
              <a:solidFill>
                <a:srgbClr val="ffffff"/>
              </a:solidFill>
              <a:latin typeface="Arial"/>
            </a:endParaRPr>
          </a:p>
        </p:txBody>
      </p:sp>
      <p:sp>
        <p:nvSpPr>
          <p:cNvPr id="253" name="TextBox 11"/>
          <p:cNvSpPr/>
          <p:nvPr/>
        </p:nvSpPr>
        <p:spPr>
          <a:xfrm>
            <a:off x="5760720" y="2048400"/>
            <a:ext cx="5668920" cy="10796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Integrated physical prototype</a:t>
            </a:r>
            <a:br>
              <a:rPr sz="1100"/>
            </a:br>
            <a:r>
              <a:rPr b="0" lang="en-US" sz="1100" spc="-1" strike="noStrike">
                <a:solidFill>
                  <a:srgbClr val="a6c2c6"/>
                </a:solidFill>
                <a:latin typeface="Aptos"/>
              </a:rPr>
              <a:t>Calibrated sensing and power</a:t>
            </a:r>
            <a:br>
              <a:rPr sz="1100"/>
            </a:br>
            <a:r>
              <a:rPr b="0" lang="en-US" sz="1100" spc="-1" strike="noStrike">
                <a:solidFill>
                  <a:srgbClr val="a6c2c6"/>
                </a:solidFill>
                <a:latin typeface="Aptos"/>
              </a:rPr>
              <a:t>Local dashboard and data archive</a:t>
            </a:r>
            <a:br>
              <a:rPr sz="1100"/>
            </a:br>
            <a:r>
              <a:rPr b="0" lang="en-US" sz="1100" spc="-1" strike="noStrike">
                <a:solidFill>
                  <a:srgbClr val="a6c2c6"/>
                </a:solidFill>
                <a:latin typeface="Aptos"/>
              </a:rPr>
              <a:t>Controlled + supervised coastal results</a:t>
            </a:r>
            <a:br>
              <a:rPr sz="1100"/>
            </a:br>
            <a:r>
              <a:rPr b="0" lang="en-US" sz="1100" spc="-1" strike="noStrike">
                <a:solidFill>
                  <a:srgbClr val="a6c2c6"/>
                </a:solidFill>
                <a:latin typeface="Aptos"/>
              </a:rPr>
              <a:t>Model-versus-baseline evaluation</a:t>
            </a:r>
            <a:br>
              <a:rPr sz="1100"/>
            </a:br>
            <a:r>
              <a:rPr b="0" lang="en-US" sz="1100" spc="-1" strike="noStrike">
                <a:solidFill>
                  <a:srgbClr val="a6c2c6"/>
                </a:solidFill>
                <a:latin typeface="Aptos"/>
              </a:rPr>
              <a:t>Reproducible technical documentation</a:t>
            </a:r>
            <a:endParaRPr b="0" lang="en-US" sz="1100" spc="-1" strike="noStrike">
              <a:solidFill>
                <a:srgbClr val="ffffff"/>
              </a:solidFill>
              <a:latin typeface="Arial"/>
            </a:endParaRPr>
          </a:p>
        </p:txBody>
      </p:sp>
      <p:sp>
        <p:nvSpPr>
          <p:cNvPr id="254" name="Rounded Rectangle 12"/>
          <p:cNvSpPr/>
          <p:nvPr/>
        </p:nvSpPr>
        <p:spPr>
          <a:xfrm>
            <a:off x="5532120" y="4133160"/>
            <a:ext cx="6126120" cy="114264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5" name="TextBox 13"/>
          <p:cNvSpPr/>
          <p:nvPr/>
        </p:nvSpPr>
        <p:spPr>
          <a:xfrm>
            <a:off x="5733360" y="42782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56" name="TextBox 14"/>
          <p:cNvSpPr/>
          <p:nvPr/>
        </p:nvSpPr>
        <p:spPr>
          <a:xfrm>
            <a:off x="6217920" y="4316040"/>
            <a:ext cx="5257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Support requested</a:t>
            </a:r>
            <a:endParaRPr b="0" lang="en-US" sz="1500" spc="-1" strike="noStrike">
              <a:solidFill>
                <a:srgbClr val="ffffff"/>
              </a:solidFill>
              <a:latin typeface="Arial"/>
            </a:endParaRPr>
          </a:p>
        </p:txBody>
      </p:sp>
      <p:sp>
        <p:nvSpPr>
          <p:cNvPr id="257" name="TextBox 15"/>
          <p:cNvSpPr/>
          <p:nvPr/>
        </p:nvSpPr>
        <p:spPr>
          <a:xfrm>
            <a:off x="5760720" y="4791600"/>
            <a:ext cx="56689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Component procurement • fabrication • calibration access • supervised field testing • technical mentorship</a:t>
            </a:r>
            <a:endParaRPr b="0" lang="en-US" sz="1100" spc="-1" strike="noStrike">
              <a:solidFill>
                <a:srgbClr val="ffffff"/>
              </a:solidFill>
              <a:latin typeface="Arial"/>
            </a:endParaRPr>
          </a:p>
        </p:txBody>
      </p:sp>
      <p:sp>
        <p:nvSpPr>
          <p:cNvPr id="258" name="TextBox 16"/>
          <p:cNvSpPr/>
          <p:nvPr/>
        </p:nvSpPr>
        <p:spPr>
          <a:xfrm>
            <a:off x="5715000" y="5468040"/>
            <a:ext cx="5714640" cy="85068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700" spc="-1" strike="noStrike">
                <a:solidFill>
                  <a:srgbClr val="eff7f7"/>
                </a:solidFill>
                <a:latin typeface="Aptos"/>
              </a:rPr>
              <a:t>We are asking for the opportunity to generate local evidence—not acceptance of an untested operational forecast.</a:t>
            </a:r>
            <a:endParaRPr b="0" lang="en-US" sz="1700" spc="-1" strike="noStrike">
              <a:solidFill>
                <a:srgbClr val="ffffff"/>
              </a:solidFill>
              <a:latin typeface="Arial"/>
            </a:endParaRPr>
          </a:p>
        </p:txBody>
      </p:sp>
      <p:sp>
        <p:nvSpPr>
          <p:cNvPr id="259" name="TextBox 1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60" name="TextBox 1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Project FALCON Research Group — Fullbright College</dc:creator>
  <dc:description>Concept visuals are illustrative. Dashboard values are simulated until physical validation.</dc:description>
  <dc:language>en-US</dc:language>
  <cp:lastModifiedBy/>
  <dcterms:modified xsi:type="dcterms:W3CDTF">2026-08-16T01:18:17Z</dcterms:modified>
  <cp:revision>2</cp:revision>
  <dc:subject>Funding proposal for a solar-powered smart coastal observation buoy</dc:subject>
  <dc:title>Project FALCON — DOST Idea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