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Magandang araw po. Kami ang Project FALCON Research Group from Fullbright College. FALCON is an affordable, solar-powered smart coastal buoy for localized wave monitoring. Today we will present the problem, our proposed solution, our current software progress, and the support needed to build and validate the physical prototype.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not the absence of official forecasts. The gap we target is affordable, location-specific observation for one defined pilot site. Near-shore conditions can differ from a wider forecast area, while power, connectivity, maintenance, and displacement make continuous monitoring difficult.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buoy uses sensors to measure the environment and its own health. The ESP32 is the sensor reader. The Orange Pi is the onboard computer for storage, processing, API services, dashboard, and future validated model inference. Solar and battery power support local operation, while buffering protects data when connectivity is intermittent.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corrected view focuses only on the above-water assembly. Level one contains the wind sensor, GPS, and antennas. Level two covers the solar panels, cross-braced tower, and protected cable routing. Level three identifies the dry upper electronics pod containing the Orange Pi, ESP32, storage, interface boards, and power monitors, with the BNO085 fixed to the rigid central structure. Level four identifies the cylindrical main float, top-cap service access, waterline, and freeboard. No pointed underwater section is shown. Final sensor heights still require clearance, electromagnetic-interference, wind-load, ingress, and field review.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electronics overview. BNO085 measures motion, Bar02 measures water pressure, GPS provides position, INA260 boards monitor battery and solar, MCP9808 monitors temperature, and ADS1115 supports the wind-direction input. The ESP32 sends telemetry to the Orange Pi. The lower section shows the proposed protected solar-to-battery power chain. This is a visual guide, not the final installation drawing.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upper box is the serviceable electronics pod. A removable tray separates the Orange Pi edge-computing zone from the ESP32 sensor-control zone. Terminal blocks organize the 3.3-volt, regulated 5-volt, and common-ground buses. Every cable enters through an identified gland and is labeled at both ends. Signal wiring is routed away from power switching. Battery power must be isolated before maintenance. Final placement still requires thermal, electromagnetic-compatibility, ingress, and serviceability testing.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sensors collect measurements. The ESP32 reads, checks, and packages the values as telemetry. USB or UART carries the data to the Orange Pi, which manages local storage, signal processing, APIs, alerts, and future model inference. The dashboard then presents current readings, history, alerts, and evidence. Core monitoring remains local, so constant cloud access is not required.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FALCON is more than a drawing: we have a working dashboard, simulator, firmware foundation, telemetry contract, edge service, local database, alerts, wiring plan, BOM, and test documents. We are also transparent that the displayed data are simulated. Physical integration, calibration, field-trained AI, and marine deployment validation still require funded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contribution is not a claim that each component is new. The innovation is the practical, reproducible, and validated integration of sensing, edge computing, energy, prediction, and protection for a defined local use case. We also distinguish measured, simulated, estimated, and predicted values to avoid misleading users.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Potential users include coastal LGUs, fisherfolk, schools, researchers, ports, tourism operators, and environmental organizations. We will not claim that one prototype serves everyone. Before deployment, we will confirm one primary beneficiary, one Palawan site, and one realistic information need.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Development follows a safe sequence: finalize design and procurement, integrate electronics, fabricate and seal the buoy, calibrate in controlled tests, conduct a supervised coastal pilot, train and compare the model with a baseline, then report the results. The estimate is eight to twelve months, subject to procurement, weather, permits, and data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preliminary request is seventy-two thousand to one hundred twenty-seven thousand pesos. It covers electronics, edge computing, solar and battery power, marine structure, mooring, safety, calibration, field work, spares, transport, and contingency. This is a planning range and must be replaced by current supplier quotations before procurement.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end of funded development, we aim to deliver one integrated and documented prototype, calibrated sensors and power, local dashboard and archive, supervised coastal-test results, baseline-versus-model evaluation, and technical reports. We request support for procurement, fabrication, calibration access, field testing, and mentorship. We are asking for the opportunity to generate evidence—not acceptance of an untested forecast.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19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8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lcon-concept-visualization.png"/>
          <p:cNvPicPr>
            <a:picLocks noChangeAspect="1"/>
          </p:cNvPicPr>
          <p:nvPr/>
        </p:nvPicPr>
        <p:blipFill>
          <a:blip r:embed="rId2"/>
          <a:srcRect t="25" b="25"/>
          <a:stretch>
            <a:fillRect/>
          </a:stretch>
        </p:blipFill>
        <p:spPr>
          <a:xfrm>
            <a:off x="0" y="0"/>
            <a:ext cx="12191695" cy="6858000"/>
          </a:xfrm>
          <a:prstGeom prst="rect">
            <a:avLst/>
          </a:prstGeom>
        </p:spPr>
      </p:pic>
      <p:sp>
        <p:nvSpPr>
          <p:cNvPr id="4" name="Rectangle 3"/>
          <p:cNvSpPr/>
          <p:nvPr/>
        </p:nvSpPr>
        <p:spPr>
          <a:xfrm>
            <a:off x="0" y="0"/>
            <a:ext cx="6766560" cy="6858000"/>
          </a:xfrm>
          <a:prstGeom prst="rect">
            <a:avLst/>
          </a:prstGeom>
          <a:solidFill>
            <a:srgbClr val="0519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lcon-logo.jpg"/>
          <p:cNvPicPr>
            <a:picLocks noChangeAspect="1"/>
          </p:cNvPicPr>
          <p:nvPr/>
        </p:nvPicPr>
        <p:blipFill>
          <a:blip r:embed="rId3"/>
          <a:stretch>
            <a:fillRect/>
          </a:stretch>
        </p:blipFill>
        <p:spPr>
          <a:xfrm>
            <a:off x="640080" y="502920"/>
            <a:ext cx="749808" cy="749808"/>
          </a:xfrm>
          <a:prstGeom prst="rect">
            <a:avLst/>
          </a:prstGeom>
        </p:spPr>
      </p:pic>
      <p:sp>
        <p:nvSpPr>
          <p:cNvPr id="6" name="TextBox 5"/>
          <p:cNvSpPr txBox="1"/>
          <p:nvPr/>
        </p:nvSpPr>
        <p:spPr>
          <a:xfrm>
            <a:off x="640080" y="1600200"/>
            <a:ext cx="5669280" cy="685800"/>
          </a:xfrm>
          <a:prstGeom prst="rect">
            <a:avLst/>
          </a:prstGeom>
          <a:noFill/>
        </p:spPr>
        <p:txBody>
          <a:bodyPr wrap="square" lIns="36576" rIns="36576" tIns="36576" bIns="36576" anchor="t">
            <a:spAutoFit/>
          </a:bodyPr>
          <a:lstStyle/>
          <a:p>
            <a:pPr algn="l">
              <a:defRPr sz="3600" b="1">
                <a:solidFill>
                  <a:srgbClr val="EFF7F7"/>
                </a:solidFill>
                <a:latin typeface="Aptos"/>
              </a:defRPr>
            </a:pPr>
            <a:r>
              <a:t>PROJECT FALCON</a:t>
            </a:r>
          </a:p>
        </p:txBody>
      </p:sp>
      <p:sp>
        <p:nvSpPr>
          <p:cNvPr id="7" name="TextBox 6"/>
          <p:cNvSpPr txBox="1"/>
          <p:nvPr/>
        </p:nvSpPr>
        <p:spPr>
          <a:xfrm>
            <a:off x="658368" y="2331720"/>
            <a:ext cx="5303520" cy="960120"/>
          </a:xfrm>
          <a:prstGeom prst="rect">
            <a:avLst/>
          </a:prstGeom>
          <a:noFill/>
        </p:spPr>
        <p:txBody>
          <a:bodyPr wrap="square" lIns="36576" rIns="36576" tIns="36576" bIns="36576" anchor="t">
            <a:spAutoFit/>
          </a:bodyPr>
          <a:lstStyle/>
          <a:p>
            <a:pPr algn="l">
              <a:defRPr sz="2100" b="1">
                <a:solidFill>
                  <a:srgbClr val="70CBD3"/>
                </a:solidFill>
                <a:latin typeface="Aptos"/>
              </a:defRPr>
            </a:pPr>
            <a:r>
              <a:t>Fullbright College's AI-powered</a:t>
            </a:r>
            <a:br/>
            <a:r>
              <a:t>Live Coastal Observation Network</a:t>
            </a:r>
          </a:p>
        </p:txBody>
      </p:sp>
      <p:sp>
        <p:nvSpPr>
          <p:cNvPr id="8" name="TextBox 7"/>
          <p:cNvSpPr txBox="1"/>
          <p:nvPr/>
        </p:nvSpPr>
        <p:spPr>
          <a:xfrm>
            <a:off x="658368" y="3566160"/>
            <a:ext cx="5257800" cy="1143000"/>
          </a:xfrm>
          <a:prstGeom prst="rect">
            <a:avLst/>
          </a:prstGeom>
          <a:noFill/>
        </p:spPr>
        <p:txBody>
          <a:bodyPr wrap="square" lIns="36576" rIns="36576" tIns="36576" bIns="36576" anchor="t">
            <a:spAutoFit/>
          </a:bodyPr>
          <a:lstStyle/>
          <a:p>
            <a:pPr algn="l">
              <a:defRPr sz="1600" b="0">
                <a:solidFill>
                  <a:srgbClr val="EFF7F7"/>
                </a:solidFill>
                <a:latin typeface="Aptos"/>
              </a:defRPr>
            </a:pPr>
            <a:r>
              <a:t>An affordable solar-powered smart buoy for localized coastal monitoring, edge processing, and responsible short-horizon prediction research.</a:t>
            </a:r>
          </a:p>
        </p:txBody>
      </p:sp>
      <p:sp>
        <p:nvSpPr>
          <p:cNvPr id="9" name="Rounded Rectangle 8"/>
          <p:cNvSpPr/>
          <p:nvPr/>
        </p:nvSpPr>
        <p:spPr>
          <a:xfrm>
            <a:off x="658368" y="5074920"/>
            <a:ext cx="3931920" cy="502920"/>
          </a:xfrm>
          <a:prstGeom prst="roundRect">
            <a:avLst>
              <a:gd name="adj" fmla="val 12000"/>
            </a:avLst>
          </a:prstGeom>
          <a:solidFill>
            <a:srgbClr val="12434C"/>
          </a:solidFill>
          <a:ln>
            <a:solidFill>
              <a:srgbClr val="58BE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230368"/>
            <a:ext cx="3611880" cy="182880"/>
          </a:xfrm>
          <a:prstGeom prst="rect">
            <a:avLst/>
          </a:prstGeom>
          <a:noFill/>
        </p:spPr>
        <p:txBody>
          <a:bodyPr wrap="square" lIns="36576" rIns="36576" tIns="36576" bIns="36576" anchor="t">
            <a:spAutoFit/>
          </a:bodyPr>
          <a:lstStyle/>
          <a:p>
            <a:pPr algn="l">
              <a:defRPr sz="900" b="1">
                <a:solidFill>
                  <a:srgbClr val="EFF7F7"/>
                </a:solidFill>
                <a:latin typeface="Aptos"/>
              </a:defRPr>
            </a:pPr>
            <a:r>
              <a:t>IDEA • SOFTWARE PROTOTYPE • FUNDING PROPOSAL</a:t>
            </a:r>
          </a:p>
        </p:txBody>
      </p:sp>
      <p:sp>
        <p:nvSpPr>
          <p:cNvPr id="11" name="TextBox 10"/>
          <p:cNvSpPr txBox="1"/>
          <p:nvPr/>
        </p:nvSpPr>
        <p:spPr>
          <a:xfrm>
            <a:off x="9509760" y="6236208"/>
            <a:ext cx="2148840" cy="201168"/>
          </a:xfrm>
          <a:prstGeom prst="rect">
            <a:avLst/>
          </a:prstGeom>
          <a:noFill/>
        </p:spPr>
        <p:txBody>
          <a:bodyPr wrap="square" lIns="36576" rIns="36576" tIns="36576" bIns="36576" anchor="t">
            <a:spAutoFit/>
          </a:bodyPr>
          <a:lstStyle/>
          <a:p>
            <a:pPr algn="r">
              <a:defRPr sz="800" b="1">
                <a:solidFill>
                  <a:srgbClr val="EFF7F7"/>
                </a:solidFill>
                <a:latin typeface="Aptos"/>
              </a:defRPr>
            </a:pPr>
            <a:r>
              <a:t>CONCEPT VISUALIZATION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19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8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256032"/>
          </a:xfrm>
          <a:prstGeom prst="rect">
            <a:avLst/>
          </a:prstGeom>
          <a:noFill/>
        </p:spPr>
        <p:txBody>
          <a:bodyPr wrap="square" lIns="36576" rIns="36576" tIns="36576" bIns="36576" anchor="t">
            <a:spAutoFit/>
          </a:bodyPr>
          <a:lstStyle/>
          <a:p>
            <a:pPr algn="l">
              <a:defRPr sz="1000" b="1">
                <a:solidFill>
                  <a:srgbClr val="58BEC2"/>
                </a:solidFill>
                <a:latin typeface="Aptos"/>
              </a:defRPr>
            </a:pPr>
            <a:r>
              <a:t>WHY THIS MATTERS</a:t>
            </a:r>
          </a:p>
        </p:txBody>
      </p:sp>
      <p:sp>
        <p:nvSpPr>
          <p:cNvPr id="4" name="TextBox 3"/>
          <p:cNvSpPr txBox="1"/>
          <p:nvPr/>
        </p:nvSpPr>
        <p:spPr>
          <a:xfrm>
            <a:off x="502920" y="603504"/>
            <a:ext cx="10698480" cy="530352"/>
          </a:xfrm>
          <a:prstGeom prst="rect">
            <a:avLst/>
          </a:prstGeom>
          <a:noFill/>
        </p:spPr>
        <p:txBody>
          <a:bodyPr wrap="square" lIns="36576" rIns="36576" tIns="36576" bIns="36576" anchor="t">
            <a:spAutoFit/>
          </a:bodyPr>
          <a:lstStyle/>
          <a:p>
            <a:pPr algn="l">
              <a:defRPr sz="2700" b="1">
                <a:solidFill>
                  <a:srgbClr val="EFF7F7"/>
                </a:solidFill>
                <a:latin typeface="Aptos"/>
              </a:defRPr>
            </a:pPr>
            <a:r>
              <a:t>The gap is affordable, site-specific coastal observation</a:t>
            </a:r>
          </a:p>
        </p:txBody>
      </p:sp>
      <p:sp>
        <p:nvSpPr>
          <p:cNvPr id="5" name="TextBox 4"/>
          <p:cNvSpPr txBox="1"/>
          <p:nvPr/>
        </p:nvSpPr>
        <p:spPr>
          <a:xfrm>
            <a:off x="11201400" y="347472"/>
            <a:ext cx="457200" cy="320040"/>
          </a:xfrm>
          <a:prstGeom prst="rect">
            <a:avLst/>
          </a:prstGeom>
          <a:noFill/>
        </p:spPr>
        <p:txBody>
          <a:bodyPr wrap="square" lIns="36576" rIns="36576" tIns="36576" bIns="36576" anchor="t">
            <a:spAutoFit/>
          </a:bodyPr>
          <a:lstStyle/>
          <a:p>
            <a:pPr algn="r">
              <a:defRPr sz="1100" b="1">
                <a:solidFill>
                  <a:srgbClr val="A6C2C6"/>
                </a:solidFill>
                <a:latin typeface="Aptos"/>
              </a:defRPr>
            </a:pPr>
            <a:r>
              <a:t>02</a:t>
            </a:r>
          </a:p>
        </p:txBody>
      </p:sp>
      <p:sp>
        <p:nvSpPr>
          <p:cNvPr id="6" name="Rectangle 5"/>
          <p:cNvSpPr/>
          <p:nvPr/>
        </p:nvSpPr>
        <p:spPr>
          <a:xfrm>
            <a:off x="502920" y="1188720"/>
            <a:ext cx="11155680" cy="13716"/>
          </a:xfrm>
          <a:prstGeom prst="rect">
            <a:avLst/>
          </a:prstGeom>
          <a:solidFill>
            <a:srgbClr val="295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508760"/>
            <a:ext cx="3520440" cy="1874519"/>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673351"/>
            <a:ext cx="411480" cy="384048"/>
          </a:xfrm>
          <a:prstGeom prst="rect">
            <a:avLst/>
          </a:prstGeom>
          <a:noFill/>
        </p:spPr>
        <p:txBody>
          <a:bodyPr wrap="square" lIns="36576" rIns="36576" tIns="36576" bIns="36576" anchor="ctr">
            <a:spAutoFit/>
          </a:bodyPr>
          <a:lstStyle/>
          <a:p>
            <a:pPr algn="ctr">
              <a:defRPr sz="2300" b="1">
                <a:solidFill>
                  <a:srgbClr val="58BEC2"/>
                </a:solidFill>
                <a:latin typeface="Aptos"/>
              </a:defRPr>
            </a:pPr>
            <a:r>
              <a:t>⌖</a:t>
            </a:r>
          </a:p>
        </p:txBody>
      </p:sp>
      <p:sp>
        <p:nvSpPr>
          <p:cNvPr id="9" name="TextBox 8"/>
          <p:cNvSpPr txBox="1"/>
          <p:nvPr/>
        </p:nvSpPr>
        <p:spPr>
          <a:xfrm>
            <a:off x="1188720" y="1691639"/>
            <a:ext cx="2651760"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Localized conditions</a:t>
            </a:r>
          </a:p>
        </p:txBody>
      </p:sp>
      <p:sp>
        <p:nvSpPr>
          <p:cNvPr id="10" name="TextBox 9"/>
          <p:cNvSpPr txBox="1"/>
          <p:nvPr/>
        </p:nvSpPr>
        <p:spPr>
          <a:xfrm>
            <a:off x="731520" y="2167128"/>
            <a:ext cx="3063240" cy="1069848"/>
          </a:xfrm>
          <a:prstGeom prst="rect">
            <a:avLst/>
          </a:prstGeom>
          <a:noFill/>
        </p:spPr>
        <p:txBody>
          <a:bodyPr wrap="square" lIns="36576" rIns="36576" tIns="36576" bIns="36576" anchor="t">
            <a:spAutoFit/>
          </a:bodyPr>
          <a:lstStyle/>
          <a:p>
            <a:pPr algn="l">
              <a:defRPr sz="1100" b="0">
                <a:solidFill>
                  <a:srgbClr val="A6C2C6"/>
                </a:solidFill>
                <a:latin typeface="Aptos"/>
              </a:defRPr>
            </a:pPr>
            <a:r>
              <a:t>A wide-area forecast may not describe the exact near-shore research or launch site.</a:t>
            </a:r>
          </a:p>
        </p:txBody>
      </p:sp>
      <p:sp>
        <p:nvSpPr>
          <p:cNvPr id="11" name="Rounded Rectangle 10"/>
          <p:cNvSpPr/>
          <p:nvPr/>
        </p:nvSpPr>
        <p:spPr>
          <a:xfrm>
            <a:off x="4325112" y="1508760"/>
            <a:ext cx="3520440" cy="1874519"/>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673351"/>
            <a:ext cx="411480" cy="384048"/>
          </a:xfrm>
          <a:prstGeom prst="rect">
            <a:avLst/>
          </a:prstGeom>
          <a:noFill/>
        </p:spPr>
        <p:txBody>
          <a:bodyPr wrap="square" lIns="36576" rIns="36576" tIns="36576" bIns="36576" anchor="ctr">
            <a:spAutoFit/>
          </a:bodyPr>
          <a:lstStyle/>
          <a:p>
            <a:pPr algn="ctr">
              <a:defRPr sz="2300" b="1">
                <a:solidFill>
                  <a:srgbClr val="70CBD3"/>
                </a:solidFill>
                <a:latin typeface="Aptos"/>
              </a:defRPr>
            </a:pPr>
            <a:r>
              <a:t>₱</a:t>
            </a:r>
          </a:p>
        </p:txBody>
      </p:sp>
      <p:sp>
        <p:nvSpPr>
          <p:cNvPr id="13" name="TextBox 12"/>
          <p:cNvSpPr txBox="1"/>
          <p:nvPr/>
        </p:nvSpPr>
        <p:spPr>
          <a:xfrm>
            <a:off x="5010912" y="1691639"/>
            <a:ext cx="2651760"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Access and cost</a:t>
            </a:r>
          </a:p>
        </p:txBody>
      </p:sp>
      <p:sp>
        <p:nvSpPr>
          <p:cNvPr id="14" name="TextBox 13"/>
          <p:cNvSpPr txBox="1"/>
          <p:nvPr/>
        </p:nvSpPr>
        <p:spPr>
          <a:xfrm>
            <a:off x="4553712" y="2167128"/>
            <a:ext cx="3063240" cy="1069848"/>
          </a:xfrm>
          <a:prstGeom prst="rect">
            <a:avLst/>
          </a:prstGeom>
          <a:noFill/>
        </p:spPr>
        <p:txBody>
          <a:bodyPr wrap="square" lIns="36576" rIns="36576" tIns="36576" bIns="36576" anchor="t">
            <a:spAutoFit/>
          </a:bodyPr>
          <a:lstStyle/>
          <a:p>
            <a:pPr algn="l">
              <a:defRPr sz="1100" b="0">
                <a:solidFill>
                  <a:srgbClr val="A6C2C6"/>
                </a:solidFill>
                <a:latin typeface="Aptos"/>
              </a:defRPr>
            </a:pPr>
            <a:r>
              <a:t>Professional oceanographic systems can be difficult for small institutions to acquire and maintain.</a:t>
            </a:r>
          </a:p>
        </p:txBody>
      </p:sp>
      <p:sp>
        <p:nvSpPr>
          <p:cNvPr id="15" name="Rounded Rectangle 14"/>
          <p:cNvSpPr/>
          <p:nvPr/>
        </p:nvSpPr>
        <p:spPr>
          <a:xfrm>
            <a:off x="8138160" y="1508760"/>
            <a:ext cx="3520440" cy="1874519"/>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8" y="1673351"/>
            <a:ext cx="411480" cy="384048"/>
          </a:xfrm>
          <a:prstGeom prst="rect">
            <a:avLst/>
          </a:prstGeom>
          <a:noFill/>
        </p:spPr>
        <p:txBody>
          <a:bodyPr wrap="square" lIns="36576" rIns="36576" tIns="36576" bIns="36576" anchor="ctr">
            <a:spAutoFit/>
          </a:bodyPr>
          <a:lstStyle/>
          <a:p>
            <a:pPr algn="ctr">
              <a:defRPr sz="2300" b="1">
                <a:solidFill>
                  <a:srgbClr val="D39D4C"/>
                </a:solidFill>
                <a:latin typeface="Aptos"/>
              </a:defRPr>
            </a:pPr>
            <a:r>
              <a:t>⚠</a:t>
            </a:r>
          </a:p>
        </p:txBody>
      </p:sp>
      <p:sp>
        <p:nvSpPr>
          <p:cNvPr id="17" name="TextBox 16"/>
          <p:cNvSpPr txBox="1"/>
          <p:nvPr/>
        </p:nvSpPr>
        <p:spPr>
          <a:xfrm>
            <a:off x="8823960" y="1691639"/>
            <a:ext cx="2651760"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Operational limits</a:t>
            </a:r>
          </a:p>
        </p:txBody>
      </p:sp>
      <p:sp>
        <p:nvSpPr>
          <p:cNvPr id="18" name="TextBox 17"/>
          <p:cNvSpPr txBox="1"/>
          <p:nvPr/>
        </p:nvSpPr>
        <p:spPr>
          <a:xfrm>
            <a:off x="8366760" y="2167128"/>
            <a:ext cx="3063240" cy="1069848"/>
          </a:xfrm>
          <a:prstGeom prst="rect">
            <a:avLst/>
          </a:prstGeom>
          <a:noFill/>
        </p:spPr>
        <p:txBody>
          <a:bodyPr wrap="square" lIns="36576" rIns="36576" tIns="36576" bIns="36576" anchor="t">
            <a:spAutoFit/>
          </a:bodyPr>
          <a:lstStyle/>
          <a:p>
            <a:pPr algn="l">
              <a:defRPr sz="1100" b="0">
                <a:solidFill>
                  <a:srgbClr val="A6C2C6"/>
                </a:solidFill>
                <a:latin typeface="Aptos"/>
              </a:defRPr>
            </a:pPr>
            <a:r>
              <a:t>Connectivity, power, maintenance, and equipment displacement complicate continuous monitoring.</a:t>
            </a:r>
          </a:p>
        </p:txBody>
      </p:sp>
      <p:sp>
        <p:nvSpPr>
          <p:cNvPr id="19" name="Rounded Rectangle 18"/>
          <p:cNvSpPr/>
          <p:nvPr/>
        </p:nvSpPr>
        <p:spPr>
          <a:xfrm>
            <a:off x="502920" y="3794760"/>
            <a:ext cx="11155680" cy="1572768"/>
          </a:xfrm>
          <a:prstGeom prst="roundRect">
            <a:avLst>
              <a:gd name="adj" fmla="val 12000"/>
            </a:avLst>
          </a:prstGeom>
          <a:solidFill>
            <a:srgbClr val="0A252F"/>
          </a:solidFill>
          <a:ln>
            <a:solidFill>
              <a:srgbClr val="3664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114800"/>
            <a:ext cx="2011680" cy="274320"/>
          </a:xfrm>
          <a:prstGeom prst="rect">
            <a:avLst/>
          </a:prstGeom>
          <a:noFill/>
        </p:spPr>
        <p:txBody>
          <a:bodyPr wrap="square" lIns="36576" rIns="36576" tIns="36576" bIns="36576" anchor="t">
            <a:spAutoFit/>
          </a:bodyPr>
          <a:lstStyle/>
          <a:p>
            <a:pPr algn="l">
              <a:defRPr sz="1100" b="1">
                <a:solidFill>
                  <a:srgbClr val="58BEC2"/>
                </a:solidFill>
                <a:latin typeface="Aptos"/>
              </a:defRPr>
            </a:pPr>
            <a:r>
              <a:t>THE RESEARCH QUESTION</a:t>
            </a:r>
          </a:p>
        </p:txBody>
      </p:sp>
      <p:sp>
        <p:nvSpPr>
          <p:cNvPr id="21" name="TextBox 20"/>
          <p:cNvSpPr txBox="1"/>
          <p:nvPr/>
        </p:nvSpPr>
        <p:spPr>
          <a:xfrm>
            <a:off x="822960" y="4553712"/>
            <a:ext cx="10149840" cy="566928"/>
          </a:xfrm>
          <a:prstGeom prst="rect">
            <a:avLst/>
          </a:prstGeom>
          <a:noFill/>
        </p:spPr>
        <p:txBody>
          <a:bodyPr wrap="square" lIns="36576" rIns="36576" tIns="36576" bIns="36576" anchor="ctr">
            <a:spAutoFit/>
          </a:bodyPr>
          <a:lstStyle/>
          <a:p>
            <a:pPr algn="ctr">
              <a:defRPr sz="2300" b="1">
                <a:solidFill>
                  <a:srgbClr val="EFF7F7"/>
                </a:solidFill>
                <a:latin typeface="Aptos"/>
              </a:defRPr>
            </a:pPr>
            <a:r>
              <a:t>Can a modular, local-first buoy provide useful coastal observations at a defined Palawan pilot site—at a cost and complexity a small institution can manage?</a:t>
            </a:r>
          </a:p>
        </p:txBody>
      </p:sp>
      <p:sp>
        <p:nvSpPr>
          <p:cNvPr id="22" name="TextBox 21"/>
          <p:cNvSpPr txBox="1"/>
          <p:nvPr/>
        </p:nvSpPr>
        <p:spPr>
          <a:xfrm>
            <a:off x="502920" y="6537960"/>
            <a:ext cx="6400800" cy="182880"/>
          </a:xfrm>
          <a:prstGeom prst="rect">
            <a:avLst/>
          </a:prstGeom>
          <a:noFill/>
        </p:spPr>
        <p:txBody>
          <a:bodyPr wrap="square" lIns="36576" rIns="36576" tIns="36576" bIns="36576" anchor="t">
            <a:spAutoFit/>
          </a:bodyPr>
          <a:lstStyle/>
          <a:p>
            <a:pPr algn="l">
              <a:defRPr sz="800" b="1">
                <a:solidFill>
                  <a:srgbClr val="A6C2C6"/>
                </a:solidFill>
                <a:latin typeface="Aptos"/>
              </a:defRPr>
            </a:pPr>
            <a:r>
              <a:t>PROJECT FALCON • FULLBRIGHT COLLEGE</a:t>
            </a:r>
          </a:p>
        </p:txBody>
      </p:sp>
      <p:sp>
        <p:nvSpPr>
          <p:cNvPr id="23" name="TextBox 22"/>
          <p:cNvSpPr txBox="1"/>
          <p:nvPr/>
        </p:nvSpPr>
        <p:spPr>
          <a:xfrm>
            <a:off x="9144000" y="6537960"/>
            <a:ext cx="2514600" cy="182880"/>
          </a:xfrm>
          <a:prstGeom prst="rect">
            <a:avLst/>
          </a:prstGeom>
          <a:noFill/>
        </p:spPr>
        <p:txBody>
          <a:bodyPr wrap="square" lIns="36576" rIns="36576" tIns="36576" bIns="36576" anchor="t">
            <a:spAutoFit/>
          </a:bodyPr>
          <a:lstStyle/>
          <a:p>
            <a:pPr algn="r">
              <a:defRPr sz="800" b="1">
                <a:solidFill>
                  <a:srgbClr val="A6C2C6"/>
                </a:solidFill>
                <a:latin typeface="Aptos"/>
              </a:defRPr>
            </a:pPr>
            <a:r>
              <a:t>DOST IDEA PRESENTATION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19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8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256032"/>
          </a:xfrm>
          <a:prstGeom prst="rect">
            <a:avLst/>
          </a:prstGeom>
          <a:noFill/>
        </p:spPr>
        <p:txBody>
          <a:bodyPr wrap="square" lIns="36576" rIns="36576" tIns="36576" bIns="36576" anchor="t">
            <a:spAutoFit/>
          </a:bodyPr>
          <a:lstStyle/>
          <a:p>
            <a:pPr algn="l">
              <a:defRPr sz="1000" b="1">
                <a:solidFill>
                  <a:srgbClr val="58BEC2"/>
                </a:solidFill>
                <a:latin typeface="Aptos"/>
              </a:defRPr>
            </a:pPr>
            <a:r>
              <a:t>PROPOSED SOLUTION</a:t>
            </a:r>
          </a:p>
        </p:txBody>
      </p:sp>
      <p:sp>
        <p:nvSpPr>
          <p:cNvPr id="4" name="TextBox 3"/>
          <p:cNvSpPr txBox="1"/>
          <p:nvPr/>
        </p:nvSpPr>
        <p:spPr>
          <a:xfrm>
            <a:off x="502920" y="603504"/>
            <a:ext cx="10698480" cy="530352"/>
          </a:xfrm>
          <a:prstGeom prst="rect">
            <a:avLst/>
          </a:prstGeom>
          <a:noFill/>
        </p:spPr>
        <p:txBody>
          <a:bodyPr wrap="square" lIns="36576" rIns="36576" tIns="36576" bIns="36576" anchor="t">
            <a:spAutoFit/>
          </a:bodyPr>
          <a:lstStyle/>
          <a:p>
            <a:pPr algn="l">
              <a:defRPr sz="2700" b="1">
                <a:solidFill>
                  <a:srgbClr val="EFF7F7"/>
                </a:solidFill>
                <a:latin typeface="Aptos"/>
              </a:defRPr>
            </a:pPr>
            <a:r>
              <a:t>A local-first smart coastal observation buoy</a:t>
            </a:r>
          </a:p>
        </p:txBody>
      </p:sp>
      <p:sp>
        <p:nvSpPr>
          <p:cNvPr id="5" name="TextBox 4"/>
          <p:cNvSpPr txBox="1"/>
          <p:nvPr/>
        </p:nvSpPr>
        <p:spPr>
          <a:xfrm>
            <a:off x="11201400" y="347472"/>
            <a:ext cx="457200" cy="320040"/>
          </a:xfrm>
          <a:prstGeom prst="rect">
            <a:avLst/>
          </a:prstGeom>
          <a:noFill/>
        </p:spPr>
        <p:txBody>
          <a:bodyPr wrap="square" lIns="36576" rIns="36576" tIns="36576" bIns="36576" anchor="t">
            <a:spAutoFit/>
          </a:bodyPr>
          <a:lstStyle/>
          <a:p>
            <a:pPr algn="r">
              <a:defRPr sz="1100" b="1">
                <a:solidFill>
                  <a:srgbClr val="A6C2C6"/>
                </a:solidFill>
                <a:latin typeface="Aptos"/>
              </a:defRPr>
            </a:pPr>
            <a:r>
              <a:t>03</a:t>
            </a:r>
          </a:p>
        </p:txBody>
      </p:sp>
      <p:sp>
        <p:nvSpPr>
          <p:cNvPr id="6" name="Rectangle 5"/>
          <p:cNvSpPr/>
          <p:nvPr/>
        </p:nvSpPr>
        <p:spPr>
          <a:xfrm>
            <a:off x="502920" y="1188720"/>
            <a:ext cx="11155680" cy="13716"/>
          </a:xfrm>
          <a:prstGeom prst="rect">
            <a:avLst/>
          </a:prstGeom>
          <a:solidFill>
            <a:srgbClr val="295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alcon-concept-visualization.png"/>
          <p:cNvPicPr>
            <a:picLocks noChangeAspect="1"/>
          </p:cNvPicPr>
          <p:nvPr/>
        </p:nvPicPr>
        <p:blipFill>
          <a:blip r:embed="rId2"/>
          <a:srcRect l="13737" r="13737"/>
          <a:stretch>
            <a:fillRect/>
          </a:stretch>
        </p:blipFill>
        <p:spPr>
          <a:xfrm>
            <a:off x="502920" y="1417320"/>
            <a:ext cx="5715000" cy="4434840"/>
          </a:xfrm>
          <a:prstGeom prst="rect">
            <a:avLst/>
          </a:prstGeom>
        </p:spPr>
      </p:pic>
      <p:sp>
        <p:nvSpPr>
          <p:cNvPr id="8" name="TextBox 7"/>
          <p:cNvSpPr txBox="1"/>
          <p:nvPr/>
        </p:nvSpPr>
        <p:spPr>
          <a:xfrm>
            <a:off x="658368" y="5596128"/>
            <a:ext cx="2194560" cy="164592"/>
          </a:xfrm>
          <a:prstGeom prst="rect">
            <a:avLst/>
          </a:prstGeom>
          <a:noFill/>
        </p:spPr>
        <p:txBody>
          <a:bodyPr wrap="square" lIns="36576" rIns="36576" tIns="36576" bIns="36576" anchor="t">
            <a:spAutoFit/>
          </a:bodyPr>
          <a:lstStyle/>
          <a:p>
            <a:pPr algn="l">
              <a:defRPr sz="800" b="1">
                <a:solidFill>
                  <a:srgbClr val="EFF7F7"/>
                </a:solidFill>
                <a:latin typeface="Aptos"/>
              </a:defRPr>
            </a:pPr>
            <a:r>
              <a:t>CONCEPT VISUALIZATION</a:t>
            </a:r>
          </a:p>
        </p:txBody>
      </p:sp>
      <p:sp>
        <p:nvSpPr>
          <p:cNvPr id="9" name="TextBox 8"/>
          <p:cNvSpPr txBox="1"/>
          <p:nvPr/>
        </p:nvSpPr>
        <p:spPr>
          <a:xfrm>
            <a:off x="2880360" y="5596128"/>
            <a:ext cx="3154680" cy="164592"/>
          </a:xfrm>
          <a:prstGeom prst="rect">
            <a:avLst/>
          </a:prstGeom>
          <a:noFill/>
        </p:spPr>
        <p:txBody>
          <a:bodyPr wrap="square" lIns="36576" rIns="36576" tIns="36576" bIns="36576" anchor="t">
            <a:spAutoFit/>
          </a:bodyPr>
          <a:lstStyle/>
          <a:p>
            <a:pPr algn="r">
              <a:defRPr sz="800" b="1">
                <a:solidFill>
                  <a:srgbClr val="A6C2C6"/>
                </a:solidFill>
                <a:latin typeface="Aptos"/>
              </a:defRPr>
            </a:pPr>
            <a:r>
              <a:t>Actual interactive model available: FALCON-01.glb</a:t>
            </a:r>
          </a:p>
        </p:txBody>
      </p:sp>
      <p:sp>
        <p:nvSpPr>
          <p:cNvPr id="10" name="Rounded Rectangle 9"/>
          <p:cNvSpPr/>
          <p:nvPr/>
        </p:nvSpPr>
        <p:spPr>
          <a:xfrm>
            <a:off x="3246120" y="4315968"/>
            <a:ext cx="2487168" cy="384048"/>
          </a:xfrm>
          <a:prstGeom prst="roundRect">
            <a:avLst>
              <a:gd name="adj" fmla="val 12000"/>
            </a:avLst>
          </a:prstGeom>
          <a:solidFill>
            <a:srgbClr val="0A2A33"/>
          </a:solidFill>
          <a:ln>
            <a:solidFill>
              <a:srgbClr val="70CB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01568" y="4434840"/>
            <a:ext cx="2176272" cy="137160"/>
          </a:xfrm>
          <a:prstGeom prst="rect">
            <a:avLst/>
          </a:prstGeom>
          <a:noFill/>
        </p:spPr>
        <p:txBody>
          <a:bodyPr wrap="square" lIns="36576" rIns="36576" tIns="36576" bIns="36576" anchor="t">
            <a:spAutoFit/>
          </a:bodyPr>
          <a:lstStyle/>
          <a:p>
            <a:pPr algn="ctr">
              <a:defRPr sz="900" b="1">
                <a:solidFill>
                  <a:srgbClr val="EFF7F7"/>
                </a:solidFill>
                <a:latin typeface="Aptos"/>
              </a:defRPr>
            </a:pPr>
            <a:r>
              <a:t>UPPER ELECTRONICS POD</a:t>
            </a:r>
          </a:p>
        </p:txBody>
      </p:sp>
      <p:sp>
        <p:nvSpPr>
          <p:cNvPr id="12" name="Rounded Rectangle 11"/>
          <p:cNvSpPr/>
          <p:nvPr/>
        </p:nvSpPr>
        <p:spPr>
          <a:xfrm>
            <a:off x="6537960" y="1417320"/>
            <a:ext cx="5120640" cy="960120"/>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9128" y="1581912"/>
            <a:ext cx="411480" cy="384048"/>
          </a:xfrm>
          <a:prstGeom prst="rect">
            <a:avLst/>
          </a:prstGeom>
          <a:noFill/>
        </p:spPr>
        <p:txBody>
          <a:bodyPr wrap="square" lIns="36576" rIns="36576" tIns="36576" bIns="36576" anchor="ctr">
            <a:spAutoFit/>
          </a:bodyPr>
          <a:lstStyle/>
          <a:p>
            <a:pPr algn="ctr">
              <a:defRPr sz="2300" b="1">
                <a:solidFill>
                  <a:srgbClr val="58BEC2"/>
                </a:solidFill>
                <a:latin typeface="Aptos"/>
              </a:defRPr>
            </a:pPr>
            <a:r>
              <a:t>◉</a:t>
            </a:r>
          </a:p>
        </p:txBody>
      </p:sp>
      <p:sp>
        <p:nvSpPr>
          <p:cNvPr id="14" name="TextBox 13"/>
          <p:cNvSpPr txBox="1"/>
          <p:nvPr/>
        </p:nvSpPr>
        <p:spPr>
          <a:xfrm>
            <a:off x="7223760" y="1600200"/>
            <a:ext cx="4251959"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Measure</a:t>
            </a:r>
          </a:p>
        </p:txBody>
      </p:sp>
      <p:sp>
        <p:nvSpPr>
          <p:cNvPr id="15" name="TextBox 14"/>
          <p:cNvSpPr txBox="1"/>
          <p:nvPr/>
        </p:nvSpPr>
        <p:spPr>
          <a:xfrm>
            <a:off x="6766560" y="2075688"/>
            <a:ext cx="4663440" cy="155448"/>
          </a:xfrm>
          <a:prstGeom prst="rect">
            <a:avLst/>
          </a:prstGeom>
          <a:noFill/>
        </p:spPr>
        <p:txBody>
          <a:bodyPr wrap="square" lIns="36576" rIns="36576" tIns="36576" bIns="36576" anchor="t">
            <a:spAutoFit/>
          </a:bodyPr>
          <a:lstStyle/>
          <a:p>
            <a:pPr algn="l">
              <a:defRPr sz="1100" b="0">
                <a:solidFill>
                  <a:srgbClr val="A6C2C6"/>
                </a:solidFill>
                <a:latin typeface="Aptos"/>
              </a:defRPr>
            </a:pPr>
            <a:r>
              <a:t>Motion, water pressure, wind, GPS, temperature, battery and solar.</a:t>
            </a:r>
          </a:p>
        </p:txBody>
      </p:sp>
      <p:sp>
        <p:nvSpPr>
          <p:cNvPr id="16" name="Rounded Rectangle 15"/>
          <p:cNvSpPr/>
          <p:nvPr/>
        </p:nvSpPr>
        <p:spPr>
          <a:xfrm>
            <a:off x="6537960" y="2542032"/>
            <a:ext cx="5120640" cy="1115568"/>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39128" y="2706624"/>
            <a:ext cx="411480" cy="384048"/>
          </a:xfrm>
          <a:prstGeom prst="rect">
            <a:avLst/>
          </a:prstGeom>
          <a:noFill/>
        </p:spPr>
        <p:txBody>
          <a:bodyPr wrap="square" lIns="36576" rIns="36576" tIns="36576" bIns="36576" anchor="ctr">
            <a:spAutoFit/>
          </a:bodyPr>
          <a:lstStyle/>
          <a:p>
            <a:pPr algn="ctr">
              <a:defRPr sz="2300" b="1">
                <a:solidFill>
                  <a:srgbClr val="70CBD3"/>
                </a:solidFill>
                <a:latin typeface="Aptos"/>
              </a:defRPr>
            </a:pPr>
            <a:r>
              <a:t>▣</a:t>
            </a:r>
          </a:p>
        </p:txBody>
      </p:sp>
      <p:sp>
        <p:nvSpPr>
          <p:cNvPr id="18" name="TextBox 17"/>
          <p:cNvSpPr txBox="1"/>
          <p:nvPr/>
        </p:nvSpPr>
        <p:spPr>
          <a:xfrm>
            <a:off x="7223760" y="2724912"/>
            <a:ext cx="4251959"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Process locally</a:t>
            </a:r>
          </a:p>
        </p:txBody>
      </p:sp>
      <p:sp>
        <p:nvSpPr>
          <p:cNvPr id="19" name="TextBox 18"/>
          <p:cNvSpPr txBox="1"/>
          <p:nvPr/>
        </p:nvSpPr>
        <p:spPr>
          <a:xfrm>
            <a:off x="6766560" y="3200400"/>
            <a:ext cx="4663440" cy="310896"/>
          </a:xfrm>
          <a:prstGeom prst="rect">
            <a:avLst/>
          </a:prstGeom>
          <a:noFill/>
        </p:spPr>
        <p:txBody>
          <a:bodyPr wrap="square" lIns="36576" rIns="36576" tIns="36576" bIns="36576" anchor="t">
            <a:spAutoFit/>
          </a:bodyPr>
          <a:lstStyle/>
          <a:p>
            <a:pPr algn="l">
              <a:defRPr sz="1100" b="0">
                <a:solidFill>
                  <a:srgbClr val="A6C2C6"/>
                </a:solidFill>
                <a:latin typeface="Aptos"/>
              </a:defRPr>
            </a:pPr>
            <a:r>
              <a:t>ESP32 reads sensors; Orange Pi stores, processes, serves the API, and hosts the dashboard.</a:t>
            </a:r>
          </a:p>
        </p:txBody>
      </p:sp>
      <p:sp>
        <p:nvSpPr>
          <p:cNvPr id="20" name="Rounded Rectangle 19"/>
          <p:cNvSpPr/>
          <p:nvPr/>
        </p:nvSpPr>
        <p:spPr>
          <a:xfrm>
            <a:off x="6537960" y="3822191"/>
            <a:ext cx="5120640" cy="1115568"/>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39128" y="3986783"/>
            <a:ext cx="411480" cy="384048"/>
          </a:xfrm>
          <a:prstGeom prst="rect">
            <a:avLst/>
          </a:prstGeom>
          <a:noFill/>
        </p:spPr>
        <p:txBody>
          <a:bodyPr wrap="square" lIns="36576" rIns="36576" tIns="36576" bIns="36576" anchor="ctr">
            <a:spAutoFit/>
          </a:bodyPr>
          <a:lstStyle/>
          <a:p>
            <a:pPr algn="ctr">
              <a:defRPr sz="2300" b="1">
                <a:solidFill>
                  <a:srgbClr val="66BE91"/>
                </a:solidFill>
                <a:latin typeface="Aptos"/>
              </a:defRPr>
            </a:pPr>
            <a:r>
              <a:t>⌁</a:t>
            </a:r>
          </a:p>
        </p:txBody>
      </p:sp>
      <p:sp>
        <p:nvSpPr>
          <p:cNvPr id="22" name="TextBox 21"/>
          <p:cNvSpPr txBox="1"/>
          <p:nvPr/>
        </p:nvSpPr>
        <p:spPr>
          <a:xfrm>
            <a:off x="7223760" y="4005072"/>
            <a:ext cx="4251959"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Display and alert</a:t>
            </a:r>
          </a:p>
        </p:txBody>
      </p:sp>
      <p:sp>
        <p:nvSpPr>
          <p:cNvPr id="23" name="TextBox 22"/>
          <p:cNvSpPr txBox="1"/>
          <p:nvPr/>
        </p:nvSpPr>
        <p:spPr>
          <a:xfrm>
            <a:off x="6766560" y="4480559"/>
            <a:ext cx="4663440" cy="310896"/>
          </a:xfrm>
          <a:prstGeom prst="rect">
            <a:avLst/>
          </a:prstGeom>
          <a:noFill/>
        </p:spPr>
        <p:txBody>
          <a:bodyPr wrap="square" lIns="36576" rIns="36576" tIns="36576" bIns="36576" anchor="t">
            <a:spAutoFit/>
          </a:bodyPr>
          <a:lstStyle/>
          <a:p>
            <a:pPr algn="l">
              <a:defRPr sz="1100" b="0">
                <a:solidFill>
                  <a:srgbClr val="A6C2C6"/>
                </a:solidFill>
                <a:latin typeface="Aptos"/>
              </a:defRPr>
            </a:pPr>
            <a:r>
              <a:t>Responsive dashboard presents live values, history, system health, and abnormal displacement alerts.</a:t>
            </a:r>
          </a:p>
        </p:txBody>
      </p:sp>
      <p:sp>
        <p:nvSpPr>
          <p:cNvPr id="24" name="Rounded Rectangle 23"/>
          <p:cNvSpPr/>
          <p:nvPr/>
        </p:nvSpPr>
        <p:spPr>
          <a:xfrm>
            <a:off x="6537960" y="5102352"/>
            <a:ext cx="5120640" cy="960120"/>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39128" y="5266944"/>
            <a:ext cx="411480" cy="384048"/>
          </a:xfrm>
          <a:prstGeom prst="rect">
            <a:avLst/>
          </a:prstGeom>
          <a:noFill/>
        </p:spPr>
        <p:txBody>
          <a:bodyPr wrap="square" lIns="36576" rIns="36576" tIns="36576" bIns="36576" anchor="ctr">
            <a:spAutoFit/>
          </a:bodyPr>
          <a:lstStyle/>
          <a:p>
            <a:pPr algn="ctr">
              <a:defRPr sz="2300" b="1">
                <a:solidFill>
                  <a:srgbClr val="D39D4C"/>
                </a:solidFill>
                <a:latin typeface="Aptos"/>
              </a:defRPr>
            </a:pPr>
            <a:r>
              <a:t>↗</a:t>
            </a:r>
          </a:p>
        </p:txBody>
      </p:sp>
      <p:sp>
        <p:nvSpPr>
          <p:cNvPr id="26" name="TextBox 25"/>
          <p:cNvSpPr txBox="1"/>
          <p:nvPr/>
        </p:nvSpPr>
        <p:spPr>
          <a:xfrm>
            <a:off x="7223760" y="5285232"/>
            <a:ext cx="4251959"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Research prediction</a:t>
            </a:r>
          </a:p>
        </p:txBody>
      </p:sp>
      <p:sp>
        <p:nvSpPr>
          <p:cNvPr id="27" name="TextBox 26"/>
          <p:cNvSpPr txBox="1"/>
          <p:nvPr/>
        </p:nvSpPr>
        <p:spPr>
          <a:xfrm>
            <a:off x="6766560" y="5760720"/>
            <a:ext cx="4663440" cy="155448"/>
          </a:xfrm>
          <a:prstGeom prst="rect">
            <a:avLst/>
          </a:prstGeom>
          <a:noFill/>
        </p:spPr>
        <p:txBody>
          <a:bodyPr wrap="square" lIns="36576" rIns="36576" tIns="36576" bIns="36576" anchor="t">
            <a:spAutoFit/>
          </a:bodyPr>
          <a:lstStyle/>
          <a:p>
            <a:pPr algn="l">
              <a:defRPr sz="1100" b="0">
                <a:solidFill>
                  <a:srgbClr val="A6C2C6"/>
                </a:solidFill>
                <a:latin typeface="Aptos"/>
              </a:defRPr>
            </a:pPr>
            <a:r>
              <a:t>Field data will be collected before the model is trained, compared with a baseline, and validated.</a:t>
            </a:r>
          </a:p>
        </p:txBody>
      </p:sp>
      <p:sp>
        <p:nvSpPr>
          <p:cNvPr id="28" name="TextBox 27"/>
          <p:cNvSpPr txBox="1"/>
          <p:nvPr/>
        </p:nvSpPr>
        <p:spPr>
          <a:xfrm>
            <a:off x="502920" y="6537960"/>
            <a:ext cx="6400800" cy="182880"/>
          </a:xfrm>
          <a:prstGeom prst="rect">
            <a:avLst/>
          </a:prstGeom>
          <a:noFill/>
        </p:spPr>
        <p:txBody>
          <a:bodyPr wrap="square" lIns="36576" rIns="36576" tIns="36576" bIns="36576" anchor="t">
            <a:spAutoFit/>
          </a:bodyPr>
          <a:lstStyle/>
          <a:p>
            <a:pPr algn="l">
              <a:defRPr sz="800" b="1">
                <a:solidFill>
                  <a:srgbClr val="A6C2C6"/>
                </a:solidFill>
                <a:latin typeface="Aptos"/>
              </a:defRPr>
            </a:pPr>
            <a:r>
              <a:t>PROJECT FALCON • FULLBRIGHT COLLEGE</a:t>
            </a:r>
          </a:p>
        </p:txBody>
      </p:sp>
      <p:sp>
        <p:nvSpPr>
          <p:cNvPr id="29" name="TextBox 28"/>
          <p:cNvSpPr txBox="1"/>
          <p:nvPr/>
        </p:nvSpPr>
        <p:spPr>
          <a:xfrm>
            <a:off x="9144000" y="6537960"/>
            <a:ext cx="2514600" cy="182880"/>
          </a:xfrm>
          <a:prstGeom prst="rect">
            <a:avLst/>
          </a:prstGeom>
          <a:noFill/>
        </p:spPr>
        <p:txBody>
          <a:bodyPr wrap="square" lIns="36576" rIns="36576" tIns="36576" bIns="36576" anchor="t">
            <a:spAutoFit/>
          </a:bodyPr>
          <a:lstStyle/>
          <a:p>
            <a:pPr algn="r">
              <a:defRPr sz="800" b="1">
                <a:solidFill>
                  <a:srgbClr val="A6C2C6"/>
                </a:solidFill>
                <a:latin typeface="Aptos"/>
              </a:defRPr>
            </a:pPr>
            <a:r>
              <a:t>DOST IDEA PRESENTATION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19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8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lcon-upper-sensor-level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19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8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256032"/>
          </a:xfrm>
          <a:prstGeom prst="rect">
            <a:avLst/>
          </a:prstGeom>
          <a:noFill/>
        </p:spPr>
        <p:txBody>
          <a:bodyPr wrap="square" lIns="36576" rIns="36576" tIns="36576" bIns="36576" anchor="t">
            <a:spAutoFit/>
          </a:bodyPr>
          <a:lstStyle/>
          <a:p>
            <a:pPr algn="l">
              <a:defRPr sz="1000" b="1">
                <a:solidFill>
                  <a:srgbClr val="58BEC2"/>
                </a:solidFill>
                <a:latin typeface="Aptos"/>
              </a:defRPr>
            </a:pPr>
            <a:r>
              <a:t>HARDWARE CONCEPT</a:t>
            </a:r>
          </a:p>
        </p:txBody>
      </p:sp>
      <p:sp>
        <p:nvSpPr>
          <p:cNvPr id="4" name="TextBox 3"/>
          <p:cNvSpPr txBox="1"/>
          <p:nvPr/>
        </p:nvSpPr>
        <p:spPr>
          <a:xfrm>
            <a:off x="502920" y="603504"/>
            <a:ext cx="10698480" cy="530352"/>
          </a:xfrm>
          <a:prstGeom prst="rect">
            <a:avLst/>
          </a:prstGeom>
          <a:noFill/>
        </p:spPr>
        <p:txBody>
          <a:bodyPr wrap="square" lIns="36576" rIns="36576" tIns="36576" bIns="36576" anchor="t">
            <a:spAutoFit/>
          </a:bodyPr>
          <a:lstStyle/>
          <a:p>
            <a:pPr algn="l">
              <a:defRPr sz="2700" b="1">
                <a:solidFill>
                  <a:srgbClr val="EFF7F7"/>
                </a:solidFill>
                <a:latin typeface="Aptos"/>
              </a:defRPr>
            </a:pPr>
            <a:r>
              <a:t>Selected sensors, controllers, and protected power flow</a:t>
            </a:r>
          </a:p>
        </p:txBody>
      </p:sp>
      <p:sp>
        <p:nvSpPr>
          <p:cNvPr id="5" name="TextBox 4"/>
          <p:cNvSpPr txBox="1"/>
          <p:nvPr/>
        </p:nvSpPr>
        <p:spPr>
          <a:xfrm>
            <a:off x="11201400" y="347472"/>
            <a:ext cx="457200" cy="320040"/>
          </a:xfrm>
          <a:prstGeom prst="rect">
            <a:avLst/>
          </a:prstGeom>
          <a:noFill/>
        </p:spPr>
        <p:txBody>
          <a:bodyPr wrap="square" lIns="36576" rIns="36576" tIns="36576" bIns="36576" anchor="t">
            <a:spAutoFit/>
          </a:bodyPr>
          <a:lstStyle/>
          <a:p>
            <a:pPr algn="r">
              <a:defRPr sz="1100" b="1">
                <a:solidFill>
                  <a:srgbClr val="A6C2C6"/>
                </a:solidFill>
                <a:latin typeface="Aptos"/>
              </a:defRPr>
            </a:pPr>
            <a:r>
              <a:t>05</a:t>
            </a:r>
          </a:p>
        </p:txBody>
      </p:sp>
      <p:sp>
        <p:nvSpPr>
          <p:cNvPr id="6" name="Rectangle 5"/>
          <p:cNvSpPr/>
          <p:nvPr/>
        </p:nvSpPr>
        <p:spPr>
          <a:xfrm>
            <a:off x="502920" y="1188720"/>
            <a:ext cx="11155680" cy="13716"/>
          </a:xfrm>
          <a:prstGeom prst="rect">
            <a:avLst/>
          </a:prstGeom>
          <a:solidFill>
            <a:srgbClr val="295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lectronics-wiring.png"/>
          <p:cNvPicPr>
            <a:picLocks noChangeAspect="1"/>
          </p:cNvPicPr>
          <p:nvPr/>
        </p:nvPicPr>
        <p:blipFill>
          <a:blip r:embed="rId2"/>
          <a:srcRect t="16566" b="16566"/>
          <a:stretch>
            <a:fillRect/>
          </a:stretch>
        </p:blipFill>
        <p:spPr>
          <a:xfrm>
            <a:off x="411480" y="1325880"/>
            <a:ext cx="11384280" cy="5074920"/>
          </a:xfrm>
          <a:prstGeom prst="rect">
            <a:avLst/>
          </a:prstGeom>
        </p:spPr>
      </p:pic>
      <p:sp>
        <p:nvSpPr>
          <p:cNvPr id="8" name="TextBox 7"/>
          <p:cNvSpPr txBox="1"/>
          <p:nvPr/>
        </p:nvSpPr>
        <p:spPr>
          <a:xfrm>
            <a:off x="566928" y="6236208"/>
            <a:ext cx="9875520" cy="164592"/>
          </a:xfrm>
          <a:prstGeom prst="rect">
            <a:avLst/>
          </a:prstGeom>
          <a:noFill/>
        </p:spPr>
        <p:txBody>
          <a:bodyPr wrap="square" lIns="36576" rIns="36576" tIns="36576" bIns="36576" anchor="t">
            <a:spAutoFit/>
          </a:bodyPr>
          <a:lstStyle/>
          <a:p>
            <a:pPr algn="l">
              <a:defRPr sz="800" b="0">
                <a:solidFill>
                  <a:srgbClr val="A6C2C6"/>
                </a:solidFill>
                <a:latin typeface="Aptos"/>
              </a:defRPr>
            </a:pPr>
            <a:r>
              <a:t>Visual overview only • final wiring follows purchased-board datasheets and the approved pinout.</a:t>
            </a:r>
          </a:p>
        </p:txBody>
      </p:sp>
      <p:sp>
        <p:nvSpPr>
          <p:cNvPr id="9" name="TextBox 8"/>
          <p:cNvSpPr txBox="1"/>
          <p:nvPr/>
        </p:nvSpPr>
        <p:spPr>
          <a:xfrm>
            <a:off x="502920" y="6537960"/>
            <a:ext cx="6400800" cy="182880"/>
          </a:xfrm>
          <a:prstGeom prst="rect">
            <a:avLst/>
          </a:prstGeom>
          <a:noFill/>
        </p:spPr>
        <p:txBody>
          <a:bodyPr wrap="square" lIns="36576" rIns="36576" tIns="36576" bIns="36576" anchor="t">
            <a:spAutoFit/>
          </a:bodyPr>
          <a:lstStyle/>
          <a:p>
            <a:pPr algn="l">
              <a:defRPr sz="800" b="1">
                <a:solidFill>
                  <a:srgbClr val="A6C2C6"/>
                </a:solidFill>
                <a:latin typeface="Aptos"/>
              </a:defRPr>
            </a:pPr>
            <a:r>
              <a:t>PROJECT FALCON • FULLBRIGHT COLLEGE</a:t>
            </a:r>
          </a:p>
        </p:txBody>
      </p:sp>
      <p:sp>
        <p:nvSpPr>
          <p:cNvPr id="10" name="TextBox 9"/>
          <p:cNvSpPr txBox="1"/>
          <p:nvPr/>
        </p:nvSpPr>
        <p:spPr>
          <a:xfrm>
            <a:off x="9144000" y="6537960"/>
            <a:ext cx="2514600" cy="182880"/>
          </a:xfrm>
          <a:prstGeom prst="rect">
            <a:avLst/>
          </a:prstGeom>
          <a:noFill/>
        </p:spPr>
        <p:txBody>
          <a:bodyPr wrap="square" lIns="36576" rIns="36576" tIns="36576" bIns="36576" anchor="t">
            <a:spAutoFit/>
          </a:bodyPr>
          <a:lstStyle/>
          <a:p>
            <a:pPr algn="r">
              <a:defRPr sz="800" b="1">
                <a:solidFill>
                  <a:srgbClr val="A6C2C6"/>
                </a:solidFill>
                <a:latin typeface="Aptos"/>
              </a:defRPr>
            </a:pPr>
            <a:r>
              <a:t>DOST IDEA PRESENTATION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19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8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256032"/>
          </a:xfrm>
          <a:prstGeom prst="rect">
            <a:avLst/>
          </a:prstGeom>
          <a:noFill/>
        </p:spPr>
        <p:txBody>
          <a:bodyPr wrap="square" lIns="36576" rIns="36576" tIns="36576" bIns="36576" anchor="t">
            <a:spAutoFit/>
          </a:bodyPr>
          <a:lstStyle/>
          <a:p>
            <a:pPr algn="l">
              <a:defRPr sz="1000" b="1">
                <a:solidFill>
                  <a:srgbClr val="58BEC2"/>
                </a:solidFill>
                <a:latin typeface="Aptos"/>
              </a:defRPr>
            </a:pPr>
            <a:r>
              <a:t>MAINTAINABLE ENCLOSURE</a:t>
            </a:r>
          </a:p>
        </p:txBody>
      </p:sp>
      <p:sp>
        <p:nvSpPr>
          <p:cNvPr id="4" name="TextBox 3"/>
          <p:cNvSpPr txBox="1"/>
          <p:nvPr/>
        </p:nvSpPr>
        <p:spPr>
          <a:xfrm>
            <a:off x="502920" y="603504"/>
            <a:ext cx="10698480" cy="530352"/>
          </a:xfrm>
          <a:prstGeom prst="rect">
            <a:avLst/>
          </a:prstGeom>
          <a:noFill/>
        </p:spPr>
        <p:txBody>
          <a:bodyPr wrap="square" lIns="36576" rIns="36576" tIns="36576" bIns="36576" anchor="t">
            <a:spAutoFit/>
          </a:bodyPr>
          <a:lstStyle/>
          <a:p>
            <a:pPr algn="l">
              <a:defRPr sz="2700" b="1">
                <a:solidFill>
                  <a:srgbClr val="EFF7F7"/>
                </a:solidFill>
                <a:latin typeface="Aptos"/>
              </a:defRPr>
            </a:pPr>
            <a:r>
              <a:t>The upper pod organizes electronics and labeled cables</a:t>
            </a:r>
          </a:p>
        </p:txBody>
      </p:sp>
      <p:sp>
        <p:nvSpPr>
          <p:cNvPr id="5" name="TextBox 4"/>
          <p:cNvSpPr txBox="1"/>
          <p:nvPr/>
        </p:nvSpPr>
        <p:spPr>
          <a:xfrm>
            <a:off x="11201400" y="347472"/>
            <a:ext cx="457200" cy="320040"/>
          </a:xfrm>
          <a:prstGeom prst="rect">
            <a:avLst/>
          </a:prstGeom>
          <a:noFill/>
        </p:spPr>
        <p:txBody>
          <a:bodyPr wrap="square" lIns="36576" rIns="36576" tIns="36576" bIns="36576" anchor="t">
            <a:spAutoFit/>
          </a:bodyPr>
          <a:lstStyle/>
          <a:p>
            <a:pPr algn="r">
              <a:defRPr sz="1100" b="1">
                <a:solidFill>
                  <a:srgbClr val="A6C2C6"/>
                </a:solidFill>
                <a:latin typeface="Aptos"/>
              </a:defRPr>
            </a:pPr>
            <a:r>
              <a:t>06</a:t>
            </a:r>
          </a:p>
        </p:txBody>
      </p:sp>
      <p:sp>
        <p:nvSpPr>
          <p:cNvPr id="6" name="Rectangle 5"/>
          <p:cNvSpPr/>
          <p:nvPr/>
        </p:nvSpPr>
        <p:spPr>
          <a:xfrm>
            <a:off x="502920" y="1188720"/>
            <a:ext cx="11155680" cy="13716"/>
          </a:xfrm>
          <a:prstGeom prst="rect">
            <a:avLst/>
          </a:prstGeom>
          <a:solidFill>
            <a:srgbClr val="295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pper-electronics-maintenance.png"/>
          <p:cNvPicPr>
            <a:picLocks noChangeAspect="1"/>
          </p:cNvPicPr>
          <p:nvPr/>
        </p:nvPicPr>
        <p:blipFill>
          <a:blip r:embed="rId2"/>
          <a:stretch>
            <a:fillRect/>
          </a:stretch>
        </p:blipFill>
        <p:spPr>
          <a:xfrm>
            <a:off x="1600200" y="1307592"/>
            <a:ext cx="8979408" cy="5047488"/>
          </a:xfrm>
          <a:prstGeom prst="rect">
            <a:avLst/>
          </a:prstGeom>
        </p:spPr>
      </p:pic>
      <p:sp>
        <p:nvSpPr>
          <p:cNvPr id="8" name="TextBox 7"/>
          <p:cNvSpPr txBox="1"/>
          <p:nvPr/>
        </p:nvSpPr>
        <p:spPr>
          <a:xfrm>
            <a:off x="502920" y="6537960"/>
            <a:ext cx="6400800" cy="182880"/>
          </a:xfrm>
          <a:prstGeom prst="rect">
            <a:avLst/>
          </a:prstGeom>
          <a:noFill/>
        </p:spPr>
        <p:txBody>
          <a:bodyPr wrap="square" lIns="36576" rIns="36576" tIns="36576" bIns="36576" anchor="t">
            <a:spAutoFit/>
          </a:bodyPr>
          <a:lstStyle/>
          <a:p>
            <a:pPr algn="l">
              <a:defRPr sz="800" b="1">
                <a:solidFill>
                  <a:srgbClr val="A6C2C6"/>
                </a:solidFill>
                <a:latin typeface="Aptos"/>
              </a:defRPr>
            </a:pPr>
            <a:r>
              <a:t>PROJECT FALCON • FULLBRIGHT COLLEGE</a:t>
            </a:r>
          </a:p>
        </p:txBody>
      </p:sp>
      <p:sp>
        <p:nvSpPr>
          <p:cNvPr id="9" name="TextBox 8"/>
          <p:cNvSpPr txBox="1"/>
          <p:nvPr/>
        </p:nvSpPr>
        <p:spPr>
          <a:xfrm>
            <a:off x="9144000" y="6537960"/>
            <a:ext cx="2514600" cy="182880"/>
          </a:xfrm>
          <a:prstGeom prst="rect">
            <a:avLst/>
          </a:prstGeom>
          <a:noFill/>
        </p:spPr>
        <p:txBody>
          <a:bodyPr wrap="square" lIns="36576" rIns="36576" tIns="36576" bIns="36576" anchor="t">
            <a:spAutoFit/>
          </a:bodyPr>
          <a:lstStyle/>
          <a:p>
            <a:pPr algn="r">
              <a:defRPr sz="800" b="1">
                <a:solidFill>
                  <a:srgbClr val="A6C2C6"/>
                </a:solidFill>
                <a:latin typeface="Aptos"/>
              </a:defRPr>
            </a:pPr>
            <a:r>
              <a:t>DOST IDEA PRESENTATION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19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8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256032"/>
          </a:xfrm>
          <a:prstGeom prst="rect">
            <a:avLst/>
          </a:prstGeom>
          <a:noFill/>
        </p:spPr>
        <p:txBody>
          <a:bodyPr wrap="square" lIns="36576" rIns="36576" tIns="36576" bIns="36576" anchor="t">
            <a:spAutoFit/>
          </a:bodyPr>
          <a:lstStyle/>
          <a:p>
            <a:pPr algn="l">
              <a:defRPr sz="1000" b="1">
                <a:solidFill>
                  <a:srgbClr val="58BEC2"/>
                </a:solidFill>
                <a:latin typeface="Aptos"/>
              </a:defRPr>
            </a:pPr>
            <a:r>
              <a:t>SYSTEM WORKFLOW</a:t>
            </a:r>
          </a:p>
        </p:txBody>
      </p:sp>
      <p:sp>
        <p:nvSpPr>
          <p:cNvPr id="4" name="TextBox 3"/>
          <p:cNvSpPr txBox="1"/>
          <p:nvPr/>
        </p:nvSpPr>
        <p:spPr>
          <a:xfrm>
            <a:off x="502920" y="603504"/>
            <a:ext cx="10698480" cy="530352"/>
          </a:xfrm>
          <a:prstGeom prst="rect">
            <a:avLst/>
          </a:prstGeom>
          <a:noFill/>
        </p:spPr>
        <p:txBody>
          <a:bodyPr wrap="square" lIns="36576" rIns="36576" tIns="36576" bIns="36576" anchor="t">
            <a:spAutoFit/>
          </a:bodyPr>
          <a:lstStyle/>
          <a:p>
            <a:pPr algn="l">
              <a:defRPr sz="2700" b="1">
                <a:solidFill>
                  <a:srgbClr val="EFF7F7"/>
                </a:solidFill>
                <a:latin typeface="Aptos"/>
              </a:defRPr>
            </a:pPr>
            <a:r>
              <a:t>Sensors measure; ESP32 collects; Orange Pi explains</a:t>
            </a:r>
          </a:p>
        </p:txBody>
      </p:sp>
      <p:sp>
        <p:nvSpPr>
          <p:cNvPr id="5" name="TextBox 4"/>
          <p:cNvSpPr txBox="1"/>
          <p:nvPr/>
        </p:nvSpPr>
        <p:spPr>
          <a:xfrm>
            <a:off x="11201400" y="347472"/>
            <a:ext cx="457200" cy="320040"/>
          </a:xfrm>
          <a:prstGeom prst="rect">
            <a:avLst/>
          </a:prstGeom>
          <a:noFill/>
        </p:spPr>
        <p:txBody>
          <a:bodyPr wrap="square" lIns="36576" rIns="36576" tIns="36576" bIns="36576" anchor="t">
            <a:spAutoFit/>
          </a:bodyPr>
          <a:lstStyle/>
          <a:p>
            <a:pPr algn="r">
              <a:defRPr sz="1100" b="1">
                <a:solidFill>
                  <a:srgbClr val="A6C2C6"/>
                </a:solidFill>
                <a:latin typeface="Aptos"/>
              </a:defRPr>
            </a:pPr>
            <a:r>
              <a:t>07</a:t>
            </a:r>
          </a:p>
        </p:txBody>
      </p:sp>
      <p:sp>
        <p:nvSpPr>
          <p:cNvPr id="6" name="Rectangle 5"/>
          <p:cNvSpPr/>
          <p:nvPr/>
        </p:nvSpPr>
        <p:spPr>
          <a:xfrm>
            <a:off x="502920" y="1188720"/>
            <a:ext cx="11155680" cy="13716"/>
          </a:xfrm>
          <a:prstGeom prst="rect">
            <a:avLst/>
          </a:prstGeom>
          <a:solidFill>
            <a:srgbClr val="295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ystem-architecture.png"/>
          <p:cNvPicPr>
            <a:picLocks noChangeAspect="1"/>
          </p:cNvPicPr>
          <p:nvPr/>
        </p:nvPicPr>
        <p:blipFill>
          <a:blip r:embed="rId2"/>
          <a:srcRect t="7394" b="7394"/>
          <a:stretch>
            <a:fillRect/>
          </a:stretch>
        </p:blipFill>
        <p:spPr>
          <a:xfrm>
            <a:off x="502920" y="1371600"/>
            <a:ext cx="11155680" cy="4892040"/>
          </a:xfrm>
          <a:prstGeom prst="rect">
            <a:avLst/>
          </a:prstGeom>
        </p:spPr>
      </p:pic>
      <p:sp>
        <p:nvSpPr>
          <p:cNvPr id="8" name="TextBox 7"/>
          <p:cNvSpPr txBox="1"/>
          <p:nvPr/>
        </p:nvSpPr>
        <p:spPr>
          <a:xfrm>
            <a:off x="502920" y="6537960"/>
            <a:ext cx="6400800" cy="182880"/>
          </a:xfrm>
          <a:prstGeom prst="rect">
            <a:avLst/>
          </a:prstGeom>
          <a:noFill/>
        </p:spPr>
        <p:txBody>
          <a:bodyPr wrap="square" lIns="36576" rIns="36576" tIns="36576" bIns="36576" anchor="t">
            <a:spAutoFit/>
          </a:bodyPr>
          <a:lstStyle/>
          <a:p>
            <a:pPr algn="l">
              <a:defRPr sz="800" b="1">
                <a:solidFill>
                  <a:srgbClr val="A6C2C6"/>
                </a:solidFill>
                <a:latin typeface="Aptos"/>
              </a:defRPr>
            </a:pPr>
            <a:r>
              <a:t>PROJECT FALCON • FULLBRIGHT COLLEGE</a:t>
            </a:r>
          </a:p>
        </p:txBody>
      </p:sp>
      <p:sp>
        <p:nvSpPr>
          <p:cNvPr id="9" name="TextBox 8"/>
          <p:cNvSpPr txBox="1"/>
          <p:nvPr/>
        </p:nvSpPr>
        <p:spPr>
          <a:xfrm>
            <a:off x="9144000" y="6537960"/>
            <a:ext cx="2514600" cy="182880"/>
          </a:xfrm>
          <a:prstGeom prst="rect">
            <a:avLst/>
          </a:prstGeom>
          <a:noFill/>
        </p:spPr>
        <p:txBody>
          <a:bodyPr wrap="square" lIns="36576" rIns="36576" tIns="36576" bIns="36576" anchor="t">
            <a:spAutoFit/>
          </a:bodyPr>
          <a:lstStyle/>
          <a:p>
            <a:pPr algn="r">
              <a:defRPr sz="800" b="1">
                <a:solidFill>
                  <a:srgbClr val="A6C2C6"/>
                </a:solidFill>
                <a:latin typeface="Aptos"/>
              </a:defRPr>
            </a:pPr>
            <a:r>
              <a:t>DOST IDEA PRESENTATION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19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8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256032"/>
          </a:xfrm>
          <a:prstGeom prst="rect">
            <a:avLst/>
          </a:prstGeom>
          <a:noFill/>
        </p:spPr>
        <p:txBody>
          <a:bodyPr wrap="square" lIns="36576" rIns="36576" tIns="36576" bIns="36576" anchor="t">
            <a:spAutoFit/>
          </a:bodyPr>
          <a:lstStyle/>
          <a:p>
            <a:pPr algn="l">
              <a:defRPr sz="1000" b="1">
                <a:solidFill>
                  <a:srgbClr val="58BEC2"/>
                </a:solidFill>
                <a:latin typeface="Aptos"/>
              </a:defRPr>
            </a:pPr>
            <a:r>
              <a:t>CURRENT PROGRESS</a:t>
            </a:r>
          </a:p>
        </p:txBody>
      </p:sp>
      <p:sp>
        <p:nvSpPr>
          <p:cNvPr id="4" name="TextBox 3"/>
          <p:cNvSpPr txBox="1"/>
          <p:nvPr/>
        </p:nvSpPr>
        <p:spPr>
          <a:xfrm>
            <a:off x="502920" y="603504"/>
            <a:ext cx="10698480" cy="530352"/>
          </a:xfrm>
          <a:prstGeom prst="rect">
            <a:avLst/>
          </a:prstGeom>
          <a:noFill/>
        </p:spPr>
        <p:txBody>
          <a:bodyPr wrap="square" lIns="36576" rIns="36576" tIns="36576" bIns="36576" anchor="t">
            <a:spAutoFit/>
          </a:bodyPr>
          <a:lstStyle/>
          <a:p>
            <a:pPr algn="l">
              <a:defRPr sz="2700" b="1">
                <a:solidFill>
                  <a:srgbClr val="EFF7F7"/>
                </a:solidFill>
                <a:latin typeface="Aptos"/>
              </a:defRPr>
            </a:pPr>
            <a:r>
              <a:t>A working software concept—not yet a field-validated buoy</a:t>
            </a:r>
          </a:p>
        </p:txBody>
      </p:sp>
      <p:sp>
        <p:nvSpPr>
          <p:cNvPr id="5" name="TextBox 4"/>
          <p:cNvSpPr txBox="1"/>
          <p:nvPr/>
        </p:nvSpPr>
        <p:spPr>
          <a:xfrm>
            <a:off x="11201400" y="347472"/>
            <a:ext cx="457200" cy="320040"/>
          </a:xfrm>
          <a:prstGeom prst="rect">
            <a:avLst/>
          </a:prstGeom>
          <a:noFill/>
        </p:spPr>
        <p:txBody>
          <a:bodyPr wrap="square" lIns="36576" rIns="36576" tIns="36576" bIns="36576" anchor="t">
            <a:spAutoFit/>
          </a:bodyPr>
          <a:lstStyle/>
          <a:p>
            <a:pPr algn="r">
              <a:defRPr sz="1100" b="1">
                <a:solidFill>
                  <a:srgbClr val="A6C2C6"/>
                </a:solidFill>
                <a:latin typeface="Aptos"/>
              </a:defRPr>
            </a:pPr>
            <a:r>
              <a:t>08</a:t>
            </a:r>
          </a:p>
        </p:txBody>
      </p:sp>
      <p:sp>
        <p:nvSpPr>
          <p:cNvPr id="6" name="Rectangle 5"/>
          <p:cNvSpPr/>
          <p:nvPr/>
        </p:nvSpPr>
        <p:spPr>
          <a:xfrm>
            <a:off x="502920" y="1188720"/>
            <a:ext cx="11155680" cy="13716"/>
          </a:xfrm>
          <a:prstGeom prst="rect">
            <a:avLst/>
          </a:prstGeom>
          <a:solidFill>
            <a:srgbClr val="295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shboard-overview.png"/>
          <p:cNvPicPr>
            <a:picLocks noChangeAspect="1"/>
          </p:cNvPicPr>
          <p:nvPr/>
        </p:nvPicPr>
        <p:blipFill>
          <a:blip r:embed="rId2"/>
          <a:srcRect t="9622" b="9622"/>
          <a:stretch>
            <a:fillRect/>
          </a:stretch>
        </p:blipFill>
        <p:spPr>
          <a:xfrm>
            <a:off x="502920" y="1389888"/>
            <a:ext cx="7040880" cy="4343400"/>
          </a:xfrm>
          <a:prstGeom prst="rect">
            <a:avLst/>
          </a:prstGeom>
        </p:spPr>
      </p:pic>
      <p:sp>
        <p:nvSpPr>
          <p:cNvPr id="8" name="Rounded Rectangle 7"/>
          <p:cNvSpPr/>
          <p:nvPr/>
        </p:nvSpPr>
        <p:spPr>
          <a:xfrm>
            <a:off x="7818120" y="1389888"/>
            <a:ext cx="3840480" cy="2267712"/>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19288" y="1554480"/>
            <a:ext cx="411480" cy="384048"/>
          </a:xfrm>
          <a:prstGeom prst="rect">
            <a:avLst/>
          </a:prstGeom>
          <a:noFill/>
        </p:spPr>
        <p:txBody>
          <a:bodyPr wrap="square" lIns="36576" rIns="36576" tIns="36576" bIns="36576" anchor="ctr">
            <a:spAutoFit/>
          </a:bodyPr>
          <a:lstStyle/>
          <a:p>
            <a:pPr algn="ctr">
              <a:defRPr sz="2300" b="1">
                <a:solidFill>
                  <a:srgbClr val="58BEC2"/>
                </a:solidFill>
                <a:latin typeface="Aptos"/>
              </a:defRPr>
            </a:pPr>
            <a:r>
              <a:t>✓</a:t>
            </a:r>
          </a:p>
        </p:txBody>
      </p:sp>
      <p:sp>
        <p:nvSpPr>
          <p:cNvPr id="10" name="TextBox 9"/>
          <p:cNvSpPr txBox="1"/>
          <p:nvPr/>
        </p:nvSpPr>
        <p:spPr>
          <a:xfrm>
            <a:off x="8503920" y="1572768"/>
            <a:ext cx="2971800"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Already working</a:t>
            </a:r>
          </a:p>
        </p:txBody>
      </p:sp>
      <p:sp>
        <p:nvSpPr>
          <p:cNvPr id="11" name="TextBox 10"/>
          <p:cNvSpPr txBox="1"/>
          <p:nvPr/>
        </p:nvSpPr>
        <p:spPr>
          <a:xfrm>
            <a:off x="8046720" y="2048256"/>
            <a:ext cx="3383280" cy="1463040"/>
          </a:xfrm>
          <a:prstGeom prst="rect">
            <a:avLst/>
          </a:prstGeom>
          <a:noFill/>
        </p:spPr>
        <p:txBody>
          <a:bodyPr wrap="square" lIns="36576" rIns="36576" tIns="36576" bIns="36576" anchor="t">
            <a:spAutoFit/>
          </a:bodyPr>
          <a:lstStyle/>
          <a:p>
            <a:pPr algn="l">
              <a:defRPr sz="1100" b="0">
                <a:solidFill>
                  <a:srgbClr val="A6C2C6"/>
                </a:solidFill>
                <a:latin typeface="Aptos"/>
              </a:defRPr>
            </a:pPr>
            <a:r>
              <a:t>Responsive dashboard</a:t>
            </a:r>
            <a:br/>
            <a:r>
              <a:t>ESP32 firmware foundation</a:t>
            </a:r>
            <a:br/>
            <a:r>
              <a:t>Telemetry contract + simulator</a:t>
            </a:r>
            <a:br/>
            <a:r>
              <a:t>Python edge API + local database</a:t>
            </a:r>
            <a:br/>
            <a:r>
              <a:t>Alerts and documentation</a:t>
            </a:r>
          </a:p>
        </p:txBody>
      </p:sp>
      <p:sp>
        <p:nvSpPr>
          <p:cNvPr id="12" name="Rounded Rectangle 11"/>
          <p:cNvSpPr/>
          <p:nvPr/>
        </p:nvSpPr>
        <p:spPr>
          <a:xfrm>
            <a:off x="7818120" y="3822191"/>
            <a:ext cx="3840480" cy="1417320"/>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19288" y="3986783"/>
            <a:ext cx="411480" cy="384048"/>
          </a:xfrm>
          <a:prstGeom prst="rect">
            <a:avLst/>
          </a:prstGeom>
          <a:noFill/>
        </p:spPr>
        <p:txBody>
          <a:bodyPr wrap="square" lIns="36576" rIns="36576" tIns="36576" bIns="36576" anchor="ctr">
            <a:spAutoFit/>
          </a:bodyPr>
          <a:lstStyle/>
          <a:p>
            <a:pPr algn="ctr">
              <a:defRPr sz="2300" b="1">
                <a:solidFill>
                  <a:srgbClr val="66BE91"/>
                </a:solidFill>
                <a:latin typeface="Aptos"/>
              </a:defRPr>
            </a:pPr>
            <a:r>
              <a:t>✓</a:t>
            </a:r>
          </a:p>
        </p:txBody>
      </p:sp>
      <p:sp>
        <p:nvSpPr>
          <p:cNvPr id="14" name="TextBox 13"/>
          <p:cNvSpPr txBox="1"/>
          <p:nvPr/>
        </p:nvSpPr>
        <p:spPr>
          <a:xfrm>
            <a:off x="8503920" y="4005072"/>
            <a:ext cx="2971800"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Verified in software</a:t>
            </a:r>
          </a:p>
        </p:txBody>
      </p:sp>
      <p:sp>
        <p:nvSpPr>
          <p:cNvPr id="15" name="TextBox 14"/>
          <p:cNvSpPr txBox="1"/>
          <p:nvPr/>
        </p:nvSpPr>
        <p:spPr>
          <a:xfrm>
            <a:off x="8046720" y="4480559"/>
            <a:ext cx="3383280" cy="612648"/>
          </a:xfrm>
          <a:prstGeom prst="rect">
            <a:avLst/>
          </a:prstGeom>
          <a:noFill/>
        </p:spPr>
        <p:txBody>
          <a:bodyPr wrap="square" lIns="36576" rIns="36576" tIns="36576" bIns="36576" anchor="t">
            <a:spAutoFit/>
          </a:bodyPr>
          <a:lstStyle/>
          <a:p>
            <a:pPr algn="l">
              <a:defRPr sz="1100" b="0">
                <a:solidFill>
                  <a:srgbClr val="A6C2C6"/>
                </a:solidFill>
                <a:latin typeface="Aptos"/>
              </a:defRPr>
            </a:pPr>
            <a:r>
              <a:t>Firmware builds successfully</a:t>
            </a:r>
            <a:br/>
            <a:r>
              <a:t>18 edge-service tests pass</a:t>
            </a:r>
            <a:br/>
            <a:r>
              <a:t>Dashboard production build passes</a:t>
            </a:r>
          </a:p>
        </p:txBody>
      </p:sp>
      <p:sp>
        <p:nvSpPr>
          <p:cNvPr id="16" name="Rounded Rectangle 15"/>
          <p:cNvSpPr/>
          <p:nvPr/>
        </p:nvSpPr>
        <p:spPr>
          <a:xfrm>
            <a:off x="7818120" y="5413248"/>
            <a:ext cx="3840480" cy="502920"/>
          </a:xfrm>
          <a:prstGeom prst="roundRect">
            <a:avLst>
              <a:gd name="adj" fmla="val 12000"/>
            </a:avLst>
          </a:prstGeom>
          <a:solidFill>
            <a:srgbClr val="402D19"/>
          </a:solidFill>
          <a:ln>
            <a:solidFill>
              <a:srgbClr val="D39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19288" y="5577840"/>
            <a:ext cx="3429000" cy="164592"/>
          </a:xfrm>
          <a:prstGeom prst="rect">
            <a:avLst/>
          </a:prstGeom>
          <a:noFill/>
        </p:spPr>
        <p:txBody>
          <a:bodyPr wrap="square" lIns="36576" rIns="36576" tIns="36576" bIns="36576" anchor="t">
            <a:spAutoFit/>
          </a:bodyPr>
          <a:lstStyle/>
          <a:p>
            <a:pPr algn="ctr">
              <a:defRPr sz="800" b="1">
                <a:solidFill>
                  <a:srgbClr val="EFF7F7"/>
                </a:solidFill>
                <a:latin typeface="Aptos"/>
              </a:defRPr>
            </a:pPr>
            <a:r>
              <a:t>SIMULATED DATA • NOT FIELD MEASUREMENTS</a:t>
            </a:r>
          </a:p>
        </p:txBody>
      </p:sp>
      <p:sp>
        <p:nvSpPr>
          <p:cNvPr id="18" name="TextBox 17"/>
          <p:cNvSpPr txBox="1"/>
          <p:nvPr/>
        </p:nvSpPr>
        <p:spPr>
          <a:xfrm>
            <a:off x="502920" y="6537960"/>
            <a:ext cx="6400800" cy="182880"/>
          </a:xfrm>
          <a:prstGeom prst="rect">
            <a:avLst/>
          </a:prstGeom>
          <a:noFill/>
        </p:spPr>
        <p:txBody>
          <a:bodyPr wrap="square" lIns="36576" rIns="36576" tIns="36576" bIns="36576" anchor="t">
            <a:spAutoFit/>
          </a:bodyPr>
          <a:lstStyle/>
          <a:p>
            <a:pPr algn="l">
              <a:defRPr sz="800" b="1">
                <a:solidFill>
                  <a:srgbClr val="A6C2C6"/>
                </a:solidFill>
                <a:latin typeface="Aptos"/>
              </a:defRPr>
            </a:pPr>
            <a:r>
              <a:t>PROJECT FALCON • FULLBRIGHT COLLEGE</a:t>
            </a:r>
          </a:p>
        </p:txBody>
      </p:sp>
      <p:sp>
        <p:nvSpPr>
          <p:cNvPr id="19" name="TextBox 18"/>
          <p:cNvSpPr txBox="1"/>
          <p:nvPr/>
        </p:nvSpPr>
        <p:spPr>
          <a:xfrm>
            <a:off x="9144000" y="6537960"/>
            <a:ext cx="2514600" cy="182880"/>
          </a:xfrm>
          <a:prstGeom prst="rect">
            <a:avLst/>
          </a:prstGeom>
          <a:noFill/>
        </p:spPr>
        <p:txBody>
          <a:bodyPr wrap="square" lIns="36576" rIns="36576" tIns="36576" bIns="36576" anchor="t">
            <a:spAutoFit/>
          </a:bodyPr>
          <a:lstStyle/>
          <a:p>
            <a:pPr algn="r">
              <a:defRPr sz="800" b="1">
                <a:solidFill>
                  <a:srgbClr val="A6C2C6"/>
                </a:solidFill>
                <a:latin typeface="Aptos"/>
              </a:defRPr>
            </a:pPr>
            <a:r>
              <a:t>DOST IDEA PRESENTATION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19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8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256032"/>
          </a:xfrm>
          <a:prstGeom prst="rect">
            <a:avLst/>
          </a:prstGeom>
          <a:noFill/>
        </p:spPr>
        <p:txBody>
          <a:bodyPr wrap="square" lIns="36576" rIns="36576" tIns="36576" bIns="36576" anchor="t">
            <a:spAutoFit/>
          </a:bodyPr>
          <a:lstStyle/>
          <a:p>
            <a:pPr algn="l">
              <a:defRPr sz="1000" b="1">
                <a:solidFill>
                  <a:srgbClr val="58BEC2"/>
                </a:solidFill>
                <a:latin typeface="Aptos"/>
              </a:defRPr>
            </a:pPr>
            <a:r>
              <a:t>INNOVATION</a:t>
            </a:r>
          </a:p>
        </p:txBody>
      </p:sp>
      <p:sp>
        <p:nvSpPr>
          <p:cNvPr id="4" name="TextBox 3"/>
          <p:cNvSpPr txBox="1"/>
          <p:nvPr/>
        </p:nvSpPr>
        <p:spPr>
          <a:xfrm>
            <a:off x="502920" y="603504"/>
            <a:ext cx="10698480" cy="530352"/>
          </a:xfrm>
          <a:prstGeom prst="rect">
            <a:avLst/>
          </a:prstGeom>
          <a:noFill/>
        </p:spPr>
        <p:txBody>
          <a:bodyPr wrap="square" lIns="36576" rIns="36576" tIns="36576" bIns="36576" anchor="t">
            <a:spAutoFit/>
          </a:bodyPr>
          <a:lstStyle/>
          <a:p>
            <a:pPr algn="l">
              <a:defRPr sz="2700" b="1">
                <a:solidFill>
                  <a:srgbClr val="EFF7F7"/>
                </a:solidFill>
                <a:latin typeface="Aptos"/>
              </a:defRPr>
            </a:pPr>
            <a:r>
              <a:t>The contribution is responsible system integration</a:t>
            </a:r>
          </a:p>
        </p:txBody>
      </p:sp>
      <p:sp>
        <p:nvSpPr>
          <p:cNvPr id="5" name="TextBox 4"/>
          <p:cNvSpPr txBox="1"/>
          <p:nvPr/>
        </p:nvSpPr>
        <p:spPr>
          <a:xfrm>
            <a:off x="11201400" y="347472"/>
            <a:ext cx="457200" cy="320040"/>
          </a:xfrm>
          <a:prstGeom prst="rect">
            <a:avLst/>
          </a:prstGeom>
          <a:noFill/>
        </p:spPr>
        <p:txBody>
          <a:bodyPr wrap="square" lIns="36576" rIns="36576" tIns="36576" bIns="36576" anchor="t">
            <a:spAutoFit/>
          </a:bodyPr>
          <a:lstStyle/>
          <a:p>
            <a:pPr algn="r">
              <a:defRPr sz="1100" b="1">
                <a:solidFill>
                  <a:srgbClr val="A6C2C6"/>
                </a:solidFill>
                <a:latin typeface="Aptos"/>
              </a:defRPr>
            </a:pPr>
            <a:r>
              <a:t>09</a:t>
            </a:r>
          </a:p>
        </p:txBody>
      </p:sp>
      <p:sp>
        <p:nvSpPr>
          <p:cNvPr id="6" name="Rectangle 5"/>
          <p:cNvSpPr/>
          <p:nvPr/>
        </p:nvSpPr>
        <p:spPr>
          <a:xfrm>
            <a:off x="502920" y="1188720"/>
            <a:ext cx="11155680" cy="13716"/>
          </a:xfrm>
          <a:prstGeom prst="rect">
            <a:avLst/>
          </a:prstGeom>
          <a:solidFill>
            <a:srgbClr val="295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10881360" cy="457200"/>
          </a:xfrm>
          <a:prstGeom prst="rect">
            <a:avLst/>
          </a:prstGeom>
          <a:noFill/>
        </p:spPr>
        <p:txBody>
          <a:bodyPr wrap="square" lIns="36576" rIns="36576" tIns="36576" bIns="36576" anchor="t">
            <a:spAutoFit/>
          </a:bodyPr>
          <a:lstStyle/>
          <a:p>
            <a:pPr algn="ctr">
              <a:defRPr sz="2400" b="1">
                <a:solidFill>
                  <a:srgbClr val="EFF7F7"/>
                </a:solidFill>
                <a:latin typeface="Aptos"/>
              </a:defRPr>
            </a:pPr>
            <a:r>
              <a:t>FALCON does not claim to invent the buoy, sensor, or AI algorithm.</a:t>
            </a:r>
          </a:p>
        </p:txBody>
      </p:sp>
      <p:sp>
        <p:nvSpPr>
          <p:cNvPr id="8" name="Rounded Rectangle 7"/>
          <p:cNvSpPr/>
          <p:nvPr/>
        </p:nvSpPr>
        <p:spPr>
          <a:xfrm>
            <a:off x="594360" y="2331720"/>
            <a:ext cx="3429000" cy="1417320"/>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496312"/>
            <a:ext cx="411480" cy="384048"/>
          </a:xfrm>
          <a:prstGeom prst="rect">
            <a:avLst/>
          </a:prstGeom>
          <a:noFill/>
        </p:spPr>
        <p:txBody>
          <a:bodyPr wrap="square" lIns="36576" rIns="36576" tIns="36576" bIns="36576" anchor="ctr">
            <a:spAutoFit/>
          </a:bodyPr>
          <a:lstStyle/>
          <a:p>
            <a:pPr algn="ctr">
              <a:defRPr sz="2300" b="1">
                <a:solidFill>
                  <a:srgbClr val="58BEC2"/>
                </a:solidFill>
                <a:latin typeface="Aptos"/>
              </a:defRPr>
            </a:pPr>
            <a:r>
              <a:t>◫</a:t>
            </a:r>
          </a:p>
        </p:txBody>
      </p:sp>
      <p:sp>
        <p:nvSpPr>
          <p:cNvPr id="10" name="TextBox 9"/>
          <p:cNvSpPr txBox="1"/>
          <p:nvPr/>
        </p:nvSpPr>
        <p:spPr>
          <a:xfrm>
            <a:off x="1280160" y="2514600"/>
            <a:ext cx="2560320"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Affordable + modular</a:t>
            </a:r>
          </a:p>
        </p:txBody>
      </p:sp>
      <p:sp>
        <p:nvSpPr>
          <p:cNvPr id="11" name="TextBox 10"/>
          <p:cNvSpPr txBox="1"/>
          <p:nvPr/>
        </p:nvSpPr>
        <p:spPr>
          <a:xfrm>
            <a:off x="822960" y="2990087"/>
            <a:ext cx="2971800" cy="612648"/>
          </a:xfrm>
          <a:prstGeom prst="rect">
            <a:avLst/>
          </a:prstGeom>
          <a:noFill/>
        </p:spPr>
        <p:txBody>
          <a:bodyPr wrap="square" lIns="36576" rIns="36576" tIns="36576" bIns="36576" anchor="t">
            <a:spAutoFit/>
          </a:bodyPr>
          <a:lstStyle/>
          <a:p>
            <a:pPr algn="l">
              <a:defRPr sz="1100" b="0">
                <a:solidFill>
                  <a:srgbClr val="A6C2C6"/>
                </a:solidFill>
                <a:latin typeface="Aptos"/>
              </a:defRPr>
            </a:pPr>
            <a:r>
              <a:t>Student-scale architecture with replaceable, documented components.</a:t>
            </a:r>
          </a:p>
        </p:txBody>
      </p:sp>
      <p:sp>
        <p:nvSpPr>
          <p:cNvPr id="12" name="Rounded Rectangle 11"/>
          <p:cNvSpPr/>
          <p:nvPr/>
        </p:nvSpPr>
        <p:spPr>
          <a:xfrm>
            <a:off x="4389120" y="2331720"/>
            <a:ext cx="3429000" cy="1417320"/>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496312"/>
            <a:ext cx="411480" cy="384048"/>
          </a:xfrm>
          <a:prstGeom prst="rect">
            <a:avLst/>
          </a:prstGeom>
          <a:noFill/>
        </p:spPr>
        <p:txBody>
          <a:bodyPr wrap="square" lIns="36576" rIns="36576" tIns="36576" bIns="36576" anchor="ctr">
            <a:spAutoFit/>
          </a:bodyPr>
          <a:lstStyle/>
          <a:p>
            <a:pPr algn="ctr">
              <a:defRPr sz="2300" b="1">
                <a:solidFill>
                  <a:srgbClr val="70CBD3"/>
                </a:solidFill>
                <a:latin typeface="Aptos"/>
              </a:defRPr>
            </a:pPr>
            <a:r>
              <a:t>⌂</a:t>
            </a:r>
          </a:p>
        </p:txBody>
      </p:sp>
      <p:sp>
        <p:nvSpPr>
          <p:cNvPr id="14" name="TextBox 13"/>
          <p:cNvSpPr txBox="1"/>
          <p:nvPr/>
        </p:nvSpPr>
        <p:spPr>
          <a:xfrm>
            <a:off x="5074920" y="2514600"/>
            <a:ext cx="2560320"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Local-first</a:t>
            </a:r>
          </a:p>
        </p:txBody>
      </p:sp>
      <p:sp>
        <p:nvSpPr>
          <p:cNvPr id="15" name="TextBox 14"/>
          <p:cNvSpPr txBox="1"/>
          <p:nvPr/>
        </p:nvSpPr>
        <p:spPr>
          <a:xfrm>
            <a:off x="4617720" y="2990087"/>
            <a:ext cx="2971800" cy="612648"/>
          </a:xfrm>
          <a:prstGeom prst="rect">
            <a:avLst/>
          </a:prstGeom>
          <a:noFill/>
        </p:spPr>
        <p:txBody>
          <a:bodyPr wrap="square" lIns="36576" rIns="36576" tIns="36576" bIns="36576" anchor="t">
            <a:spAutoFit/>
          </a:bodyPr>
          <a:lstStyle/>
          <a:p>
            <a:pPr algn="l">
              <a:defRPr sz="1100" b="0">
                <a:solidFill>
                  <a:srgbClr val="A6C2C6"/>
                </a:solidFill>
                <a:latin typeface="Aptos"/>
              </a:defRPr>
            </a:pPr>
            <a:r>
              <a:t>Monitoring and storage continue without mandatory cloud dependence.</a:t>
            </a:r>
          </a:p>
        </p:txBody>
      </p:sp>
      <p:sp>
        <p:nvSpPr>
          <p:cNvPr id="16" name="Rounded Rectangle 15"/>
          <p:cNvSpPr/>
          <p:nvPr/>
        </p:nvSpPr>
        <p:spPr>
          <a:xfrm>
            <a:off x="8183879" y="2331720"/>
            <a:ext cx="3429000" cy="1417320"/>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8" y="2496312"/>
            <a:ext cx="411480" cy="384048"/>
          </a:xfrm>
          <a:prstGeom prst="rect">
            <a:avLst/>
          </a:prstGeom>
          <a:noFill/>
        </p:spPr>
        <p:txBody>
          <a:bodyPr wrap="square" lIns="36576" rIns="36576" tIns="36576" bIns="36576" anchor="ctr">
            <a:spAutoFit/>
          </a:bodyPr>
          <a:lstStyle/>
          <a:p>
            <a:pPr algn="ctr">
              <a:defRPr sz="2300" b="1">
                <a:solidFill>
                  <a:srgbClr val="D39D4C"/>
                </a:solidFill>
                <a:latin typeface="Aptos"/>
              </a:defRPr>
            </a:pPr>
            <a:r>
              <a:t>◐</a:t>
            </a:r>
          </a:p>
        </p:txBody>
      </p:sp>
      <p:sp>
        <p:nvSpPr>
          <p:cNvPr id="18" name="TextBox 17"/>
          <p:cNvSpPr txBox="1"/>
          <p:nvPr/>
        </p:nvSpPr>
        <p:spPr>
          <a:xfrm>
            <a:off x="8869680" y="2514600"/>
            <a:ext cx="2560320"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Transparent output</a:t>
            </a:r>
          </a:p>
        </p:txBody>
      </p:sp>
      <p:sp>
        <p:nvSpPr>
          <p:cNvPr id="19" name="TextBox 18"/>
          <p:cNvSpPr txBox="1"/>
          <p:nvPr/>
        </p:nvSpPr>
        <p:spPr>
          <a:xfrm>
            <a:off x="8412480" y="2990087"/>
            <a:ext cx="2971800" cy="612648"/>
          </a:xfrm>
          <a:prstGeom prst="rect">
            <a:avLst/>
          </a:prstGeom>
          <a:noFill/>
        </p:spPr>
        <p:txBody>
          <a:bodyPr wrap="square" lIns="36576" rIns="36576" tIns="36576" bIns="36576" anchor="t">
            <a:spAutoFit/>
          </a:bodyPr>
          <a:lstStyle/>
          <a:p>
            <a:pPr algn="l">
              <a:defRPr sz="1100" b="0">
                <a:solidFill>
                  <a:srgbClr val="A6C2C6"/>
                </a:solidFill>
                <a:latin typeface="Aptos"/>
              </a:defRPr>
            </a:pPr>
            <a:r>
              <a:t>Measured, simulated, estimated, and predicted values are clearly distinguished.</a:t>
            </a:r>
          </a:p>
        </p:txBody>
      </p:sp>
      <p:sp>
        <p:nvSpPr>
          <p:cNvPr id="20" name="Rounded Rectangle 19"/>
          <p:cNvSpPr/>
          <p:nvPr/>
        </p:nvSpPr>
        <p:spPr>
          <a:xfrm>
            <a:off x="1097280" y="4251960"/>
            <a:ext cx="10012680" cy="1234440"/>
          </a:xfrm>
          <a:prstGeom prst="roundRect">
            <a:avLst>
              <a:gd name="adj" fmla="val 12000"/>
            </a:avLst>
          </a:prstGeom>
          <a:solidFill>
            <a:srgbClr val="0F3640"/>
          </a:solidFill>
          <a:ln>
            <a:solidFill>
              <a:srgbClr val="58BE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4535424"/>
            <a:ext cx="9372600" cy="658368"/>
          </a:xfrm>
          <a:prstGeom prst="rect">
            <a:avLst/>
          </a:prstGeom>
          <a:noFill/>
        </p:spPr>
        <p:txBody>
          <a:bodyPr wrap="square" lIns="36576" rIns="36576" tIns="36576" bIns="36576" anchor="ctr">
            <a:spAutoFit/>
          </a:bodyPr>
          <a:lstStyle/>
          <a:p>
            <a:pPr algn="ctr">
              <a:defRPr sz="2100" b="1">
                <a:solidFill>
                  <a:srgbClr val="EFF7F7"/>
                </a:solidFill>
                <a:latin typeface="Aptos"/>
              </a:defRPr>
            </a:pPr>
            <a:r>
              <a:t>FALCON's novelty is the validated integration and local adaptation of sensing, edge computing, energy, prediction, and protection subsystems.</a:t>
            </a:r>
          </a:p>
        </p:txBody>
      </p:sp>
      <p:sp>
        <p:nvSpPr>
          <p:cNvPr id="22" name="TextBox 21"/>
          <p:cNvSpPr txBox="1"/>
          <p:nvPr/>
        </p:nvSpPr>
        <p:spPr>
          <a:xfrm>
            <a:off x="502920" y="6537960"/>
            <a:ext cx="6400800" cy="182880"/>
          </a:xfrm>
          <a:prstGeom prst="rect">
            <a:avLst/>
          </a:prstGeom>
          <a:noFill/>
        </p:spPr>
        <p:txBody>
          <a:bodyPr wrap="square" lIns="36576" rIns="36576" tIns="36576" bIns="36576" anchor="t">
            <a:spAutoFit/>
          </a:bodyPr>
          <a:lstStyle/>
          <a:p>
            <a:pPr algn="l">
              <a:defRPr sz="800" b="1">
                <a:solidFill>
                  <a:srgbClr val="A6C2C6"/>
                </a:solidFill>
                <a:latin typeface="Aptos"/>
              </a:defRPr>
            </a:pPr>
            <a:r>
              <a:t>PROJECT FALCON • FULLBRIGHT COLLEGE</a:t>
            </a:r>
          </a:p>
        </p:txBody>
      </p:sp>
      <p:sp>
        <p:nvSpPr>
          <p:cNvPr id="23" name="TextBox 22"/>
          <p:cNvSpPr txBox="1"/>
          <p:nvPr/>
        </p:nvSpPr>
        <p:spPr>
          <a:xfrm>
            <a:off x="9144000" y="6537960"/>
            <a:ext cx="2514600" cy="182880"/>
          </a:xfrm>
          <a:prstGeom prst="rect">
            <a:avLst/>
          </a:prstGeom>
          <a:noFill/>
        </p:spPr>
        <p:txBody>
          <a:bodyPr wrap="square" lIns="36576" rIns="36576" tIns="36576" bIns="36576" anchor="t">
            <a:spAutoFit/>
          </a:bodyPr>
          <a:lstStyle/>
          <a:p>
            <a:pPr algn="r">
              <a:defRPr sz="800" b="1">
                <a:solidFill>
                  <a:srgbClr val="A6C2C6"/>
                </a:solidFill>
                <a:latin typeface="Aptos"/>
              </a:defRPr>
            </a:pPr>
            <a:r>
              <a:t>DOST IDEA PRESENTATION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19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8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256032"/>
          </a:xfrm>
          <a:prstGeom prst="rect">
            <a:avLst/>
          </a:prstGeom>
          <a:noFill/>
        </p:spPr>
        <p:txBody>
          <a:bodyPr wrap="square" lIns="36576" rIns="36576" tIns="36576" bIns="36576" anchor="t">
            <a:spAutoFit/>
          </a:bodyPr>
          <a:lstStyle/>
          <a:p>
            <a:pPr algn="l">
              <a:defRPr sz="1000" b="1">
                <a:solidFill>
                  <a:srgbClr val="58BEC2"/>
                </a:solidFill>
                <a:latin typeface="Aptos"/>
              </a:defRPr>
            </a:pPr>
            <a:r>
              <a:t>BENEFICIARIES</a:t>
            </a:r>
          </a:p>
        </p:txBody>
      </p:sp>
      <p:sp>
        <p:nvSpPr>
          <p:cNvPr id="4" name="TextBox 3"/>
          <p:cNvSpPr txBox="1"/>
          <p:nvPr/>
        </p:nvSpPr>
        <p:spPr>
          <a:xfrm>
            <a:off x="502920" y="603504"/>
            <a:ext cx="10698480" cy="530352"/>
          </a:xfrm>
          <a:prstGeom prst="rect">
            <a:avLst/>
          </a:prstGeom>
          <a:noFill/>
        </p:spPr>
        <p:txBody>
          <a:bodyPr wrap="square" lIns="36576" rIns="36576" tIns="36576" bIns="36576" anchor="t">
            <a:spAutoFit/>
          </a:bodyPr>
          <a:lstStyle/>
          <a:p>
            <a:pPr algn="l">
              <a:defRPr sz="2700" b="1">
                <a:solidFill>
                  <a:srgbClr val="EFF7F7"/>
                </a:solidFill>
                <a:latin typeface="Aptos"/>
              </a:defRPr>
            </a:pPr>
            <a:r>
              <a:t>Start with one verified user and one pilot site</a:t>
            </a:r>
          </a:p>
        </p:txBody>
      </p:sp>
      <p:sp>
        <p:nvSpPr>
          <p:cNvPr id="5" name="TextBox 4"/>
          <p:cNvSpPr txBox="1"/>
          <p:nvPr/>
        </p:nvSpPr>
        <p:spPr>
          <a:xfrm>
            <a:off x="11201400" y="347472"/>
            <a:ext cx="457200" cy="320040"/>
          </a:xfrm>
          <a:prstGeom prst="rect">
            <a:avLst/>
          </a:prstGeom>
          <a:noFill/>
        </p:spPr>
        <p:txBody>
          <a:bodyPr wrap="square" lIns="36576" rIns="36576" tIns="36576" bIns="36576" anchor="t">
            <a:spAutoFit/>
          </a:bodyPr>
          <a:lstStyle/>
          <a:p>
            <a:pPr algn="r">
              <a:defRPr sz="1100" b="1">
                <a:solidFill>
                  <a:srgbClr val="A6C2C6"/>
                </a:solidFill>
                <a:latin typeface="Aptos"/>
              </a:defRPr>
            </a:pPr>
            <a:r>
              <a:t>10</a:t>
            </a:r>
          </a:p>
        </p:txBody>
      </p:sp>
      <p:sp>
        <p:nvSpPr>
          <p:cNvPr id="6" name="Rectangle 5"/>
          <p:cNvSpPr/>
          <p:nvPr/>
        </p:nvSpPr>
        <p:spPr>
          <a:xfrm>
            <a:off x="502920" y="1188720"/>
            <a:ext cx="11155680" cy="13716"/>
          </a:xfrm>
          <a:prstGeom prst="rect">
            <a:avLst/>
          </a:prstGeom>
          <a:solidFill>
            <a:srgbClr val="295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508760"/>
            <a:ext cx="5285232" cy="1536192"/>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73351"/>
            <a:ext cx="411480" cy="384048"/>
          </a:xfrm>
          <a:prstGeom prst="rect">
            <a:avLst/>
          </a:prstGeom>
          <a:noFill/>
        </p:spPr>
        <p:txBody>
          <a:bodyPr wrap="square" lIns="36576" rIns="36576" tIns="36576" bIns="36576" anchor="ctr">
            <a:spAutoFit/>
          </a:bodyPr>
          <a:lstStyle/>
          <a:p>
            <a:pPr algn="ctr">
              <a:defRPr sz="2300" b="1">
                <a:solidFill>
                  <a:srgbClr val="58BEC2"/>
                </a:solidFill>
                <a:latin typeface="Aptos"/>
              </a:defRPr>
            </a:pPr>
            <a:r>
              <a:t>⚓</a:t>
            </a:r>
          </a:p>
        </p:txBody>
      </p:sp>
      <p:sp>
        <p:nvSpPr>
          <p:cNvPr id="9" name="TextBox 8"/>
          <p:cNvSpPr txBox="1"/>
          <p:nvPr/>
        </p:nvSpPr>
        <p:spPr>
          <a:xfrm>
            <a:off x="1280160" y="1691639"/>
            <a:ext cx="4416552"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Coastal LGU / DRRM</a:t>
            </a:r>
          </a:p>
        </p:txBody>
      </p:sp>
      <p:sp>
        <p:nvSpPr>
          <p:cNvPr id="10" name="TextBox 9"/>
          <p:cNvSpPr txBox="1"/>
          <p:nvPr/>
        </p:nvSpPr>
        <p:spPr>
          <a:xfrm>
            <a:off x="822960" y="2167128"/>
            <a:ext cx="4828032" cy="731519"/>
          </a:xfrm>
          <a:prstGeom prst="rect">
            <a:avLst/>
          </a:prstGeom>
          <a:noFill/>
        </p:spPr>
        <p:txBody>
          <a:bodyPr wrap="square" lIns="36576" rIns="36576" tIns="36576" bIns="36576" anchor="t">
            <a:spAutoFit/>
          </a:bodyPr>
          <a:lstStyle/>
          <a:p>
            <a:pPr algn="l">
              <a:defRPr sz="1100" b="0">
                <a:solidFill>
                  <a:srgbClr val="A6C2C6"/>
                </a:solidFill>
                <a:latin typeface="Aptos"/>
              </a:defRPr>
            </a:pPr>
            <a:r>
              <a:t>Localized observation history and equipment-status awareness.</a:t>
            </a:r>
          </a:p>
        </p:txBody>
      </p:sp>
      <p:sp>
        <p:nvSpPr>
          <p:cNvPr id="11" name="Rounded Rectangle 10"/>
          <p:cNvSpPr/>
          <p:nvPr/>
        </p:nvSpPr>
        <p:spPr>
          <a:xfrm>
            <a:off x="6217920" y="1508760"/>
            <a:ext cx="5285232" cy="1536192"/>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1673351"/>
            <a:ext cx="411480" cy="384048"/>
          </a:xfrm>
          <a:prstGeom prst="rect">
            <a:avLst/>
          </a:prstGeom>
          <a:noFill/>
        </p:spPr>
        <p:txBody>
          <a:bodyPr wrap="square" lIns="36576" rIns="36576" tIns="36576" bIns="36576" anchor="ctr">
            <a:spAutoFit/>
          </a:bodyPr>
          <a:lstStyle/>
          <a:p>
            <a:pPr algn="ctr">
              <a:defRPr sz="2300" b="1">
                <a:solidFill>
                  <a:srgbClr val="70CBD3"/>
                </a:solidFill>
                <a:latin typeface="Aptos"/>
              </a:defRPr>
            </a:pPr>
            <a:r>
              <a:t>◒</a:t>
            </a:r>
          </a:p>
        </p:txBody>
      </p:sp>
      <p:sp>
        <p:nvSpPr>
          <p:cNvPr id="13" name="TextBox 12"/>
          <p:cNvSpPr txBox="1"/>
          <p:nvPr/>
        </p:nvSpPr>
        <p:spPr>
          <a:xfrm>
            <a:off x="6903720" y="1691639"/>
            <a:ext cx="4416552"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Fisherfolk / small craft</a:t>
            </a:r>
          </a:p>
        </p:txBody>
      </p:sp>
      <p:sp>
        <p:nvSpPr>
          <p:cNvPr id="14" name="TextBox 13"/>
          <p:cNvSpPr txBox="1"/>
          <p:nvPr/>
        </p:nvSpPr>
        <p:spPr>
          <a:xfrm>
            <a:off x="6446520" y="2167128"/>
            <a:ext cx="4828032" cy="731519"/>
          </a:xfrm>
          <a:prstGeom prst="rect">
            <a:avLst/>
          </a:prstGeom>
          <a:noFill/>
        </p:spPr>
        <p:txBody>
          <a:bodyPr wrap="square" lIns="36576" rIns="36576" tIns="36576" bIns="36576" anchor="t">
            <a:spAutoFit/>
          </a:bodyPr>
          <a:lstStyle/>
          <a:p>
            <a:pPr algn="l">
              <a:defRPr sz="1100" b="0">
                <a:solidFill>
                  <a:srgbClr val="A6C2C6"/>
                </a:solidFill>
                <a:latin typeface="Aptos"/>
              </a:defRPr>
            </a:pPr>
            <a:r>
              <a:t>Accessible near-shore information for a defined use case.</a:t>
            </a:r>
          </a:p>
        </p:txBody>
      </p:sp>
      <p:sp>
        <p:nvSpPr>
          <p:cNvPr id="15" name="Rounded Rectangle 14"/>
          <p:cNvSpPr/>
          <p:nvPr/>
        </p:nvSpPr>
        <p:spPr>
          <a:xfrm>
            <a:off x="594360" y="3383279"/>
            <a:ext cx="5285232" cy="1536192"/>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3547872"/>
            <a:ext cx="411480" cy="384048"/>
          </a:xfrm>
          <a:prstGeom prst="rect">
            <a:avLst/>
          </a:prstGeom>
          <a:noFill/>
        </p:spPr>
        <p:txBody>
          <a:bodyPr wrap="square" lIns="36576" rIns="36576" tIns="36576" bIns="36576" anchor="ctr">
            <a:spAutoFit/>
          </a:bodyPr>
          <a:lstStyle/>
          <a:p>
            <a:pPr algn="ctr">
              <a:defRPr sz="2300" b="1">
                <a:solidFill>
                  <a:srgbClr val="66BE91"/>
                </a:solidFill>
                <a:latin typeface="Aptos"/>
              </a:defRPr>
            </a:pPr>
            <a:r>
              <a:t>⌬</a:t>
            </a:r>
          </a:p>
        </p:txBody>
      </p:sp>
      <p:sp>
        <p:nvSpPr>
          <p:cNvPr id="17" name="TextBox 16"/>
          <p:cNvSpPr txBox="1"/>
          <p:nvPr/>
        </p:nvSpPr>
        <p:spPr>
          <a:xfrm>
            <a:off x="1280160" y="3566160"/>
            <a:ext cx="4416552"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Schools / researchers</a:t>
            </a:r>
          </a:p>
        </p:txBody>
      </p:sp>
      <p:sp>
        <p:nvSpPr>
          <p:cNvPr id="18" name="TextBox 17"/>
          <p:cNvSpPr txBox="1"/>
          <p:nvPr/>
        </p:nvSpPr>
        <p:spPr>
          <a:xfrm>
            <a:off x="822960" y="4041648"/>
            <a:ext cx="4828032" cy="731519"/>
          </a:xfrm>
          <a:prstGeom prst="rect">
            <a:avLst/>
          </a:prstGeom>
          <a:noFill/>
        </p:spPr>
        <p:txBody>
          <a:bodyPr wrap="square" lIns="36576" rIns="36576" tIns="36576" bIns="36576" anchor="t">
            <a:spAutoFit/>
          </a:bodyPr>
          <a:lstStyle/>
          <a:p>
            <a:pPr algn="l">
              <a:defRPr sz="1100" b="0">
                <a:solidFill>
                  <a:srgbClr val="A6C2C6"/>
                </a:solidFill>
                <a:latin typeface="Aptos"/>
              </a:defRPr>
            </a:pPr>
            <a:r>
              <a:t>A reproducible platform and local dataset for future studies.</a:t>
            </a:r>
          </a:p>
        </p:txBody>
      </p:sp>
      <p:sp>
        <p:nvSpPr>
          <p:cNvPr id="19" name="Rounded Rectangle 18"/>
          <p:cNvSpPr/>
          <p:nvPr/>
        </p:nvSpPr>
        <p:spPr>
          <a:xfrm>
            <a:off x="6217920" y="3383279"/>
            <a:ext cx="5285232" cy="1536192"/>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3547872"/>
            <a:ext cx="411480" cy="384048"/>
          </a:xfrm>
          <a:prstGeom prst="rect">
            <a:avLst/>
          </a:prstGeom>
          <a:noFill/>
        </p:spPr>
        <p:txBody>
          <a:bodyPr wrap="square" lIns="36576" rIns="36576" tIns="36576" bIns="36576" anchor="ctr">
            <a:spAutoFit/>
          </a:bodyPr>
          <a:lstStyle/>
          <a:p>
            <a:pPr algn="ctr">
              <a:defRPr sz="2300" b="1">
                <a:solidFill>
                  <a:srgbClr val="D39D4C"/>
                </a:solidFill>
                <a:latin typeface="Aptos"/>
              </a:defRPr>
            </a:pPr>
            <a:r>
              <a:t>◎</a:t>
            </a:r>
          </a:p>
        </p:txBody>
      </p:sp>
      <p:sp>
        <p:nvSpPr>
          <p:cNvPr id="21" name="TextBox 20"/>
          <p:cNvSpPr txBox="1"/>
          <p:nvPr/>
        </p:nvSpPr>
        <p:spPr>
          <a:xfrm>
            <a:off x="6903720" y="3566160"/>
            <a:ext cx="4416552"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Ports / tourism / NGOs</a:t>
            </a:r>
          </a:p>
        </p:txBody>
      </p:sp>
      <p:sp>
        <p:nvSpPr>
          <p:cNvPr id="22" name="TextBox 21"/>
          <p:cNvSpPr txBox="1"/>
          <p:nvPr/>
        </p:nvSpPr>
        <p:spPr>
          <a:xfrm>
            <a:off x="6446520" y="4041648"/>
            <a:ext cx="4828032" cy="731519"/>
          </a:xfrm>
          <a:prstGeom prst="rect">
            <a:avLst/>
          </a:prstGeom>
          <a:noFill/>
        </p:spPr>
        <p:txBody>
          <a:bodyPr wrap="square" lIns="36576" rIns="36576" tIns="36576" bIns="36576" anchor="t">
            <a:spAutoFit/>
          </a:bodyPr>
          <a:lstStyle/>
          <a:p>
            <a:pPr algn="l">
              <a:defRPr sz="1100" b="0">
                <a:solidFill>
                  <a:srgbClr val="A6C2C6"/>
                </a:solidFill>
                <a:latin typeface="Aptos"/>
              </a:defRPr>
            </a:pPr>
            <a:r>
              <a:t>Potential monitoring support after validation and stakeholder confirmation.</a:t>
            </a:r>
          </a:p>
        </p:txBody>
      </p:sp>
      <p:sp>
        <p:nvSpPr>
          <p:cNvPr id="23" name="Rounded Rectangle 22"/>
          <p:cNvSpPr/>
          <p:nvPr/>
        </p:nvSpPr>
        <p:spPr>
          <a:xfrm>
            <a:off x="1234440" y="5413248"/>
            <a:ext cx="9738360" cy="502920"/>
          </a:xfrm>
          <a:prstGeom prst="roundRect">
            <a:avLst>
              <a:gd name="adj" fmla="val 12000"/>
            </a:avLst>
          </a:prstGeom>
          <a:solidFill>
            <a:srgbClr val="103A43"/>
          </a:solidFill>
          <a:ln>
            <a:solidFill>
              <a:srgbClr val="58BE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54480" y="5577840"/>
            <a:ext cx="9098280" cy="164592"/>
          </a:xfrm>
          <a:prstGeom prst="rect">
            <a:avLst/>
          </a:prstGeom>
          <a:noFill/>
        </p:spPr>
        <p:txBody>
          <a:bodyPr wrap="square" lIns="36576" rIns="36576" tIns="36576" bIns="36576" anchor="t">
            <a:spAutoFit/>
          </a:bodyPr>
          <a:lstStyle/>
          <a:p>
            <a:pPr algn="ctr">
              <a:defRPr sz="1000" b="1">
                <a:solidFill>
                  <a:srgbClr val="EFF7F7"/>
                </a:solidFill>
                <a:latin typeface="Aptos"/>
              </a:defRPr>
            </a:pPr>
            <a:r>
              <a:t>PILOT PRINCIPLE: prove value for one stakeholder before expanding scope.</a:t>
            </a:r>
          </a:p>
        </p:txBody>
      </p:sp>
      <p:sp>
        <p:nvSpPr>
          <p:cNvPr id="25" name="TextBox 24"/>
          <p:cNvSpPr txBox="1"/>
          <p:nvPr/>
        </p:nvSpPr>
        <p:spPr>
          <a:xfrm>
            <a:off x="502920" y="6537960"/>
            <a:ext cx="6400800" cy="182880"/>
          </a:xfrm>
          <a:prstGeom prst="rect">
            <a:avLst/>
          </a:prstGeom>
          <a:noFill/>
        </p:spPr>
        <p:txBody>
          <a:bodyPr wrap="square" lIns="36576" rIns="36576" tIns="36576" bIns="36576" anchor="t">
            <a:spAutoFit/>
          </a:bodyPr>
          <a:lstStyle/>
          <a:p>
            <a:pPr algn="l">
              <a:defRPr sz="800" b="1">
                <a:solidFill>
                  <a:srgbClr val="A6C2C6"/>
                </a:solidFill>
                <a:latin typeface="Aptos"/>
              </a:defRPr>
            </a:pPr>
            <a:r>
              <a:t>PROJECT FALCON • FULLBRIGHT COLLEGE</a:t>
            </a:r>
          </a:p>
        </p:txBody>
      </p:sp>
      <p:sp>
        <p:nvSpPr>
          <p:cNvPr id="26" name="TextBox 25"/>
          <p:cNvSpPr txBox="1"/>
          <p:nvPr/>
        </p:nvSpPr>
        <p:spPr>
          <a:xfrm>
            <a:off x="9144000" y="6537960"/>
            <a:ext cx="2514600" cy="182880"/>
          </a:xfrm>
          <a:prstGeom prst="rect">
            <a:avLst/>
          </a:prstGeom>
          <a:noFill/>
        </p:spPr>
        <p:txBody>
          <a:bodyPr wrap="square" lIns="36576" rIns="36576" tIns="36576" bIns="36576" anchor="t">
            <a:spAutoFit/>
          </a:bodyPr>
          <a:lstStyle/>
          <a:p>
            <a:pPr algn="r">
              <a:defRPr sz="800" b="1">
                <a:solidFill>
                  <a:srgbClr val="A6C2C6"/>
                </a:solidFill>
                <a:latin typeface="Aptos"/>
              </a:defRPr>
            </a:pPr>
            <a:r>
              <a:t>DOST IDEA PRESENTATION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19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8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256032"/>
          </a:xfrm>
          <a:prstGeom prst="rect">
            <a:avLst/>
          </a:prstGeom>
          <a:noFill/>
        </p:spPr>
        <p:txBody>
          <a:bodyPr wrap="square" lIns="36576" rIns="36576" tIns="36576" bIns="36576" anchor="t">
            <a:spAutoFit/>
          </a:bodyPr>
          <a:lstStyle/>
          <a:p>
            <a:pPr algn="l">
              <a:defRPr sz="1000" b="1">
                <a:solidFill>
                  <a:srgbClr val="58BEC2"/>
                </a:solidFill>
                <a:latin typeface="Aptos"/>
              </a:defRPr>
            </a:pPr>
            <a:r>
              <a:t>DEVELOPMENT PLAN</a:t>
            </a:r>
          </a:p>
        </p:txBody>
      </p:sp>
      <p:sp>
        <p:nvSpPr>
          <p:cNvPr id="4" name="TextBox 3"/>
          <p:cNvSpPr txBox="1"/>
          <p:nvPr/>
        </p:nvSpPr>
        <p:spPr>
          <a:xfrm>
            <a:off x="502920" y="603504"/>
            <a:ext cx="10698480" cy="530352"/>
          </a:xfrm>
          <a:prstGeom prst="rect">
            <a:avLst/>
          </a:prstGeom>
          <a:noFill/>
        </p:spPr>
        <p:txBody>
          <a:bodyPr wrap="square" lIns="36576" rIns="36576" tIns="36576" bIns="36576" anchor="t">
            <a:spAutoFit/>
          </a:bodyPr>
          <a:lstStyle/>
          <a:p>
            <a:pPr algn="l">
              <a:defRPr sz="2700" b="1">
                <a:solidFill>
                  <a:srgbClr val="EFF7F7"/>
                </a:solidFill>
                <a:latin typeface="Aptos"/>
              </a:defRPr>
            </a:pPr>
            <a:r>
              <a:t>Build safely, collect evidence, then evaluate</a:t>
            </a:r>
          </a:p>
        </p:txBody>
      </p:sp>
      <p:sp>
        <p:nvSpPr>
          <p:cNvPr id="5" name="TextBox 4"/>
          <p:cNvSpPr txBox="1"/>
          <p:nvPr/>
        </p:nvSpPr>
        <p:spPr>
          <a:xfrm>
            <a:off x="11201400" y="347472"/>
            <a:ext cx="457200" cy="320040"/>
          </a:xfrm>
          <a:prstGeom prst="rect">
            <a:avLst/>
          </a:prstGeom>
          <a:noFill/>
        </p:spPr>
        <p:txBody>
          <a:bodyPr wrap="square" lIns="36576" rIns="36576" tIns="36576" bIns="36576" anchor="t">
            <a:spAutoFit/>
          </a:bodyPr>
          <a:lstStyle/>
          <a:p>
            <a:pPr algn="r">
              <a:defRPr sz="1100" b="1">
                <a:solidFill>
                  <a:srgbClr val="A6C2C6"/>
                </a:solidFill>
                <a:latin typeface="Aptos"/>
              </a:defRPr>
            </a:pPr>
            <a:r>
              <a:t>11</a:t>
            </a:r>
          </a:p>
        </p:txBody>
      </p:sp>
      <p:sp>
        <p:nvSpPr>
          <p:cNvPr id="6" name="Rectangle 5"/>
          <p:cNvSpPr/>
          <p:nvPr/>
        </p:nvSpPr>
        <p:spPr>
          <a:xfrm>
            <a:off x="502920" y="1188720"/>
            <a:ext cx="11155680" cy="13716"/>
          </a:xfrm>
          <a:prstGeom prst="rect">
            <a:avLst/>
          </a:prstGeom>
          <a:solidFill>
            <a:srgbClr val="295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evelopment-roadmap.png"/>
          <p:cNvPicPr>
            <a:picLocks noChangeAspect="1"/>
          </p:cNvPicPr>
          <p:nvPr/>
        </p:nvPicPr>
        <p:blipFill>
          <a:blip r:embed="rId2"/>
          <a:srcRect t="6782" b="6782"/>
          <a:stretch>
            <a:fillRect/>
          </a:stretch>
        </p:blipFill>
        <p:spPr>
          <a:xfrm>
            <a:off x="502920" y="1417320"/>
            <a:ext cx="11155680" cy="4480560"/>
          </a:xfrm>
          <a:prstGeom prst="rect">
            <a:avLst/>
          </a:prstGeom>
        </p:spPr>
      </p:pic>
      <p:sp>
        <p:nvSpPr>
          <p:cNvPr id="8" name="Rounded Rectangle 7"/>
          <p:cNvSpPr/>
          <p:nvPr/>
        </p:nvSpPr>
        <p:spPr>
          <a:xfrm>
            <a:off x="3749039" y="5870448"/>
            <a:ext cx="4709160" cy="438912"/>
          </a:xfrm>
          <a:prstGeom prst="roundRect">
            <a:avLst>
              <a:gd name="adj" fmla="val 12000"/>
            </a:avLst>
          </a:prstGeom>
          <a:solidFill>
            <a:srgbClr val="143E47"/>
          </a:solidFill>
          <a:ln>
            <a:solidFill>
              <a:srgbClr val="58BE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50208" y="6007608"/>
            <a:ext cx="4297680" cy="146304"/>
          </a:xfrm>
          <a:prstGeom prst="rect">
            <a:avLst/>
          </a:prstGeom>
          <a:noFill/>
        </p:spPr>
        <p:txBody>
          <a:bodyPr wrap="square" lIns="36576" rIns="36576" tIns="36576" bIns="36576" anchor="t">
            <a:spAutoFit/>
          </a:bodyPr>
          <a:lstStyle/>
          <a:p>
            <a:pPr algn="ctr">
              <a:defRPr sz="1000" b="1">
                <a:solidFill>
                  <a:srgbClr val="EFF7F7"/>
                </a:solidFill>
                <a:latin typeface="Aptos"/>
              </a:defRPr>
            </a:pPr>
            <a:r>
              <a:t>ESTIMATED DEVELOPMENT: 8–12 MONTHS</a:t>
            </a:r>
          </a:p>
        </p:txBody>
      </p:sp>
      <p:sp>
        <p:nvSpPr>
          <p:cNvPr id="10" name="TextBox 9"/>
          <p:cNvSpPr txBox="1"/>
          <p:nvPr/>
        </p:nvSpPr>
        <p:spPr>
          <a:xfrm>
            <a:off x="502920" y="6537960"/>
            <a:ext cx="6400800" cy="182880"/>
          </a:xfrm>
          <a:prstGeom prst="rect">
            <a:avLst/>
          </a:prstGeom>
          <a:noFill/>
        </p:spPr>
        <p:txBody>
          <a:bodyPr wrap="square" lIns="36576" rIns="36576" tIns="36576" bIns="36576" anchor="t">
            <a:spAutoFit/>
          </a:bodyPr>
          <a:lstStyle/>
          <a:p>
            <a:pPr algn="l">
              <a:defRPr sz="800" b="1">
                <a:solidFill>
                  <a:srgbClr val="A6C2C6"/>
                </a:solidFill>
                <a:latin typeface="Aptos"/>
              </a:defRPr>
            </a:pPr>
            <a:r>
              <a:t>PROJECT FALCON • FULLBRIGHT COLLEGE</a:t>
            </a:r>
          </a:p>
        </p:txBody>
      </p:sp>
      <p:sp>
        <p:nvSpPr>
          <p:cNvPr id="11" name="TextBox 10"/>
          <p:cNvSpPr txBox="1"/>
          <p:nvPr/>
        </p:nvSpPr>
        <p:spPr>
          <a:xfrm>
            <a:off x="9144000" y="6537960"/>
            <a:ext cx="2514600" cy="182880"/>
          </a:xfrm>
          <a:prstGeom prst="rect">
            <a:avLst/>
          </a:prstGeom>
          <a:noFill/>
        </p:spPr>
        <p:txBody>
          <a:bodyPr wrap="square" lIns="36576" rIns="36576" tIns="36576" bIns="36576" anchor="t">
            <a:spAutoFit/>
          </a:bodyPr>
          <a:lstStyle/>
          <a:p>
            <a:pPr algn="r">
              <a:defRPr sz="800" b="1">
                <a:solidFill>
                  <a:srgbClr val="A6C2C6"/>
                </a:solidFill>
                <a:latin typeface="Aptos"/>
              </a:defRPr>
            </a:pPr>
            <a:r>
              <a:t>DOST IDEA PRESENTATION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19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8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256032"/>
          </a:xfrm>
          <a:prstGeom prst="rect">
            <a:avLst/>
          </a:prstGeom>
          <a:noFill/>
        </p:spPr>
        <p:txBody>
          <a:bodyPr wrap="square" lIns="36576" rIns="36576" tIns="36576" bIns="36576" anchor="t">
            <a:spAutoFit/>
          </a:bodyPr>
          <a:lstStyle/>
          <a:p>
            <a:pPr algn="l">
              <a:defRPr sz="1000" b="1">
                <a:solidFill>
                  <a:srgbClr val="58BEC2"/>
                </a:solidFill>
                <a:latin typeface="Aptos"/>
              </a:defRPr>
            </a:pPr>
            <a:r>
              <a:t>PRELIMINARY BUDGET</a:t>
            </a:r>
          </a:p>
        </p:txBody>
      </p:sp>
      <p:sp>
        <p:nvSpPr>
          <p:cNvPr id="4" name="TextBox 3"/>
          <p:cNvSpPr txBox="1"/>
          <p:nvPr/>
        </p:nvSpPr>
        <p:spPr>
          <a:xfrm>
            <a:off x="502920" y="603504"/>
            <a:ext cx="10698480" cy="530352"/>
          </a:xfrm>
          <a:prstGeom prst="rect">
            <a:avLst/>
          </a:prstGeom>
          <a:noFill/>
        </p:spPr>
        <p:txBody>
          <a:bodyPr wrap="square" lIns="36576" rIns="36576" tIns="36576" bIns="36576" anchor="t">
            <a:spAutoFit/>
          </a:bodyPr>
          <a:lstStyle/>
          <a:p>
            <a:pPr algn="l">
              <a:defRPr sz="2700" b="1">
                <a:solidFill>
                  <a:srgbClr val="EFF7F7"/>
                </a:solidFill>
                <a:latin typeface="Aptos"/>
              </a:defRPr>
            </a:pPr>
            <a:r>
              <a:t>Funding supports the complete development process</a:t>
            </a:r>
          </a:p>
        </p:txBody>
      </p:sp>
      <p:sp>
        <p:nvSpPr>
          <p:cNvPr id="5" name="TextBox 4"/>
          <p:cNvSpPr txBox="1"/>
          <p:nvPr/>
        </p:nvSpPr>
        <p:spPr>
          <a:xfrm>
            <a:off x="11201400" y="347472"/>
            <a:ext cx="457200" cy="320040"/>
          </a:xfrm>
          <a:prstGeom prst="rect">
            <a:avLst/>
          </a:prstGeom>
          <a:noFill/>
        </p:spPr>
        <p:txBody>
          <a:bodyPr wrap="square" lIns="36576" rIns="36576" tIns="36576" bIns="36576" anchor="t">
            <a:spAutoFit/>
          </a:bodyPr>
          <a:lstStyle/>
          <a:p>
            <a:pPr algn="r">
              <a:defRPr sz="1100" b="1">
                <a:solidFill>
                  <a:srgbClr val="A6C2C6"/>
                </a:solidFill>
                <a:latin typeface="Aptos"/>
              </a:defRPr>
            </a:pPr>
            <a:r>
              <a:t>12</a:t>
            </a:r>
          </a:p>
        </p:txBody>
      </p:sp>
      <p:sp>
        <p:nvSpPr>
          <p:cNvPr id="6" name="Rectangle 5"/>
          <p:cNvSpPr/>
          <p:nvPr/>
        </p:nvSpPr>
        <p:spPr>
          <a:xfrm>
            <a:off x="502920" y="1188720"/>
            <a:ext cx="11155680" cy="13716"/>
          </a:xfrm>
          <a:prstGeom prst="rect">
            <a:avLst/>
          </a:prstGeom>
          <a:solidFill>
            <a:srgbClr val="295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unding-breakdown.png"/>
          <p:cNvPicPr>
            <a:picLocks noChangeAspect="1"/>
          </p:cNvPicPr>
          <p:nvPr/>
        </p:nvPicPr>
        <p:blipFill>
          <a:blip r:embed="rId2"/>
          <a:srcRect t="7394" b="7394"/>
          <a:stretch>
            <a:fillRect/>
          </a:stretch>
        </p:blipFill>
        <p:spPr>
          <a:xfrm>
            <a:off x="502920" y="1371600"/>
            <a:ext cx="11155680" cy="4892040"/>
          </a:xfrm>
          <a:prstGeom prst="rect">
            <a:avLst/>
          </a:prstGeom>
        </p:spPr>
      </p:pic>
      <p:sp>
        <p:nvSpPr>
          <p:cNvPr id="8" name="TextBox 7"/>
          <p:cNvSpPr txBox="1"/>
          <p:nvPr/>
        </p:nvSpPr>
        <p:spPr>
          <a:xfrm>
            <a:off x="502920" y="6537960"/>
            <a:ext cx="6400800" cy="182880"/>
          </a:xfrm>
          <a:prstGeom prst="rect">
            <a:avLst/>
          </a:prstGeom>
          <a:noFill/>
        </p:spPr>
        <p:txBody>
          <a:bodyPr wrap="square" lIns="36576" rIns="36576" tIns="36576" bIns="36576" anchor="t">
            <a:spAutoFit/>
          </a:bodyPr>
          <a:lstStyle/>
          <a:p>
            <a:pPr algn="l">
              <a:defRPr sz="800" b="1">
                <a:solidFill>
                  <a:srgbClr val="A6C2C6"/>
                </a:solidFill>
                <a:latin typeface="Aptos"/>
              </a:defRPr>
            </a:pPr>
            <a:r>
              <a:t>PROJECT FALCON • FULLBRIGHT COLLEGE</a:t>
            </a:r>
          </a:p>
        </p:txBody>
      </p:sp>
      <p:sp>
        <p:nvSpPr>
          <p:cNvPr id="9" name="TextBox 8"/>
          <p:cNvSpPr txBox="1"/>
          <p:nvPr/>
        </p:nvSpPr>
        <p:spPr>
          <a:xfrm>
            <a:off x="9144000" y="6537960"/>
            <a:ext cx="2514600" cy="182880"/>
          </a:xfrm>
          <a:prstGeom prst="rect">
            <a:avLst/>
          </a:prstGeom>
          <a:noFill/>
        </p:spPr>
        <p:txBody>
          <a:bodyPr wrap="square" lIns="36576" rIns="36576" tIns="36576" bIns="36576" anchor="t">
            <a:spAutoFit/>
          </a:bodyPr>
          <a:lstStyle/>
          <a:p>
            <a:pPr algn="r">
              <a:defRPr sz="800" b="1">
                <a:solidFill>
                  <a:srgbClr val="A6C2C6"/>
                </a:solidFill>
                <a:latin typeface="Aptos"/>
              </a:defRPr>
            </a:pPr>
            <a:r>
              <a:t>DOST IDEA PRESENTATION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19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8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8229600" cy="256032"/>
          </a:xfrm>
          <a:prstGeom prst="rect">
            <a:avLst/>
          </a:prstGeom>
          <a:noFill/>
        </p:spPr>
        <p:txBody>
          <a:bodyPr wrap="square" lIns="36576" rIns="36576" tIns="36576" bIns="36576" anchor="t">
            <a:spAutoFit/>
          </a:bodyPr>
          <a:lstStyle/>
          <a:p>
            <a:pPr algn="l">
              <a:defRPr sz="1000" b="1">
                <a:solidFill>
                  <a:srgbClr val="58BEC2"/>
                </a:solidFill>
                <a:latin typeface="Aptos"/>
              </a:defRPr>
            </a:pPr>
            <a:r>
              <a:t>EXPECTED RESULT + REQUEST</a:t>
            </a:r>
          </a:p>
        </p:txBody>
      </p:sp>
      <p:sp>
        <p:nvSpPr>
          <p:cNvPr id="4" name="TextBox 3"/>
          <p:cNvSpPr txBox="1"/>
          <p:nvPr/>
        </p:nvSpPr>
        <p:spPr>
          <a:xfrm>
            <a:off x="502920" y="603504"/>
            <a:ext cx="10698480" cy="530352"/>
          </a:xfrm>
          <a:prstGeom prst="rect">
            <a:avLst/>
          </a:prstGeom>
          <a:noFill/>
        </p:spPr>
        <p:txBody>
          <a:bodyPr wrap="square" lIns="36576" rIns="36576" tIns="36576" bIns="36576" anchor="t">
            <a:spAutoFit/>
          </a:bodyPr>
          <a:lstStyle/>
          <a:p>
            <a:pPr algn="l">
              <a:defRPr sz="2700" b="1">
                <a:solidFill>
                  <a:srgbClr val="EFF7F7"/>
                </a:solidFill>
                <a:latin typeface="Aptos"/>
              </a:defRPr>
            </a:pPr>
            <a:r>
              <a:t>Turn the working concept into a validated physical prototype</a:t>
            </a:r>
          </a:p>
        </p:txBody>
      </p:sp>
      <p:sp>
        <p:nvSpPr>
          <p:cNvPr id="5" name="TextBox 4"/>
          <p:cNvSpPr txBox="1"/>
          <p:nvPr/>
        </p:nvSpPr>
        <p:spPr>
          <a:xfrm>
            <a:off x="11201400" y="347472"/>
            <a:ext cx="457200" cy="320040"/>
          </a:xfrm>
          <a:prstGeom prst="rect">
            <a:avLst/>
          </a:prstGeom>
          <a:noFill/>
        </p:spPr>
        <p:txBody>
          <a:bodyPr wrap="square" lIns="36576" rIns="36576" tIns="36576" bIns="36576" anchor="t">
            <a:spAutoFit/>
          </a:bodyPr>
          <a:lstStyle/>
          <a:p>
            <a:pPr algn="r">
              <a:defRPr sz="1100" b="1">
                <a:solidFill>
                  <a:srgbClr val="A6C2C6"/>
                </a:solidFill>
                <a:latin typeface="Aptos"/>
              </a:defRPr>
            </a:pPr>
            <a:r>
              <a:t>13</a:t>
            </a:r>
          </a:p>
        </p:txBody>
      </p:sp>
      <p:sp>
        <p:nvSpPr>
          <p:cNvPr id="6" name="Rectangle 5"/>
          <p:cNvSpPr/>
          <p:nvPr/>
        </p:nvSpPr>
        <p:spPr>
          <a:xfrm>
            <a:off x="502920" y="1188720"/>
            <a:ext cx="11155680" cy="13716"/>
          </a:xfrm>
          <a:prstGeom prst="rect">
            <a:avLst/>
          </a:prstGeom>
          <a:solidFill>
            <a:srgbClr val="295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alcon-concept-visualization.png"/>
          <p:cNvPicPr>
            <a:picLocks noChangeAspect="1"/>
          </p:cNvPicPr>
          <p:nvPr/>
        </p:nvPicPr>
        <p:blipFill>
          <a:blip r:embed="rId2"/>
          <a:srcRect l="20899" r="20899"/>
          <a:stretch>
            <a:fillRect/>
          </a:stretch>
        </p:blipFill>
        <p:spPr>
          <a:xfrm>
            <a:off x="502920" y="1389888"/>
            <a:ext cx="4709160" cy="4553712"/>
          </a:xfrm>
          <a:prstGeom prst="rect">
            <a:avLst/>
          </a:prstGeom>
        </p:spPr>
      </p:pic>
      <p:sp>
        <p:nvSpPr>
          <p:cNvPr id="8" name="TextBox 7"/>
          <p:cNvSpPr txBox="1"/>
          <p:nvPr/>
        </p:nvSpPr>
        <p:spPr>
          <a:xfrm>
            <a:off x="676656" y="5696712"/>
            <a:ext cx="2194560" cy="164592"/>
          </a:xfrm>
          <a:prstGeom prst="rect">
            <a:avLst/>
          </a:prstGeom>
          <a:noFill/>
        </p:spPr>
        <p:txBody>
          <a:bodyPr wrap="square" lIns="36576" rIns="36576" tIns="36576" bIns="36576" anchor="t">
            <a:spAutoFit/>
          </a:bodyPr>
          <a:lstStyle/>
          <a:p>
            <a:pPr algn="l">
              <a:defRPr sz="800" b="1">
                <a:solidFill>
                  <a:srgbClr val="EFF7F7"/>
                </a:solidFill>
                <a:latin typeface="Aptos"/>
              </a:defRPr>
            </a:pPr>
            <a:r>
              <a:t>CONCEPT VISUALIZATION</a:t>
            </a:r>
          </a:p>
        </p:txBody>
      </p:sp>
      <p:sp>
        <p:nvSpPr>
          <p:cNvPr id="9" name="Rounded Rectangle 8"/>
          <p:cNvSpPr/>
          <p:nvPr/>
        </p:nvSpPr>
        <p:spPr>
          <a:xfrm>
            <a:off x="5532120" y="1389888"/>
            <a:ext cx="6126480" cy="2542032"/>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33288" y="1554480"/>
            <a:ext cx="411480" cy="384048"/>
          </a:xfrm>
          <a:prstGeom prst="rect">
            <a:avLst/>
          </a:prstGeom>
          <a:noFill/>
        </p:spPr>
        <p:txBody>
          <a:bodyPr wrap="square" lIns="36576" rIns="36576" tIns="36576" bIns="36576" anchor="ctr">
            <a:spAutoFit/>
          </a:bodyPr>
          <a:lstStyle/>
          <a:p>
            <a:pPr algn="ctr">
              <a:defRPr sz="2300" b="1">
                <a:solidFill>
                  <a:srgbClr val="58BEC2"/>
                </a:solidFill>
                <a:latin typeface="Aptos"/>
              </a:defRPr>
            </a:pPr>
            <a:r>
              <a:t>✓</a:t>
            </a:r>
          </a:p>
        </p:txBody>
      </p:sp>
      <p:sp>
        <p:nvSpPr>
          <p:cNvPr id="11" name="TextBox 10"/>
          <p:cNvSpPr txBox="1"/>
          <p:nvPr/>
        </p:nvSpPr>
        <p:spPr>
          <a:xfrm>
            <a:off x="6217920" y="1572768"/>
            <a:ext cx="5257800"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Deliverables</a:t>
            </a:r>
          </a:p>
        </p:txBody>
      </p:sp>
      <p:sp>
        <p:nvSpPr>
          <p:cNvPr id="12" name="TextBox 11"/>
          <p:cNvSpPr txBox="1"/>
          <p:nvPr/>
        </p:nvSpPr>
        <p:spPr>
          <a:xfrm>
            <a:off x="5760720" y="2048256"/>
            <a:ext cx="5669280" cy="1737360"/>
          </a:xfrm>
          <a:prstGeom prst="rect">
            <a:avLst/>
          </a:prstGeom>
          <a:noFill/>
        </p:spPr>
        <p:txBody>
          <a:bodyPr wrap="square" lIns="36576" rIns="36576" tIns="36576" bIns="36576" anchor="t">
            <a:spAutoFit/>
          </a:bodyPr>
          <a:lstStyle/>
          <a:p>
            <a:pPr algn="l">
              <a:defRPr sz="1100" b="0">
                <a:solidFill>
                  <a:srgbClr val="A6C2C6"/>
                </a:solidFill>
                <a:latin typeface="Aptos"/>
              </a:defRPr>
            </a:pPr>
            <a:r>
              <a:t>Integrated physical prototype</a:t>
            </a:r>
            <a:br/>
            <a:r>
              <a:t>Calibrated sensing and power</a:t>
            </a:r>
            <a:br/>
            <a:r>
              <a:t>Local dashboard and data archive</a:t>
            </a:r>
            <a:br/>
            <a:r>
              <a:t>Controlled + supervised coastal results</a:t>
            </a:r>
            <a:br/>
            <a:r>
              <a:t>Model-versus-baseline evaluation</a:t>
            </a:r>
            <a:br/>
            <a:r>
              <a:t>Reproducible technical documentation</a:t>
            </a:r>
          </a:p>
        </p:txBody>
      </p:sp>
      <p:sp>
        <p:nvSpPr>
          <p:cNvPr id="13" name="Rounded Rectangle 12"/>
          <p:cNvSpPr/>
          <p:nvPr/>
        </p:nvSpPr>
        <p:spPr>
          <a:xfrm>
            <a:off x="5532120" y="4133087"/>
            <a:ext cx="6126480" cy="1143000"/>
          </a:xfrm>
          <a:prstGeom prst="roundRect">
            <a:avLst>
              <a:gd name="adj" fmla="val 12000"/>
            </a:avLst>
          </a:prstGeom>
          <a:solidFill>
            <a:srgbClr val="0C2A34"/>
          </a:solidFill>
          <a:ln>
            <a:solidFill>
              <a:srgbClr val="2A59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33288" y="4297679"/>
            <a:ext cx="411480" cy="384048"/>
          </a:xfrm>
          <a:prstGeom prst="rect">
            <a:avLst/>
          </a:prstGeom>
          <a:noFill/>
        </p:spPr>
        <p:txBody>
          <a:bodyPr wrap="square" lIns="36576" rIns="36576" tIns="36576" bIns="36576" anchor="ctr">
            <a:spAutoFit/>
          </a:bodyPr>
          <a:lstStyle/>
          <a:p>
            <a:pPr algn="ctr">
              <a:defRPr sz="2300" b="1">
                <a:solidFill>
                  <a:srgbClr val="D39D4C"/>
                </a:solidFill>
                <a:latin typeface="Aptos"/>
              </a:defRPr>
            </a:pPr>
            <a:r>
              <a:t>→</a:t>
            </a:r>
          </a:p>
        </p:txBody>
      </p:sp>
      <p:sp>
        <p:nvSpPr>
          <p:cNvPr id="15" name="TextBox 14"/>
          <p:cNvSpPr txBox="1"/>
          <p:nvPr/>
        </p:nvSpPr>
        <p:spPr>
          <a:xfrm>
            <a:off x="6217920" y="4315968"/>
            <a:ext cx="5257800" cy="320040"/>
          </a:xfrm>
          <a:prstGeom prst="rect">
            <a:avLst/>
          </a:prstGeom>
          <a:noFill/>
        </p:spPr>
        <p:txBody>
          <a:bodyPr wrap="square" lIns="36576" rIns="36576" tIns="36576" bIns="36576" anchor="t">
            <a:spAutoFit/>
          </a:bodyPr>
          <a:lstStyle/>
          <a:p>
            <a:pPr algn="l">
              <a:defRPr sz="1500" b="1">
                <a:solidFill>
                  <a:srgbClr val="EFF7F7"/>
                </a:solidFill>
                <a:latin typeface="Aptos"/>
              </a:defRPr>
            </a:pPr>
            <a:r>
              <a:t>Support requested</a:t>
            </a:r>
          </a:p>
        </p:txBody>
      </p:sp>
      <p:sp>
        <p:nvSpPr>
          <p:cNvPr id="16" name="TextBox 15"/>
          <p:cNvSpPr txBox="1"/>
          <p:nvPr/>
        </p:nvSpPr>
        <p:spPr>
          <a:xfrm>
            <a:off x="5760720" y="4791455"/>
            <a:ext cx="5669280" cy="338328"/>
          </a:xfrm>
          <a:prstGeom prst="rect">
            <a:avLst/>
          </a:prstGeom>
          <a:noFill/>
        </p:spPr>
        <p:txBody>
          <a:bodyPr wrap="square" lIns="36576" rIns="36576" tIns="36576" bIns="36576" anchor="t">
            <a:spAutoFit/>
          </a:bodyPr>
          <a:lstStyle/>
          <a:p>
            <a:pPr algn="l">
              <a:defRPr sz="1100" b="0">
                <a:solidFill>
                  <a:srgbClr val="A6C2C6"/>
                </a:solidFill>
                <a:latin typeface="Aptos"/>
              </a:defRPr>
            </a:pPr>
            <a:r>
              <a:t>Component procurement • fabrication • calibration access • supervised field testing • technical mentorship</a:t>
            </a:r>
          </a:p>
        </p:txBody>
      </p:sp>
      <p:sp>
        <p:nvSpPr>
          <p:cNvPr id="17" name="TextBox 16"/>
          <p:cNvSpPr txBox="1"/>
          <p:nvPr/>
        </p:nvSpPr>
        <p:spPr>
          <a:xfrm>
            <a:off x="5715000" y="5468112"/>
            <a:ext cx="5715000" cy="566928"/>
          </a:xfrm>
          <a:prstGeom prst="rect">
            <a:avLst/>
          </a:prstGeom>
          <a:noFill/>
        </p:spPr>
        <p:txBody>
          <a:bodyPr wrap="square" lIns="36576" rIns="36576" tIns="36576" bIns="36576" anchor="t">
            <a:spAutoFit/>
          </a:bodyPr>
          <a:lstStyle/>
          <a:p>
            <a:pPr algn="ctr">
              <a:defRPr sz="1700" b="1">
                <a:solidFill>
                  <a:srgbClr val="EFF7F7"/>
                </a:solidFill>
                <a:latin typeface="Aptos"/>
              </a:defRPr>
            </a:pPr>
            <a:r>
              <a:t>We are asking for the opportunity to generate local evidence—not acceptance of an untested operational forecast.</a:t>
            </a:r>
          </a:p>
        </p:txBody>
      </p:sp>
      <p:sp>
        <p:nvSpPr>
          <p:cNvPr id="18" name="TextBox 17"/>
          <p:cNvSpPr txBox="1"/>
          <p:nvPr/>
        </p:nvSpPr>
        <p:spPr>
          <a:xfrm>
            <a:off x="502920" y="6537960"/>
            <a:ext cx="6400800" cy="182880"/>
          </a:xfrm>
          <a:prstGeom prst="rect">
            <a:avLst/>
          </a:prstGeom>
          <a:noFill/>
        </p:spPr>
        <p:txBody>
          <a:bodyPr wrap="square" lIns="36576" rIns="36576" tIns="36576" bIns="36576" anchor="t">
            <a:spAutoFit/>
          </a:bodyPr>
          <a:lstStyle/>
          <a:p>
            <a:pPr algn="l">
              <a:defRPr sz="800" b="1">
                <a:solidFill>
                  <a:srgbClr val="A6C2C6"/>
                </a:solidFill>
                <a:latin typeface="Aptos"/>
              </a:defRPr>
            </a:pPr>
            <a:r>
              <a:t>PROJECT FALCON • FULLBRIGHT COLLEGE</a:t>
            </a:r>
          </a:p>
        </p:txBody>
      </p:sp>
      <p:sp>
        <p:nvSpPr>
          <p:cNvPr id="19" name="TextBox 18"/>
          <p:cNvSpPr txBox="1"/>
          <p:nvPr/>
        </p:nvSpPr>
        <p:spPr>
          <a:xfrm>
            <a:off x="9144000" y="6537960"/>
            <a:ext cx="2514600" cy="182880"/>
          </a:xfrm>
          <a:prstGeom prst="rect">
            <a:avLst/>
          </a:prstGeom>
          <a:noFill/>
        </p:spPr>
        <p:txBody>
          <a:bodyPr wrap="square" lIns="36576" rIns="36576" tIns="36576" bIns="36576" anchor="t">
            <a:spAutoFit/>
          </a:bodyPr>
          <a:lstStyle/>
          <a:p>
            <a:pPr algn="r">
              <a:defRPr sz="800" b="1">
                <a:solidFill>
                  <a:srgbClr val="A6C2C6"/>
                </a:solidFill>
                <a:latin typeface="Aptos"/>
              </a:defRPr>
            </a:pPr>
            <a:r>
              <a:t>DOST IDEA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FALCON — DOST Idea Presentation</dc:title>
  <dc:subject>Funding proposal for a solar-powered smart coastal observation buoy</dc:subject>
  <dc:creator>Project FALCON Research Group — Fullbright College</dc:creator>
  <cp:keywords/>
  <dc:description>Concept visuals are illustrative. Dashboard values are simulated until physical validation.</dc:description>
  <cp:lastModifiedBy>Steve Canny</cp:lastModifiedBy>
  <cp:revision>1</cp:revision>
  <dcterms:created xsi:type="dcterms:W3CDTF">2013-01-27T09:14:16Z</dcterms:created>
  <dcterms:modified xsi:type="dcterms:W3CDTF">2013-01-27T09:15:58Z</dcterms:modified>
  <cp:category/>
</cp:coreProperties>
</file>